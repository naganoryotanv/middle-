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Noto Sans"/>
      <p:regular r:id="rId23"/>
      <p:bold r:id="rId24"/>
      <p:italic r:id="rId25"/>
      <p:boldItalic r:id="rId26"/>
    </p:embeddedFont>
    <p:embeddedFont>
      <p:font typeface="Noto Sans JP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>
          <p15:clr>
            <a:srgbClr val="747775"/>
          </p15:clr>
        </p15:guide>
        <p15:guide id="2" orient="horz" pos="162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hMXivrePhVn9BeFQz+meJNf7/v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otoSans-bold.fntdata"/><Relationship Id="rId23" Type="http://schemas.openxmlformats.org/officeDocument/2006/relationships/font" Target="fonts/No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otoSans-boldItalic.fntdata"/><Relationship Id="rId25" Type="http://schemas.openxmlformats.org/officeDocument/2006/relationships/font" Target="fonts/NotoSans-italic.fntdata"/><Relationship Id="rId28" Type="http://schemas.openxmlformats.org/officeDocument/2006/relationships/font" Target="fonts/NotoSansJP-bold.fntdata"/><Relationship Id="rId27" Type="http://schemas.openxmlformats.org/officeDocument/2006/relationships/font" Target="fonts/NotoSansJP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a76c1784_0_12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eca76c1784_0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a76c1784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eca76c178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a76c1784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eca76c178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ca76c1784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eca76c178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a76c1784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eca76c178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597baf9a4_0_17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e597baf9a4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597baf9a4_0_19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e597baf9a4_0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597baf9a4_0_2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e597baf9a4_0_2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597baf9a4_0_23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e597baf9a4_0_2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597baf9a4_0_27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e597baf9a4_0_2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55cd1e1e3_10_0)">
  <p:cSld name="Generated (g3e55cd1e1e3_10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72b96d2cb_7_0)">
  <p:cSld name="Generated (g3e72b96d2cb_7_0)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個別ページ">
  <p:cSld name="CUSTOM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9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9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9"/>
          <p:cNvSpPr txBox="1"/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CUSTOM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0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" name="Google Shape;22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a6f565c2_7_0)">
  <p:cSld name="Generated (g3eca6f565c2_7_0)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55cd1e1e3_10_0)">
  <p:cSld name="Generated (g3e55cd1e1e3_10_0)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72b96d2cb_7_0)">
  <p:cSld name="Generated (g3e72b96d2cb_7_0)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個別ページ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e77a6c4459_29_3905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e77a6c4459_29_3905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77a6c4459_29_3905"/>
          <p:cNvSpPr txBox="1"/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72" name="Google Shape;72;g3e77a6c4459_29_39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g3e77a6c4459_29_3910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e77a6c4459_29_39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e77a6c4459_29_39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77a6c4459_29_39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g3e77a6c4459_29_39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g3e77a6c4459_29_39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77a6c4459_29_39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g3e77a6c4459_29_39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77a6c4459_29_39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e77a6c4459_29_39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e77a6c4459_29_39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77a6c4459_29_39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g3e77a6c4459_29_39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g3e77a6c4459_29_39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g3e77a6c4459_29_39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7a6c4459_29_39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g3e77a6c4459_29_39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77a6c4459_29_39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g3e77a6c4459_29_39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g3e77a6c4459_29_39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7a6c4459_29_39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2" name="Google Shape;102;g3e77a6c4459_29_39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77a6c4459_29_39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77a6c4459_29_39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g3e77a6c4459_29_39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7" name="Google Shape;107;g3e77a6c4459_29_39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g3e77a6c4459_29_39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7a6c4459_29_39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1" name="Google Shape;111;g3e77a6c4459_29_39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77a6c4459_29_394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4" name="Google Shape;114;g3e77a6c4459_29_39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g3e77a6c4459_29_39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77a6c4459_29_39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a6f565c2_7_0)">
  <p:cSld name="Generated (g3eca6f565c2_7_0)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77a6c4459_29_38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e77a6c4459_29_38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e77a6c4459_29_38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b="199" l="0" r="0" t="189"/>
          <a:stretch/>
        </p:blipFill>
        <p:spPr>
          <a:xfrm>
            <a:off x="290036" y="251555"/>
            <a:ext cx="520200" cy="6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1099" y="3279839"/>
            <a:ext cx="776400" cy="13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 txBox="1"/>
          <p:nvPr/>
        </p:nvSpPr>
        <p:spPr>
          <a:xfrm>
            <a:off x="762000" y="20002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ja" sz="36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APIを理解する</a:t>
            </a:r>
            <a:endParaRPr b="1" i="0" sz="36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3810000" y="36195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ja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長野 椋太</a:t>
            </a:r>
            <a:endParaRPr b="1" i="0" sz="11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782955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ja" sz="8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8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eca76c1784_0_1289"/>
          <p:cNvGrpSpPr/>
          <p:nvPr/>
        </p:nvGrpSpPr>
        <p:grpSpPr>
          <a:xfrm>
            <a:off x="523800" y="1559572"/>
            <a:ext cx="8096400" cy="2234598"/>
            <a:chOff x="523875" y="997793"/>
            <a:chExt cx="8096400" cy="4646700"/>
          </a:xfrm>
        </p:grpSpPr>
        <p:sp>
          <p:nvSpPr>
            <p:cNvPr id="134" name="Google Shape;134;g3eca76c1784_0_1289"/>
            <p:cNvSpPr/>
            <p:nvPr/>
          </p:nvSpPr>
          <p:spPr>
            <a:xfrm>
              <a:off x="523875" y="997793"/>
              <a:ext cx="8096400" cy="4646700"/>
            </a:xfrm>
            <a:prstGeom prst="roundRect">
              <a:avLst>
                <a:gd fmla="val 2049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g3eca76c1784_0_1289"/>
            <p:cNvGrpSpPr/>
            <p:nvPr/>
          </p:nvGrpSpPr>
          <p:grpSpPr>
            <a:xfrm>
              <a:off x="762000" y="1288207"/>
              <a:ext cx="3619500" cy="4065900"/>
              <a:chOff x="762000" y="1288207"/>
              <a:chExt cx="3619500" cy="4065900"/>
            </a:xfrm>
          </p:grpSpPr>
          <p:sp>
            <p:nvSpPr>
              <p:cNvPr id="136" name="Google Shape;136;g3eca76c1784_0_1289"/>
              <p:cNvSpPr/>
              <p:nvPr/>
            </p:nvSpPr>
            <p:spPr>
              <a:xfrm>
                <a:off x="762000" y="1288207"/>
                <a:ext cx="3619500" cy="406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g3eca76c1784_0_1289"/>
              <p:cNvSpPr txBox="1"/>
              <p:nvPr/>
            </p:nvSpPr>
            <p:spPr>
              <a:xfrm>
                <a:off x="762000" y="1288207"/>
                <a:ext cx="3619500" cy="406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80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前半：Stream APIの基本を理解する</a:t>
                </a:r>
                <a:endParaRPr b="1" sz="18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indent="0" lvl="0" marL="0" rtl="0" algn="l">
                  <a:spcBef>
                    <a:spcPts val="1875"/>
                  </a:spcBef>
                  <a:spcAft>
                    <a:spcPts val="0"/>
                  </a:spcAft>
                  <a:buNone/>
                </a:pPr>
                <a:r>
                  <a:rPr b="1" lang="ja" sz="180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01</a:t>
                </a:r>
                <a:r>
                  <a:rPr b="0" lang="ja" sz="18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Stream APIとは何か</a:t>
                </a:r>
                <a:endParaRPr b="1" sz="18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ja" sz="180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02</a:t>
                </a:r>
                <a:r>
                  <a:rPr b="0" lang="ja" sz="18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Stream APIの特徴</a:t>
                </a:r>
                <a:endParaRPr b="1" sz="18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ja" sz="180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03</a:t>
                </a:r>
                <a:r>
                  <a:rPr b="0" lang="ja" sz="18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Stream APIの書き方</a:t>
                </a:r>
                <a:endParaRPr b="1" sz="18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138" name="Google Shape;138;g3eca76c1784_0_1289"/>
            <p:cNvGrpSpPr/>
            <p:nvPr/>
          </p:nvGrpSpPr>
          <p:grpSpPr>
            <a:xfrm>
              <a:off x="4762500" y="1288207"/>
              <a:ext cx="3619500" cy="4065900"/>
              <a:chOff x="4762500" y="1288207"/>
              <a:chExt cx="3619500" cy="4065900"/>
            </a:xfrm>
          </p:grpSpPr>
          <p:sp>
            <p:nvSpPr>
              <p:cNvPr id="139" name="Google Shape;139;g3eca76c1784_0_1289"/>
              <p:cNvSpPr/>
              <p:nvPr/>
            </p:nvSpPr>
            <p:spPr>
              <a:xfrm>
                <a:off x="4762500" y="1288207"/>
                <a:ext cx="3619500" cy="406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g3eca76c1784_0_1289"/>
              <p:cNvSpPr txBox="1"/>
              <p:nvPr/>
            </p:nvSpPr>
            <p:spPr>
              <a:xfrm>
                <a:off x="4762500" y="1288207"/>
                <a:ext cx="3619500" cy="406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80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後半：Stream APIを使う場面を考える</a:t>
                </a:r>
                <a:endParaRPr b="1" sz="18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indent="0" lvl="0" marL="0" rtl="0" algn="l">
                  <a:spcBef>
                    <a:spcPts val="1875"/>
                  </a:spcBef>
                  <a:spcAft>
                    <a:spcPts val="0"/>
                  </a:spcAft>
                  <a:buNone/>
                </a:pPr>
                <a:r>
                  <a:rPr b="1" lang="ja" sz="180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04</a:t>
                </a:r>
                <a:r>
                  <a:rPr b="0" lang="ja" sz="18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どこで使えばよいか</a:t>
                </a:r>
                <a:endParaRPr b="1" sz="18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ja" sz="180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05</a:t>
                </a:r>
                <a:r>
                  <a:rPr b="0" lang="ja" sz="18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利点・欠点</a:t>
                </a:r>
                <a:endParaRPr b="1" sz="18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ja" sz="180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06</a:t>
                </a:r>
                <a:r>
                  <a:rPr b="0" lang="ja" sz="18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まとめ</a:t>
                </a:r>
                <a:endParaRPr b="1" sz="18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sp>
        <p:nvSpPr>
          <p:cNvPr id="141" name="Google Shape;141;g3eca76c1784_0_1289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eca76c1784_0_1289"/>
          <p:cNvSpPr txBox="1"/>
          <p:nvPr/>
        </p:nvSpPr>
        <p:spPr>
          <a:xfrm>
            <a:off x="726757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目次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43" name="Google Shape;143;g3eca76c1784_0_1289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eca76c1784_0_1289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g3eca76c1784_0_1289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eca76c1784_0_87"/>
          <p:cNvPicPr preferRelativeResize="0"/>
          <p:nvPr/>
        </p:nvPicPr>
        <p:blipFill rotWithShape="1">
          <a:blip r:embed="rId3">
            <a:alphaModFix/>
          </a:blip>
          <a:srcRect b="199" l="0" r="0" t="199"/>
          <a:stretch/>
        </p:blipFill>
        <p:spPr>
          <a:xfrm>
            <a:off x="8480965" y="302419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eca76c1784_0_87"/>
          <p:cNvSpPr/>
          <p:nvPr/>
        </p:nvSpPr>
        <p:spPr>
          <a:xfrm>
            <a:off x="448627" y="367379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eca76c1784_0_87"/>
          <p:cNvSpPr/>
          <p:nvPr/>
        </p:nvSpPr>
        <p:spPr>
          <a:xfrm>
            <a:off x="381000" y="990600"/>
            <a:ext cx="4095900" cy="3771900"/>
          </a:xfrm>
          <a:prstGeom prst="roundRect">
            <a:avLst>
              <a:gd fmla="val 3076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ca76c1784_0_87"/>
          <p:cNvSpPr txBox="1"/>
          <p:nvPr/>
        </p:nvSpPr>
        <p:spPr>
          <a:xfrm>
            <a:off x="7829550" y="4914900"/>
            <a:ext cx="60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2026/06/02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g3eca76c1784_0_87"/>
          <p:cNvSpPr txBox="1"/>
          <p:nvPr/>
        </p:nvSpPr>
        <p:spPr>
          <a:xfrm>
            <a:off x="726757" y="318135"/>
            <a:ext cx="7096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研修で学んだ拡張for文</a:t>
            </a:r>
            <a:endParaRPr b="1" sz="2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5" name="Google Shape;155;g3eca76c1784_0_87"/>
          <p:cNvSpPr txBox="1"/>
          <p:nvPr/>
        </p:nvSpPr>
        <p:spPr>
          <a:xfrm>
            <a:off x="526542" y="762000"/>
            <a:ext cx="8091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例: </a:t>
            </a:r>
            <a:r>
              <a:rPr b="0" lang="ja" sz="1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4文字以上の果物名を大文字にして、リストにまとめる</a:t>
            </a:r>
            <a:endParaRPr b="0" sz="1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56" name="Google Shape;156;g3eca76c1784_0_87"/>
          <p:cNvGrpSpPr/>
          <p:nvPr/>
        </p:nvGrpSpPr>
        <p:grpSpPr>
          <a:xfrm>
            <a:off x="4619625" y="990600"/>
            <a:ext cx="4286400" cy="3771900"/>
            <a:chOff x="4619625" y="990600"/>
            <a:chExt cx="4286400" cy="3771900"/>
          </a:xfrm>
        </p:grpSpPr>
        <p:sp>
          <p:nvSpPr>
            <p:cNvPr id="157" name="Google Shape;157;g3eca76c1784_0_87"/>
            <p:cNvSpPr/>
            <p:nvPr/>
          </p:nvSpPr>
          <p:spPr>
            <a:xfrm>
              <a:off x="4619625" y="990600"/>
              <a:ext cx="4286400" cy="3771900"/>
            </a:xfrm>
            <a:prstGeom prst="roundRect">
              <a:avLst>
                <a:gd fmla="val 2525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g3eca76c1784_0_87"/>
            <p:cNvSpPr txBox="1"/>
            <p:nvPr/>
          </p:nvSpPr>
          <p:spPr>
            <a:xfrm>
              <a:off x="4762500" y="1162050"/>
              <a:ext cx="40005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拡張for文による命令的な記述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手順（HOW）を順番に記述する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-31750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F08300"/>
                </a:buClr>
                <a:buSzPts val="1400"/>
                <a:buFont typeface="Noto Sans JP"/>
                <a:buChar char="●"/>
              </a:pPr>
              <a:r>
                <a:rPr b="0" lang="ja" sz="1100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変数の定義やループの手順が強調されやすい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-3175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F08300"/>
                </a:buClr>
                <a:buSzPts val="1400"/>
                <a:buFont typeface="Noto Sans JP"/>
                <a:buChar char="●"/>
              </a:pPr>
              <a:r>
                <a:rPr b="0" lang="ja"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「何をしたいか」</a:t>
              </a:r>
              <a:r>
                <a:rPr b="0" lang="ja"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が読み取りづらい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ja" sz="1300">
                  <a:solidFill>
                    <a:srgbClr val="404040"/>
                  </a:solidFill>
                  <a:highlight>
                    <a:srgbClr val="FFF3E0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可読性を高めるポイント</a:t>
              </a:r>
              <a:endParaRPr b="1" sz="13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ja" sz="1250">
                  <a:solidFill>
                    <a:srgbClr val="404040"/>
                  </a:solidFill>
                  <a:highlight>
                    <a:srgbClr val="FFF3E0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「どうやるか」より「何をしたいか」を重視する</a:t>
              </a:r>
              <a:endParaRPr b="1" sz="125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59" name="Google Shape;159;g3eca76c1784_0_87"/>
          <p:cNvGrpSpPr/>
          <p:nvPr/>
        </p:nvGrpSpPr>
        <p:grpSpPr>
          <a:xfrm>
            <a:off x="4176713" y="2847975"/>
            <a:ext cx="443063" cy="95400"/>
            <a:chOff x="4176713" y="2847975"/>
            <a:chExt cx="443063" cy="95400"/>
          </a:xfrm>
        </p:grpSpPr>
        <p:pic>
          <p:nvPicPr>
            <p:cNvPr id="160" name="Google Shape;160;g3eca76c1784_0_87"/>
            <p:cNvPicPr preferRelativeResize="0"/>
            <p:nvPr/>
          </p:nvPicPr>
          <p:blipFill rotWithShape="1">
            <a:blip r:embed="rId4">
              <a:alphaModFix/>
            </a:blip>
            <a:srcRect b="160" l="0" r="0" t="150"/>
            <a:stretch/>
          </p:blipFill>
          <p:spPr>
            <a:xfrm>
              <a:off x="4176713" y="2881313"/>
              <a:ext cx="3621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g3eca76c1784_0_8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24375" y="2847975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g3eca76c1784_0_87"/>
          <p:cNvSpPr txBox="1"/>
          <p:nvPr/>
        </p:nvSpPr>
        <p:spPr>
          <a:xfrm>
            <a:off x="448625" y="1162050"/>
            <a:ext cx="40959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ja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1. 配列を定義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0" i="0" lang="ja" sz="10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fruits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r>
              <a:rPr b="0" i="0" lang="ja" sz="105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ja" sz="105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ja" sz="105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ja" sz="105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"fig"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1" lang="ja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2. 結果を格納するリスト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ja" sz="10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0" i="0" lang="ja" sz="10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ja" sz="10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1" lang="ja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ja" sz="10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1" lang="ja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3. 配列を1つずつ取り出して処理する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ja" sz="10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1" lang="ja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ja" sz="10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b="0" i="0" lang="ja" sz="10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fruits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ja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4. 文字列の長さが 4文字以上かを判定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5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ja" sz="10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ja" sz="10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&gt;= </a:t>
            </a:r>
            <a:r>
              <a:rPr b="0" i="0" lang="ja" sz="105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81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ja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5. 大文字に変換してリストに追加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81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ja" sz="10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ja" sz="105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ja" sz="105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5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a76c1784_0_100"/>
          <p:cNvSpPr/>
          <p:nvPr/>
        </p:nvSpPr>
        <p:spPr>
          <a:xfrm>
            <a:off x="-75" y="-2857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eca76c1784_0_100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eca76c1784_0_100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eca76c1784_0_100"/>
          <p:cNvSpPr txBox="1"/>
          <p:nvPr/>
        </p:nvSpPr>
        <p:spPr>
          <a:xfrm>
            <a:off x="644307" y="317560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同じ処理をStream APIで書くと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1" name="Google Shape;171;g3eca76c1784_0_100"/>
          <p:cNvSpPr/>
          <p:nvPr/>
        </p:nvSpPr>
        <p:spPr>
          <a:xfrm>
            <a:off x="526725" y="1160850"/>
            <a:ext cx="8090400" cy="1619400"/>
          </a:xfrm>
          <a:prstGeom prst="roundRect">
            <a:avLst>
              <a:gd fmla="val 3478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eca76c1784_0_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050" y="2976525"/>
            <a:ext cx="2859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eca76c1784_0_100"/>
          <p:cNvSpPr/>
          <p:nvPr/>
        </p:nvSpPr>
        <p:spPr>
          <a:xfrm>
            <a:off x="526732" y="3857625"/>
            <a:ext cx="8090400" cy="952500"/>
          </a:xfrm>
          <a:prstGeom prst="roundRect">
            <a:avLst>
              <a:gd fmla="val 4000" name="adj"/>
            </a:avLst>
          </a:prstGeom>
          <a:solidFill>
            <a:srgbClr val="FFF3E0"/>
          </a:solidFill>
          <a:ln cap="flat" cmpd="sng" w="9525">
            <a:solidFill>
              <a:srgbClr val="F08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eca76c1784_0_100"/>
          <p:cNvSpPr txBox="1"/>
          <p:nvPr/>
        </p:nvSpPr>
        <p:spPr>
          <a:xfrm>
            <a:off x="7831455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2026/06/02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g3eca76c1784_0_100"/>
          <p:cNvSpPr txBox="1"/>
          <p:nvPr/>
        </p:nvSpPr>
        <p:spPr>
          <a:xfrm>
            <a:off x="762000" y="1398975"/>
            <a:ext cx="7620000" cy="13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2381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[] fruits = {</a:t>
            </a:r>
            <a:r>
              <a:rPr b="0" i="0" lang="ja" sz="13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ja" sz="13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ja" sz="13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ja" sz="13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"date"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30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381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ja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&gt; result = </a:t>
            </a:r>
            <a:r>
              <a:rPr b="0" i="0" lang="ja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.stream(fruits)</a:t>
            </a:r>
            <a:endParaRPr b="0" i="0" sz="130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381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.filter(s -&gt; s.length() &gt;= </a:t>
            </a:r>
            <a:r>
              <a:rPr b="0" i="0" lang="ja" sz="130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ja" sz="13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4文字以上で絞り込む</a:t>
            </a:r>
            <a:endParaRPr b="0" i="0" sz="130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381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.map(s -&gt; s.toUpperCase()) </a:t>
            </a:r>
            <a:r>
              <a:rPr b="0" i="0" lang="ja" sz="13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大文字に変換する</a:t>
            </a:r>
            <a:endParaRPr b="0" i="0" sz="130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381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.collect(</a:t>
            </a:r>
            <a:r>
              <a:rPr b="0" i="0" lang="ja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Collectors</a:t>
            </a:r>
            <a:r>
              <a:rPr b="0" i="0" lang="ja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.toList()); </a:t>
            </a:r>
            <a:r>
              <a:rPr b="0" i="0" lang="ja" sz="13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リストに格納する</a:t>
            </a:r>
            <a:endParaRPr b="0" i="0" sz="130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" name="Google Shape;176;g3eca76c1784_0_100"/>
          <p:cNvSpPr txBox="1"/>
          <p:nvPr/>
        </p:nvSpPr>
        <p:spPr>
          <a:xfrm>
            <a:off x="1584675" y="4097879"/>
            <a:ext cx="59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何をする処理か？にフォーカスして記述できる</a:t>
            </a:r>
            <a:endParaRPr b="1" i="0" sz="1800" u="none" cap="none" strike="noStrik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a76c1784_0_113"/>
          <p:cNvSpPr/>
          <p:nvPr/>
        </p:nvSpPr>
        <p:spPr>
          <a:xfrm>
            <a:off x="0" y="-2857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eca76c1784_0_113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eca76c1784_0_11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eca76c1784_0_113"/>
          <p:cNvSpPr txBox="1"/>
          <p:nvPr/>
        </p:nvSpPr>
        <p:spPr>
          <a:xfrm>
            <a:off x="728657" y="31818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APIとは何か？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5" name="Google Shape;185;g3eca76c1784_0_113"/>
          <p:cNvSpPr txBox="1"/>
          <p:nvPr/>
        </p:nvSpPr>
        <p:spPr>
          <a:xfrm>
            <a:off x="526798" y="1238250"/>
            <a:ext cx="83133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配列やListなどのデータのループ処理に対して</a:t>
            </a:r>
            <a:br>
              <a:rPr b="1" i="0" lang="ja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1" i="0" lang="ja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段階的に書ける仕組み</a:t>
            </a:r>
            <a:endParaRPr b="1" i="0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6" name="Google Shape;186;g3eca76c1784_0_113"/>
          <p:cNvSpPr txBox="1"/>
          <p:nvPr/>
        </p:nvSpPr>
        <p:spPr>
          <a:xfrm>
            <a:off x="7831455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ja" sz="6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2026/06/02</a:t>
            </a:r>
            <a:endParaRPr b="0" i="0" sz="6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87" name="Google Shape;187;g3eca76c1784_0_113"/>
          <p:cNvGrpSpPr/>
          <p:nvPr/>
        </p:nvGrpSpPr>
        <p:grpSpPr>
          <a:xfrm>
            <a:off x="448627" y="3667125"/>
            <a:ext cx="8091000" cy="1095375"/>
            <a:chOff x="526542" y="3509060"/>
            <a:chExt cx="8091000" cy="1095375"/>
          </a:xfrm>
        </p:grpSpPr>
        <p:sp>
          <p:nvSpPr>
            <p:cNvPr id="188" name="Google Shape;188;g3eca76c1784_0_113"/>
            <p:cNvSpPr/>
            <p:nvPr/>
          </p:nvSpPr>
          <p:spPr>
            <a:xfrm>
              <a:off x="526542" y="3842435"/>
              <a:ext cx="8091000" cy="762000"/>
            </a:xfrm>
            <a:prstGeom prst="roundRect">
              <a:avLst>
                <a:gd fmla="val 4999" name="adj"/>
              </a:avLst>
            </a:prstGeom>
            <a:solidFill>
              <a:srgbClr val="FFF3E0"/>
            </a:solidFill>
            <a:ln cap="flat" cmpd="sng" w="9525">
              <a:solidFill>
                <a:srgbClr val="F08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g3eca76c1784_0_113"/>
            <p:cNvSpPr txBox="1"/>
            <p:nvPr/>
          </p:nvSpPr>
          <p:spPr>
            <a:xfrm>
              <a:off x="762042" y="3842435"/>
              <a:ext cx="7620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文字列の長さが４文字以上　→　大文字に変換　→　結果をリストに追加</a:t>
              </a:r>
              <a:endParaRPr b="1" i="0" sz="14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190" name="Google Shape;190;g3eca76c1784_0_113"/>
            <p:cNvSpPr txBox="1"/>
            <p:nvPr/>
          </p:nvSpPr>
          <p:spPr>
            <a:xfrm>
              <a:off x="526542" y="3509060"/>
              <a:ext cx="1428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12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段階的とは？</a:t>
              </a:r>
              <a:endParaRPr b="1" i="0" sz="12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ca76c1784_0_1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eca76c1784_0_123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ca76c1784_0_12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eca76c1784_0_123"/>
          <p:cNvSpPr txBox="1"/>
          <p:nvPr/>
        </p:nvSpPr>
        <p:spPr>
          <a:xfrm>
            <a:off x="571507" y="31818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APIの主な特徴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9" name="Google Shape;199;g3eca76c1784_0_123"/>
          <p:cNvSpPr/>
          <p:nvPr/>
        </p:nvSpPr>
        <p:spPr>
          <a:xfrm>
            <a:off x="523875" y="952500"/>
            <a:ext cx="80904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ca76c1784_0_123"/>
          <p:cNvSpPr txBox="1"/>
          <p:nvPr/>
        </p:nvSpPr>
        <p:spPr>
          <a:xfrm>
            <a:off x="571500" y="1333500"/>
            <a:ext cx="8001000" cy="96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6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直感的なコーディングを可能にする「3つの型」</a:t>
            </a:r>
            <a:endParaRPr b="1" sz="136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314960" lvl="0" marL="457200" rtl="0" algn="l">
              <a:spcBef>
                <a:spcPts val="900"/>
              </a:spcBef>
              <a:spcAft>
                <a:spcPts val="0"/>
              </a:spcAft>
              <a:buClr>
                <a:srgbClr val="404040"/>
              </a:buClr>
              <a:buSzPts val="1360"/>
              <a:buFont typeface="Noto Sans JP"/>
              <a:buChar char="●"/>
            </a:pPr>
            <a:r>
              <a:rPr b="1" lang="ja" sz="136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データの流れを定義</a:t>
            </a:r>
            <a:r>
              <a:rPr b="0" lang="ja" sz="136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：データの「入り口」から「出口」までを定型化</a:t>
            </a:r>
            <a:endParaRPr b="0" sz="136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314960" lvl="0" marL="457200" rtl="0" algn="l">
              <a:spcBef>
                <a:spcPts val="600"/>
              </a:spcBef>
              <a:spcAft>
                <a:spcPts val="0"/>
              </a:spcAft>
              <a:buClr>
                <a:srgbClr val="404040"/>
              </a:buClr>
              <a:buSzPts val="1360"/>
              <a:buFont typeface="Noto Sans JP"/>
              <a:buChar char="●"/>
            </a:pPr>
            <a:r>
              <a:rPr b="1" lang="ja" sz="136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直感的な理解</a:t>
            </a:r>
            <a:r>
              <a:rPr b="0" lang="ja" sz="136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：記述ルールが決まっているため、後続の処理が予測しやすい</a:t>
            </a:r>
            <a:endParaRPr b="0" sz="136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6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1" name="Google Shape;201;g3eca76c1784_0_123"/>
          <p:cNvSpPr txBox="1"/>
          <p:nvPr/>
        </p:nvSpPr>
        <p:spPr>
          <a:xfrm>
            <a:off x="7829550" y="4914900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2026/06/02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02" name="Google Shape;202;g3eca76c1784_0_123"/>
          <p:cNvGrpSpPr/>
          <p:nvPr/>
        </p:nvGrpSpPr>
        <p:grpSpPr>
          <a:xfrm>
            <a:off x="1619250" y="2667000"/>
            <a:ext cx="5905500" cy="1714500"/>
            <a:chOff x="3693825" y="779727"/>
            <a:chExt cx="5905500" cy="1714500"/>
          </a:xfrm>
        </p:grpSpPr>
        <p:sp>
          <p:nvSpPr>
            <p:cNvPr id="203" name="Google Shape;203;g3eca76c1784_0_123"/>
            <p:cNvSpPr/>
            <p:nvPr/>
          </p:nvSpPr>
          <p:spPr>
            <a:xfrm>
              <a:off x="3789075" y="779727"/>
              <a:ext cx="5715000" cy="1714500"/>
            </a:xfrm>
            <a:prstGeom prst="roundRect">
              <a:avLst>
                <a:gd fmla="val 666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4" name="Google Shape;204;g3eca76c1784_0_123"/>
            <p:cNvPicPr preferRelativeResize="0"/>
            <p:nvPr/>
          </p:nvPicPr>
          <p:blipFill rotWithShape="1">
            <a:blip r:embed="rId4">
              <a:alphaModFix/>
            </a:blip>
            <a:srcRect b="15058" l="0" r="0" t="15065"/>
            <a:stretch/>
          </p:blipFill>
          <p:spPr>
            <a:xfrm>
              <a:off x="4455825" y="1446477"/>
              <a:ext cx="4381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g3eca76c1784_0_123"/>
            <p:cNvSpPr/>
            <p:nvPr/>
          </p:nvSpPr>
          <p:spPr>
            <a:xfrm>
              <a:off x="4074825" y="1313127"/>
              <a:ext cx="381000" cy="381000"/>
            </a:xfrm>
            <a:prstGeom prst="ellipse">
              <a:avLst/>
            </a:prstGeom>
            <a:solidFill>
              <a:srgbClr val="F08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g3eca76c1784_0_123"/>
            <p:cNvSpPr/>
            <p:nvPr/>
          </p:nvSpPr>
          <p:spPr>
            <a:xfrm>
              <a:off x="6456075" y="1313127"/>
              <a:ext cx="381000" cy="381000"/>
            </a:xfrm>
            <a:prstGeom prst="ellipse">
              <a:avLst/>
            </a:prstGeom>
            <a:solidFill>
              <a:srgbClr val="F08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g3eca76c1784_0_123"/>
            <p:cNvSpPr/>
            <p:nvPr/>
          </p:nvSpPr>
          <p:spPr>
            <a:xfrm>
              <a:off x="8837325" y="1313127"/>
              <a:ext cx="381000" cy="381000"/>
            </a:xfrm>
            <a:prstGeom prst="ellipse">
              <a:avLst/>
            </a:prstGeom>
            <a:solidFill>
              <a:srgbClr val="F08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g3eca76c1784_0_123"/>
            <p:cNvSpPr txBox="1"/>
            <p:nvPr/>
          </p:nvSpPr>
          <p:spPr>
            <a:xfrm>
              <a:off x="3693825" y="1779852"/>
              <a:ext cx="1143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取得</a:t>
              </a:r>
              <a:endParaRPr b="1" sz="14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09" name="Google Shape;209;g3eca76c1784_0_123"/>
            <p:cNvSpPr txBox="1"/>
            <p:nvPr/>
          </p:nvSpPr>
          <p:spPr>
            <a:xfrm>
              <a:off x="6075075" y="1779852"/>
              <a:ext cx="1143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処理</a:t>
              </a:r>
              <a:endParaRPr b="1" sz="14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10" name="Google Shape;210;g3eca76c1784_0_123"/>
            <p:cNvSpPr txBox="1"/>
            <p:nvPr/>
          </p:nvSpPr>
          <p:spPr>
            <a:xfrm>
              <a:off x="8456325" y="1779852"/>
              <a:ext cx="1143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終端</a:t>
              </a:r>
              <a:endParaRPr b="1" sz="14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11" name="Google Shape;211;g3eca76c1784_0_123"/>
          <p:cNvSpPr txBox="1"/>
          <p:nvPr/>
        </p:nvSpPr>
        <p:spPr>
          <a:xfrm>
            <a:off x="571500" y="809625"/>
            <a:ext cx="4572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3段階の「型」で記述する</a:t>
            </a:r>
            <a:endParaRPr b="1" sz="18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17" name="Google Shape;217;p7"/>
            <p:cNvPicPr preferRelativeResize="0"/>
            <p:nvPr/>
          </p:nvPicPr>
          <p:blipFill rotWithShape="1">
            <a:blip r:embed="rId3">
              <a:alphaModFix/>
            </a:blip>
            <a:srcRect b="140" l="0" r="0" t="150"/>
            <a:stretch/>
          </p:blipFill>
          <p:spPr>
            <a:xfrm>
              <a:off x="8481060" y="301943"/>
              <a:ext cx="359100" cy="41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7"/>
            <p:cNvSpPr/>
            <p:nvPr/>
          </p:nvSpPr>
          <p:spPr>
            <a:xfrm>
              <a:off x="448627" y="367665"/>
              <a:ext cx="91500" cy="285900"/>
            </a:xfrm>
            <a:prstGeom prst="rect">
              <a:avLst/>
            </a:prstGeom>
            <a:solidFill>
              <a:srgbClr val="F08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ja" sz="4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 APIの書き方</a:t>
              </a:r>
              <a:endParaRPr b="1" i="0" sz="4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7829550" y="49244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ja" sz="600" u="none" cap="none" strike="noStrike">
                  <a:solidFill>
                    <a:srgbClr val="404040"/>
                  </a:solidFill>
                  <a:latin typeface="Noto Sans"/>
                  <a:ea typeface="Noto Sans"/>
                  <a:cs typeface="Noto Sans"/>
                  <a:sym typeface="Noto Sans"/>
                </a:rPr>
                <a:t>2026/05/29</a:t>
              </a:r>
              <a:endParaRPr b="1" i="0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8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476250" y="809625"/>
            <a:ext cx="8191500" cy="3571800"/>
          </a:xfrm>
          <a:prstGeom prst="roundRect">
            <a:avLst>
              <a:gd fmla="val 2666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571500" y="312382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APIの書き方</a:t>
            </a:r>
            <a:endParaRPr b="1" sz="24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31" name="Google Shape;231;p8"/>
          <p:cNvGrpSpPr/>
          <p:nvPr/>
        </p:nvGrpSpPr>
        <p:grpSpPr>
          <a:xfrm>
            <a:off x="666750" y="1000125"/>
            <a:ext cx="7810500" cy="2190820"/>
            <a:chOff x="743873" y="999302"/>
            <a:chExt cx="7810500" cy="3036900"/>
          </a:xfrm>
        </p:grpSpPr>
        <p:sp>
          <p:nvSpPr>
            <p:cNvPr id="232" name="Google Shape;232;p8"/>
            <p:cNvSpPr/>
            <p:nvPr/>
          </p:nvSpPr>
          <p:spPr>
            <a:xfrm>
              <a:off x="743873" y="999302"/>
              <a:ext cx="7810500" cy="3036900"/>
            </a:xfrm>
            <a:prstGeom prst="roundRect">
              <a:avLst>
                <a:gd fmla="val 3478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8"/>
            <p:cNvSpPr txBox="1"/>
            <p:nvPr/>
          </p:nvSpPr>
          <p:spPr>
            <a:xfrm>
              <a:off x="743873" y="999302"/>
              <a:ext cx="7810500" cy="303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ja" sz="15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b="0" i="0" lang="ja" sz="15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5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5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"cherry"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5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"fig"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 </a:t>
              </a:r>
              <a:r>
                <a:rPr b="0" i="0" lang="ja" sz="15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配列の宣言</a:t>
              </a:r>
              <a:endParaRPr b="0" i="0" sz="15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ja" sz="15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b="0" i="0" lang="ja" sz="15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b="0" i="0" lang="ja" sz="15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 </a:t>
              </a:r>
              <a:r>
                <a:rPr b="0" i="0" lang="ja" sz="15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① 生成</a:t>
              </a:r>
              <a:endParaRPr b="0" i="0" sz="15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b="0" i="0" lang="ja" sz="150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b="0" i="0" lang="ja" sz="15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b="0" i="0" sz="15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.map(s -&gt; s.toUpperCase()) </a:t>
              </a:r>
              <a:r>
                <a:rPr b="0" i="0" lang="ja" sz="15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b="0" i="0" sz="15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0" lang="ja" sz="15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 </a:t>
              </a:r>
              <a:r>
                <a:rPr b="0" i="0" lang="ja" sz="15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③ 終端操作</a:t>
              </a:r>
              <a:endParaRPr b="0" i="0" sz="15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666750" y="3676725"/>
            <a:ext cx="7810500" cy="762000"/>
            <a:chOff x="666750" y="3333750"/>
            <a:chExt cx="7810500" cy="762000"/>
          </a:xfrm>
        </p:grpSpPr>
        <p:sp>
          <p:nvSpPr>
            <p:cNvPr id="235" name="Google Shape;235;p8"/>
            <p:cNvSpPr/>
            <p:nvPr/>
          </p:nvSpPr>
          <p:spPr>
            <a:xfrm>
              <a:off x="666750" y="3333750"/>
              <a:ext cx="2476500" cy="762000"/>
            </a:xfrm>
            <a:prstGeom prst="roundRect">
              <a:avLst>
                <a:gd fmla="val 7500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666750" y="3333750"/>
              <a:ext cx="2476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0288D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sz="110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配列</a:t>
              </a:r>
              <a:r>
                <a:rPr lang="ja" sz="9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/</a:t>
              </a:r>
              <a:r>
                <a:rPr b="0" lang="ja" sz="9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Listなどを</a:t>
              </a:r>
              <a:endParaRPr b="0" sz="9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StreamAPI</a:t>
              </a:r>
              <a:r>
                <a:rPr lang="ja" sz="9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で</a:t>
              </a:r>
              <a:r>
                <a:rPr b="0" lang="ja" sz="9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扱えるようにする</a:t>
              </a:r>
              <a:endParaRPr b="0" sz="9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3333750" y="3333750"/>
              <a:ext cx="2476500" cy="762000"/>
            </a:xfrm>
            <a:prstGeom prst="roundRect">
              <a:avLst>
                <a:gd fmla="val 75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3333750" y="3333750"/>
              <a:ext cx="2476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2E7D32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sz="110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データを絞り込んだり、変換したり操作</a:t>
              </a:r>
              <a:endParaRPr b="0" sz="9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6000750" y="3333750"/>
              <a:ext cx="2476500" cy="762000"/>
            </a:xfrm>
            <a:prstGeom prst="roundRect">
              <a:avLst>
                <a:gd fmla="val 7500" name="adj"/>
              </a:avLst>
            </a:prstGeom>
            <a:solidFill>
              <a:srgbClr val="FBE9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6000750" y="3333750"/>
              <a:ext cx="2476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D8431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sz="1100">
                <a:solidFill>
                  <a:srgbClr val="D8431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最終的な結果を取り出す処理</a:t>
              </a:r>
              <a:endParaRPr b="0" sz="9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e597baf9a4_0_1711"/>
          <p:cNvPicPr preferRelativeResize="0"/>
          <p:nvPr/>
        </p:nvPicPr>
        <p:blipFill rotWithShape="1">
          <a:blip r:embed="rId3">
            <a:alphaModFix/>
          </a:blip>
          <a:srcRect b="487" l="0" r="0" t="30"/>
          <a:stretch/>
        </p:blipFill>
        <p:spPr>
          <a:xfrm>
            <a:off x="8481060" y="301943"/>
            <a:ext cx="359100" cy="41520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e597baf9a4_0_1711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e597baf9a4_0_1711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生成：データをStreamとして流し始める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8" name="Google Shape;248;g3e597baf9a4_0_1711"/>
          <p:cNvSpPr/>
          <p:nvPr/>
        </p:nvSpPr>
        <p:spPr>
          <a:xfrm>
            <a:off x="571500" y="4524375"/>
            <a:ext cx="8001000" cy="381000"/>
          </a:xfrm>
          <a:prstGeom prst="roundRect">
            <a:avLst>
              <a:gd fmla="val 10000" name="adj"/>
            </a:avLst>
          </a:prstGeom>
          <a:solidFill>
            <a:srgbClr val="E1F5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597baf9a4_0_1711"/>
          <p:cNvSpPr txBox="1"/>
          <p:nvPr/>
        </p:nvSpPr>
        <p:spPr>
          <a:xfrm>
            <a:off x="5715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4FC3F7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</a:t>
            </a:r>
            <a:endParaRPr b="1" i="0" sz="1400" u="none" cap="none" strike="noStrike">
              <a:solidFill>
                <a:srgbClr val="4FC3F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0" name="Google Shape;250;g3e597baf9a4_0_1711"/>
          <p:cNvSpPr/>
          <p:nvPr/>
        </p:nvSpPr>
        <p:spPr>
          <a:xfrm>
            <a:off x="3333750" y="4524375"/>
            <a:ext cx="2476500" cy="38100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e597baf9a4_0_1711"/>
          <p:cNvSpPr txBox="1"/>
          <p:nvPr/>
        </p:nvSpPr>
        <p:spPr>
          <a:xfrm>
            <a:off x="333375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</a:t>
            </a:r>
            <a:endParaRPr b="1" i="0" sz="1400" u="none" cap="none" strike="noStrik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2" name="Google Shape;252;g3e597baf9a4_0_1711"/>
          <p:cNvSpPr/>
          <p:nvPr/>
        </p:nvSpPr>
        <p:spPr>
          <a:xfrm>
            <a:off x="6096000" y="4524375"/>
            <a:ext cx="2476500" cy="38100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597baf9a4_0_1711"/>
          <p:cNvSpPr txBox="1"/>
          <p:nvPr/>
        </p:nvSpPr>
        <p:spPr>
          <a:xfrm>
            <a:off x="60960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</a:t>
            </a:r>
            <a:endParaRPr b="1" i="0" sz="1400" u="none" cap="none" strike="noStrik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4" name="Google Shape;254;g3e597baf9a4_0_1711"/>
          <p:cNvSpPr/>
          <p:nvPr/>
        </p:nvSpPr>
        <p:spPr>
          <a:xfrm>
            <a:off x="571500" y="2714625"/>
            <a:ext cx="3810000" cy="1428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4300">
            <a:solidFill>
              <a:srgbClr val="AED5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597baf9a4_0_1711"/>
          <p:cNvSpPr txBox="1"/>
          <p:nvPr/>
        </p:nvSpPr>
        <p:spPr>
          <a:xfrm>
            <a:off x="762000" y="2857500"/>
            <a:ext cx="3429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558B2F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配列から生成する場合</a:t>
            </a:r>
            <a:endParaRPr b="1" sz="1300">
              <a:solidFill>
                <a:srgbClr val="558B2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6" name="Google Shape;256;g3e597baf9a4_0_1711"/>
          <p:cNvSpPr/>
          <p:nvPr/>
        </p:nvSpPr>
        <p:spPr>
          <a:xfrm>
            <a:off x="762000" y="3286125"/>
            <a:ext cx="3429000" cy="666900"/>
          </a:xfrm>
          <a:prstGeom prst="roundRect">
            <a:avLst>
              <a:gd fmla="val 8571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e597baf9a4_0_1711"/>
          <p:cNvSpPr txBox="1"/>
          <p:nvPr/>
        </p:nvSpPr>
        <p:spPr>
          <a:xfrm>
            <a:off x="857250" y="3381375"/>
            <a:ext cx="323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b="0" lang="ja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.stream(配列名)</a:t>
            </a:r>
            <a:endParaRPr b="0" sz="13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g3e597baf9a4_0_1711"/>
          <p:cNvSpPr/>
          <p:nvPr/>
        </p:nvSpPr>
        <p:spPr>
          <a:xfrm>
            <a:off x="4762500" y="2714625"/>
            <a:ext cx="3810000" cy="1428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4300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597baf9a4_0_1711"/>
          <p:cNvSpPr txBox="1"/>
          <p:nvPr/>
        </p:nvSpPr>
        <p:spPr>
          <a:xfrm>
            <a:off x="4953000" y="2857500"/>
            <a:ext cx="3429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1565C0"/>
                </a:solidFill>
                <a:latin typeface="Noto Sans JP"/>
                <a:ea typeface="Noto Sans JP"/>
                <a:cs typeface="Noto Sans JP"/>
                <a:sym typeface="Noto Sans JP"/>
              </a:rPr>
              <a:t>Listから生成する場合</a:t>
            </a:r>
            <a:endParaRPr b="1" sz="1300">
              <a:solidFill>
                <a:srgbClr val="1565C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0" name="Google Shape;260;g3e597baf9a4_0_1711"/>
          <p:cNvSpPr/>
          <p:nvPr/>
        </p:nvSpPr>
        <p:spPr>
          <a:xfrm>
            <a:off x="4953000" y="3286125"/>
            <a:ext cx="3429000" cy="666900"/>
          </a:xfrm>
          <a:prstGeom prst="roundRect">
            <a:avLst>
              <a:gd fmla="val 8571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597baf9a4_0_1711"/>
          <p:cNvSpPr txBox="1"/>
          <p:nvPr/>
        </p:nvSpPr>
        <p:spPr>
          <a:xfrm>
            <a:off x="5048250" y="3381375"/>
            <a:ext cx="323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リスト名.stream()</a:t>
            </a:r>
            <a:endParaRPr b="0" sz="13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g3e597baf9a4_0_1711"/>
          <p:cNvSpPr/>
          <p:nvPr/>
        </p:nvSpPr>
        <p:spPr>
          <a:xfrm>
            <a:off x="571500" y="904875"/>
            <a:ext cx="8001000" cy="1047900"/>
          </a:xfrm>
          <a:prstGeom prst="roundRect">
            <a:avLst>
              <a:gd fmla="val 9090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597baf9a4_0_1711"/>
          <p:cNvSpPr txBox="1"/>
          <p:nvPr/>
        </p:nvSpPr>
        <p:spPr>
          <a:xfrm>
            <a:off x="762000" y="1000125"/>
            <a:ext cx="7620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役割：Stream APIを使うための入り口</a:t>
            </a:r>
            <a:endParaRPr b="1" sz="14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13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配列やコレクション（List, Setなど）を、Streamという「データの流れ」に変換して準備</a:t>
            </a:r>
            <a:endParaRPr b="0" sz="13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4" name="Google Shape;264;g3e597baf9a4_0_1711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g3e597baf9a4_0_1711"/>
          <p:cNvSpPr txBox="1"/>
          <p:nvPr/>
        </p:nvSpPr>
        <p:spPr>
          <a:xfrm>
            <a:off x="571500" y="2143125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具体的な書き方</a:t>
            </a:r>
            <a:endParaRPr b="1" sz="18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g3e597baf9a4_0_1929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e597baf9a4_0_1929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e597baf9a4_0_1929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中間操作：データを加工・絞り込む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73" name="Google Shape;273;g3e597baf9a4_0_1929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274" name="Google Shape;274;g3e597baf9a4_0_1929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fmla="val 10000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g3e597baf9a4_0_1929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e597baf9a4_0_1929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i="0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77" name="Google Shape;277;g3e597baf9a4_0_1929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A5D6A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g3e597baf9a4_0_1929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1400">
                  <a:solidFill>
                    <a:srgbClr val="1B5E2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i="0" sz="1400">
                <a:solidFill>
                  <a:srgbClr val="1B5E2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79" name="Google Shape;279;g3e597baf9a4_0_1929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e597baf9a4_0_1929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i="0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81" name="Google Shape;281;g3e597baf9a4_0_1929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g3e597baf9a4_0_1929"/>
          <p:cNvSpPr/>
          <p:nvPr/>
        </p:nvSpPr>
        <p:spPr>
          <a:xfrm>
            <a:off x="571500" y="809625"/>
            <a:ext cx="8001000" cy="1047900"/>
          </a:xfrm>
          <a:prstGeom prst="roundRect">
            <a:avLst>
              <a:gd fmla="val 7272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597baf9a4_0_1929"/>
          <p:cNvSpPr txBox="1"/>
          <p:nvPr/>
        </p:nvSpPr>
        <p:spPr>
          <a:xfrm>
            <a:off x="762000" y="904875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役割：配列/リストの中身を操作</a:t>
            </a:r>
            <a:endParaRPr b="1" sz="14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13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絞り込みや変換などの処理をメソッドをつなげて記述して、出力結果を準備します。</a:t>
            </a:r>
            <a:endParaRPr b="0" sz="13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4" name="Google Shape;284;g3e597baf9a4_0_1929"/>
          <p:cNvSpPr txBox="1"/>
          <p:nvPr/>
        </p:nvSpPr>
        <p:spPr>
          <a:xfrm>
            <a:off x="571500" y="2047875"/>
            <a:ext cx="8001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具体的な書き方</a:t>
            </a:r>
            <a:endParaRPr b="1" sz="18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85" name="Google Shape;285;g3e597baf9a4_0_1929"/>
          <p:cNvGrpSpPr/>
          <p:nvPr/>
        </p:nvGrpSpPr>
        <p:grpSpPr>
          <a:xfrm>
            <a:off x="571500" y="4000500"/>
            <a:ext cx="8001000" cy="285900"/>
            <a:chOff x="571500" y="4000500"/>
            <a:chExt cx="8001000" cy="285900"/>
          </a:xfrm>
        </p:grpSpPr>
        <p:sp>
          <p:nvSpPr>
            <p:cNvPr id="286" name="Google Shape;286;g3e597baf9a4_0_1929"/>
            <p:cNvSpPr/>
            <p:nvPr/>
          </p:nvSpPr>
          <p:spPr>
            <a:xfrm>
              <a:off x="571500" y="400050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g3e597baf9a4_0_1929"/>
            <p:cNvSpPr txBox="1"/>
            <p:nvPr/>
          </p:nvSpPr>
          <p:spPr>
            <a:xfrm>
              <a:off x="571500" y="40005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F08300"/>
                  </a:solidFill>
                  <a:highlight>
                    <a:srgbClr val="FFF3E0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注意：複数の宣言が可能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88" name="Google Shape;288;g3e597baf9a4_0_1929"/>
          <p:cNvGrpSpPr/>
          <p:nvPr/>
        </p:nvGrpSpPr>
        <p:grpSpPr>
          <a:xfrm>
            <a:off x="571500" y="2524125"/>
            <a:ext cx="3810000" cy="1285800"/>
            <a:chOff x="662940" y="1000275"/>
            <a:chExt cx="3810000" cy="1285800"/>
          </a:xfrm>
        </p:grpSpPr>
        <p:sp>
          <p:nvSpPr>
            <p:cNvPr id="289" name="Google Shape;289;g3e597baf9a4_0_1929"/>
            <p:cNvSpPr/>
            <p:nvPr/>
          </p:nvSpPr>
          <p:spPr>
            <a:xfrm>
              <a:off x="662940" y="1000275"/>
              <a:ext cx="3810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g3e597baf9a4_0_1929"/>
            <p:cNvSpPr txBox="1"/>
            <p:nvPr/>
          </p:nvSpPr>
          <p:spPr>
            <a:xfrm>
              <a:off x="853440" y="1143150"/>
              <a:ext cx="3429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1300">
                  <a:solidFill>
                    <a:srgbClr val="2E7D32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filter：条件で絞り込む</a:t>
              </a:r>
              <a:endParaRPr b="1" i="0" sz="130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91" name="Google Shape;291;g3e597baf9a4_0_1929"/>
            <p:cNvSpPr/>
            <p:nvPr/>
          </p:nvSpPr>
          <p:spPr>
            <a:xfrm>
              <a:off x="853440" y="1524150"/>
              <a:ext cx="3429000" cy="571500"/>
            </a:xfrm>
            <a:prstGeom prst="roundRect">
              <a:avLst>
                <a:gd fmla="val 10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g3e597baf9a4_0_1929"/>
            <p:cNvSpPr txBox="1"/>
            <p:nvPr/>
          </p:nvSpPr>
          <p:spPr>
            <a:xfrm>
              <a:off x="948690" y="16194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ja" sz="12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.filter(s -&gt; s.length() &gt;= 4)</a:t>
              </a:r>
              <a:endParaRPr b="0" i="0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93" name="Google Shape;293;g3e597baf9a4_0_1929"/>
          <p:cNvGrpSpPr/>
          <p:nvPr/>
        </p:nvGrpSpPr>
        <p:grpSpPr>
          <a:xfrm>
            <a:off x="4762500" y="2524125"/>
            <a:ext cx="3810000" cy="1285800"/>
            <a:chOff x="4853940" y="1000275"/>
            <a:chExt cx="3810000" cy="1285800"/>
          </a:xfrm>
        </p:grpSpPr>
        <p:sp>
          <p:nvSpPr>
            <p:cNvPr id="294" name="Google Shape;294;g3e597baf9a4_0_1929"/>
            <p:cNvSpPr/>
            <p:nvPr/>
          </p:nvSpPr>
          <p:spPr>
            <a:xfrm>
              <a:off x="4853940" y="1000275"/>
              <a:ext cx="3810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g3e597baf9a4_0_1929"/>
            <p:cNvSpPr txBox="1"/>
            <p:nvPr/>
          </p:nvSpPr>
          <p:spPr>
            <a:xfrm>
              <a:off x="5044440" y="1143150"/>
              <a:ext cx="3429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ja" sz="1300">
                  <a:solidFill>
                    <a:srgbClr val="2E7D32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map：別の形に変換する</a:t>
              </a:r>
              <a:endParaRPr b="1" i="0" sz="130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96" name="Google Shape;296;g3e597baf9a4_0_1929"/>
            <p:cNvSpPr/>
            <p:nvPr/>
          </p:nvSpPr>
          <p:spPr>
            <a:xfrm>
              <a:off x="5044440" y="1524150"/>
              <a:ext cx="3429000" cy="571500"/>
            </a:xfrm>
            <a:prstGeom prst="roundRect">
              <a:avLst>
                <a:gd fmla="val 10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g3e597baf9a4_0_1929"/>
            <p:cNvSpPr txBox="1"/>
            <p:nvPr/>
          </p:nvSpPr>
          <p:spPr>
            <a:xfrm>
              <a:off x="5139690" y="16194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ja" sz="12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.map(s -&gt; s.toUpperCase())</a:t>
              </a:r>
              <a:endParaRPr b="0" i="0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中間操作：データを加工・絞り込む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305" name="Google Shape;305;p3"/>
          <p:cNvGrpSpPr/>
          <p:nvPr/>
        </p:nvGrpSpPr>
        <p:grpSpPr>
          <a:xfrm>
            <a:off x="547687" y="1607296"/>
            <a:ext cx="8048625" cy="2473897"/>
            <a:chOff x="571500" y="952499"/>
            <a:chExt cx="8048625" cy="3429300"/>
          </a:xfrm>
        </p:grpSpPr>
        <p:sp>
          <p:nvSpPr>
            <p:cNvPr id="306" name="Google Shape;306;p3"/>
            <p:cNvSpPr/>
            <p:nvPr/>
          </p:nvSpPr>
          <p:spPr>
            <a:xfrm>
              <a:off x="571500" y="952499"/>
              <a:ext cx="8001000" cy="3429300"/>
            </a:xfrm>
            <a:prstGeom prst="roundRect">
              <a:avLst>
                <a:gd fmla="val 2776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"/>
            <p:cNvSpPr txBox="1"/>
            <p:nvPr/>
          </p:nvSpPr>
          <p:spPr>
            <a:xfrm>
              <a:off x="619125" y="1047736"/>
              <a:ext cx="8001000" cy="3238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4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b="0" lang="ja" sz="14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lang="ja" sz="14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lang="ja" sz="14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"cherry"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lang="ja" sz="14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“fig"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 </a:t>
              </a:r>
              <a:r>
                <a:rPr b="0" lang="ja" sz="14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配列の宣言</a:t>
              </a:r>
              <a:endParaRPr b="0" sz="14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4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b="0" lang="ja" sz="14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b="0" lang="ja" sz="14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 </a:t>
              </a:r>
              <a:r>
                <a:rPr b="0" lang="ja" sz="14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① 生成</a:t>
              </a:r>
              <a:endParaRPr b="0" sz="14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b="0" lang="ja" sz="140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b="0" lang="ja" sz="14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b="0" sz="14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.map(s -&gt; s.toUpperCase()) </a:t>
              </a:r>
              <a:r>
                <a:rPr b="0" lang="ja" sz="14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b="0" sz="14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40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 </a:t>
              </a:r>
              <a:r>
                <a:rPr b="0" lang="ja" sz="140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③ 終端操作</a:t>
              </a:r>
              <a:endParaRPr b="0" sz="14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308" name="Google Shape;308;p3"/>
          <p:cNvCxnSpPr/>
          <p:nvPr/>
        </p:nvCxnSpPr>
        <p:spPr>
          <a:xfrm>
            <a:off x="1820254" y="2948299"/>
            <a:ext cx="794700" cy="0"/>
          </a:xfrm>
          <a:prstGeom prst="straightConnector1">
            <a:avLst/>
          </a:prstGeom>
          <a:noFill/>
          <a:ln cap="flat" cmpd="sng" w="57150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3"/>
          <p:cNvCxnSpPr/>
          <p:nvPr/>
        </p:nvCxnSpPr>
        <p:spPr>
          <a:xfrm>
            <a:off x="1840194" y="3280161"/>
            <a:ext cx="794700" cy="0"/>
          </a:xfrm>
          <a:prstGeom prst="straightConnector1">
            <a:avLst/>
          </a:prstGeom>
          <a:noFill/>
          <a:ln cap="flat" cmpd="sng" w="57150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3"/>
          <p:cNvSpPr txBox="1"/>
          <p:nvPr/>
        </p:nvSpPr>
        <p:spPr>
          <a:xfrm>
            <a:off x="268600" y="2571750"/>
            <a:ext cx="18402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ja" sz="1600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複数宣言可能</a:t>
            </a:r>
            <a:endParaRPr b="1" i="0" sz="1600" u="none" cap="none" strike="noStrike">
              <a:solidFill>
                <a:schemeClr val="accent4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597baf9a4_0_2152"/>
          <p:cNvSpPr/>
          <p:nvPr/>
        </p:nvSpPr>
        <p:spPr>
          <a:xfrm>
            <a:off x="447675" y="361950"/>
            <a:ext cx="954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e597baf9a4_0_2152"/>
          <p:cNvSpPr/>
          <p:nvPr/>
        </p:nvSpPr>
        <p:spPr>
          <a:xfrm>
            <a:off x="571500" y="781050"/>
            <a:ext cx="8001000" cy="1143000"/>
          </a:xfrm>
          <a:prstGeom prst="roundRect">
            <a:avLst>
              <a:gd fmla="val 6666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e597baf9a4_0_21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終端操作：最終的な結果を得る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18" name="Google Shape;318;g3e597baf9a4_0_2152"/>
          <p:cNvPicPr preferRelativeResize="0"/>
          <p:nvPr/>
        </p:nvPicPr>
        <p:blipFill rotWithShape="1">
          <a:blip r:embed="rId3">
            <a:alphaModFix/>
          </a:blip>
          <a:srcRect b="199" l="0" r="0" t="199"/>
          <a:stretch/>
        </p:blipFill>
        <p:spPr>
          <a:xfrm>
            <a:off x="8477250" y="295275"/>
            <a:ext cx="3621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g3e597baf9a4_0_2152"/>
          <p:cNvGrpSpPr/>
          <p:nvPr/>
        </p:nvGrpSpPr>
        <p:grpSpPr>
          <a:xfrm>
            <a:off x="571500" y="2000250"/>
            <a:ext cx="3905400" cy="2000100"/>
            <a:chOff x="451858" y="476250"/>
            <a:chExt cx="3905400" cy="2000100"/>
          </a:xfrm>
        </p:grpSpPr>
        <p:sp>
          <p:nvSpPr>
            <p:cNvPr id="320" name="Google Shape;320;g3e597baf9a4_0_2152"/>
            <p:cNvSpPr/>
            <p:nvPr/>
          </p:nvSpPr>
          <p:spPr>
            <a:xfrm>
              <a:off x="451858" y="476250"/>
              <a:ext cx="39054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FFA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g3e597baf9a4_0_2152"/>
            <p:cNvSpPr txBox="1"/>
            <p:nvPr/>
          </p:nvSpPr>
          <p:spPr>
            <a:xfrm>
              <a:off x="642358" y="619125"/>
              <a:ext cx="35244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toList：結果をListとして取得</a:t>
              </a:r>
              <a:endParaRPr b="1" sz="140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22" name="Google Shape;322;g3e597baf9a4_0_2152"/>
            <p:cNvSpPr/>
            <p:nvPr/>
          </p:nvSpPr>
          <p:spPr>
            <a:xfrm>
              <a:off x="642358" y="1000125"/>
              <a:ext cx="3524400" cy="476400"/>
            </a:xfrm>
            <a:prstGeom prst="roundRect">
              <a:avLst>
                <a:gd fmla="val 12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g3e597baf9a4_0_2152"/>
            <p:cNvSpPr txBox="1"/>
            <p:nvPr/>
          </p:nvSpPr>
          <p:spPr>
            <a:xfrm>
              <a:off x="737608" y="1095375"/>
              <a:ext cx="3333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3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.toList()</a:t>
              </a:r>
              <a:endParaRPr b="0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4" name="Google Shape;324;g3e597baf9a4_0_2152"/>
            <p:cNvSpPr txBox="1"/>
            <p:nvPr/>
          </p:nvSpPr>
          <p:spPr>
            <a:xfrm>
              <a:off x="737600" y="1643063"/>
              <a:ext cx="3524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出力例：</a:t>
              </a:r>
              <a:r>
                <a:rPr b="0" lang="ja" sz="1000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(戻り値: List)</a:t>
              </a:r>
              <a:endParaRPr b="1" sz="11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616161"/>
                  </a:solidFill>
                  <a:highlight>
                    <a:srgbClr val="F5F5F5"/>
                  </a:highlight>
                  <a:latin typeface="Consolas"/>
                  <a:ea typeface="Consolas"/>
                  <a:cs typeface="Consolas"/>
                  <a:sym typeface="Consolas"/>
                </a:rPr>
                <a:t>["APPLE", "BANANA", "CHERRY"]</a:t>
              </a:r>
              <a:endParaRPr b="1" sz="11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加工後のデータをリストに格納する</a:t>
              </a:r>
              <a:endParaRPr b="1" sz="11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25" name="Google Shape;325;g3e597baf9a4_0_2152"/>
          <p:cNvGrpSpPr/>
          <p:nvPr/>
        </p:nvGrpSpPr>
        <p:grpSpPr>
          <a:xfrm>
            <a:off x="4667250" y="2000250"/>
            <a:ext cx="3905400" cy="2000100"/>
            <a:chOff x="4547608" y="476250"/>
            <a:chExt cx="3905400" cy="2000100"/>
          </a:xfrm>
        </p:grpSpPr>
        <p:sp>
          <p:nvSpPr>
            <p:cNvPr id="326" name="Google Shape;326;g3e597baf9a4_0_2152"/>
            <p:cNvSpPr/>
            <p:nvPr/>
          </p:nvSpPr>
          <p:spPr>
            <a:xfrm>
              <a:off x="4547608" y="476250"/>
              <a:ext cx="39054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FFA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g3e597baf9a4_0_2152"/>
            <p:cNvSpPr txBox="1"/>
            <p:nvPr/>
          </p:nvSpPr>
          <p:spPr>
            <a:xfrm>
              <a:off x="4738108" y="619125"/>
              <a:ext cx="35244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count：要素の件数を取得</a:t>
              </a:r>
              <a:endParaRPr b="1" sz="140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28" name="Google Shape;328;g3e597baf9a4_0_2152"/>
            <p:cNvSpPr/>
            <p:nvPr/>
          </p:nvSpPr>
          <p:spPr>
            <a:xfrm>
              <a:off x="4738108" y="1000125"/>
              <a:ext cx="3524400" cy="476400"/>
            </a:xfrm>
            <a:prstGeom prst="roundRect">
              <a:avLst>
                <a:gd fmla="val 12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g3e597baf9a4_0_2152"/>
            <p:cNvSpPr txBox="1"/>
            <p:nvPr/>
          </p:nvSpPr>
          <p:spPr>
            <a:xfrm>
              <a:off x="4833358" y="1095375"/>
              <a:ext cx="3333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3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.count()</a:t>
              </a:r>
              <a:endParaRPr b="0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0" name="Google Shape;330;g3e597baf9a4_0_2152"/>
            <p:cNvSpPr txBox="1"/>
            <p:nvPr/>
          </p:nvSpPr>
          <p:spPr>
            <a:xfrm>
              <a:off x="4833348" y="1690688"/>
              <a:ext cx="3524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出力例：</a:t>
              </a:r>
              <a:r>
                <a:rPr b="0" lang="ja" sz="1000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(戻り値: long)</a:t>
              </a:r>
              <a:endParaRPr b="1" sz="11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616161"/>
                  </a:solidFill>
                  <a:highlight>
                    <a:srgbClr val="F5F5F5"/>
                  </a:highlight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 sz="11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最終的に残ったデータの件数を返す</a:t>
              </a:r>
              <a:endParaRPr b="1" sz="11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31" name="Google Shape;331;g3e597baf9a4_0_2152"/>
          <p:cNvGrpSpPr/>
          <p:nvPr/>
        </p:nvGrpSpPr>
        <p:grpSpPr>
          <a:xfrm>
            <a:off x="609600" y="4462525"/>
            <a:ext cx="8001000" cy="381000"/>
            <a:chOff x="571500" y="4524375"/>
            <a:chExt cx="8001000" cy="381000"/>
          </a:xfrm>
        </p:grpSpPr>
        <p:sp>
          <p:nvSpPr>
            <p:cNvPr id="332" name="Google Shape;332;g3e597baf9a4_0_2152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fmla="val 10000" name="adj"/>
              </a:avLst>
            </a:prstGeom>
            <a:solidFill>
              <a:srgbClr val="FBE9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e597baf9a4_0_2152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e597baf9a4_0_2152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i="0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35" name="Google Shape;335;g3e597baf9a4_0_2152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e597baf9a4_0_2152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i="0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37" name="Google Shape;337;g3e597baf9a4_0_2152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e597baf9a4_0_2152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8A6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i="0" sz="1400" u="none" cap="none" strike="noStrike">
                <a:solidFill>
                  <a:srgbClr val="FF8A6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339" name="Google Shape;339;g3e597baf9a4_0_215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0" name="Google Shape;340;g3e597baf9a4_0_2152"/>
          <p:cNvSpPr txBox="1"/>
          <p:nvPr/>
        </p:nvSpPr>
        <p:spPr>
          <a:xfrm>
            <a:off x="571500" y="8763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役割：操作した配列/リストの集約</a:t>
            </a:r>
            <a:endParaRPr b="1" sz="140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14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終端操作が記述されて初めて、生成と中間操作が実際に実行（遅延評価）される</a:t>
            </a:r>
            <a:endParaRPr b="0" sz="14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341" name="Google Shape;341;g3e597baf9a4_0_2152"/>
          <p:cNvGrpSpPr/>
          <p:nvPr/>
        </p:nvGrpSpPr>
        <p:grpSpPr>
          <a:xfrm>
            <a:off x="571500" y="4095750"/>
            <a:ext cx="8001000" cy="285900"/>
            <a:chOff x="571500" y="4095750"/>
            <a:chExt cx="8001000" cy="285900"/>
          </a:xfrm>
        </p:grpSpPr>
        <p:sp>
          <p:nvSpPr>
            <p:cNvPr id="342" name="Google Shape;342;g3e597baf9a4_0_2152"/>
            <p:cNvSpPr/>
            <p:nvPr/>
          </p:nvSpPr>
          <p:spPr>
            <a:xfrm>
              <a:off x="571500" y="4095750"/>
              <a:ext cx="8001000" cy="285900"/>
            </a:xfrm>
            <a:prstGeom prst="roundRect">
              <a:avLst>
                <a:gd fmla="val 13333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g3e597baf9a4_0_2152"/>
            <p:cNvSpPr txBox="1"/>
            <p:nvPr/>
          </p:nvSpPr>
          <p:spPr>
            <a:xfrm>
              <a:off x="571500" y="40957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00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今回の例：fruits配列から4文字以上を抽出し大文字に変換した場合の結果</a:t>
              </a:r>
              <a:endParaRPr b="1" sz="100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597baf9a4_0_2363"/>
          <p:cNvSpPr/>
          <p:nvPr/>
        </p:nvSpPr>
        <p:spPr>
          <a:xfrm>
            <a:off x="9675" y="-9525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e597baf9a4_0_236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e597baf9a4_0_2363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全体像と実行結果のイメージ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51" name="Google Shape;351;g3e597baf9a4_0_236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e597baf9a4_0_2363"/>
          <p:cNvSpPr/>
          <p:nvPr/>
        </p:nvSpPr>
        <p:spPr>
          <a:xfrm>
            <a:off x="571500" y="952500"/>
            <a:ext cx="8001000" cy="1524000"/>
          </a:xfrm>
          <a:prstGeom prst="roundRect">
            <a:avLst>
              <a:gd fmla="val 5000" name="adj"/>
            </a:avLst>
          </a:prstGeom>
          <a:solidFill>
            <a:srgbClr val="2D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e597baf9a4_0_2363"/>
          <p:cNvSpPr txBox="1"/>
          <p:nvPr/>
        </p:nvSpPr>
        <p:spPr>
          <a:xfrm>
            <a:off x="762000" y="1095375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String[] fruits = {</a:t>
            </a:r>
            <a:r>
              <a:rPr b="0" i="0" lang="ja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"apple"</a:t>
            </a: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ja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"banana"</a:t>
            </a: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ja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"cherry"</a:t>
            </a: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ja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“fig"</a:t>
            </a: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result = Arrays.stream(fruits) </a:t>
            </a:r>
            <a:r>
              <a:rPr b="0" i="0" lang="ja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① 生成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.filter(s -&gt; s.length() &gt;= 4) </a:t>
            </a:r>
            <a:r>
              <a:rPr b="0" i="0" lang="ja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.map(String::toUpperCase) </a:t>
            </a:r>
            <a:r>
              <a:rPr b="0" i="0" lang="ja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.toList(); </a:t>
            </a:r>
            <a:r>
              <a:rPr b="0" i="0" lang="ja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③ 終端操作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54" name="Google Shape;354;g3e597baf9a4_0_23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2571750"/>
            <a:ext cx="192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e597baf9a4_0_23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375" y="2857500"/>
            <a:ext cx="954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e597baf9a4_0_2363"/>
          <p:cNvSpPr/>
          <p:nvPr/>
        </p:nvSpPr>
        <p:spPr>
          <a:xfrm>
            <a:off x="571500" y="3048000"/>
            <a:ext cx="3810000" cy="1333500"/>
          </a:xfrm>
          <a:prstGeom prst="roundRect">
            <a:avLst>
              <a:gd fmla="val 5714" name="adj"/>
            </a:avLst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e597baf9a4_0_2363"/>
          <p:cNvSpPr txBox="1"/>
          <p:nvPr/>
        </p:nvSpPr>
        <p:spPr>
          <a:xfrm>
            <a:off x="1337061" y="3450200"/>
            <a:ext cx="2500001" cy="5290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実際の出力結果 (resultの中身)</a:t>
            </a:r>
            <a:endParaRPr b="1" i="0" sz="1400" u="none" cap="none" strike="noStrik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[APPLE, BANANA, CHERRY]</a:t>
            </a:r>
            <a:endParaRPr b="1" i="0" sz="1200" u="none" cap="none" strike="noStrik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58" name="Google Shape;358;g3e597baf9a4_0_2363"/>
          <p:cNvSpPr/>
          <p:nvPr/>
        </p:nvSpPr>
        <p:spPr>
          <a:xfrm>
            <a:off x="4762500" y="3048000"/>
            <a:ext cx="3810000" cy="1333500"/>
          </a:xfrm>
          <a:prstGeom prst="roundRect">
            <a:avLst>
              <a:gd fmla="val 5714" name="adj"/>
            </a:avLst>
          </a:prstGeom>
          <a:solidFill>
            <a:srgbClr val="E3F2FD"/>
          </a:solidFill>
          <a:ln cap="flat" cmpd="sng" w="9525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e597baf9a4_0_2363"/>
          <p:cNvSpPr txBox="1"/>
          <p:nvPr/>
        </p:nvSpPr>
        <p:spPr>
          <a:xfrm>
            <a:off x="4953000" y="3190875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処理のイメージ</a:t>
            </a:r>
            <a:endParaRPr b="1" i="0" sz="1400" u="none" cap="none" strike="noStrike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1. データを流れ(Stream)にする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2. 条件に合うものだけ通す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3. 形を変える(大文字化)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4. 最後にリストとして回収する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60" name="Google Shape;360;g3e597baf9a4_0_2363"/>
          <p:cNvSpPr/>
          <p:nvPr/>
        </p:nvSpPr>
        <p:spPr>
          <a:xfrm>
            <a:off x="571500" y="4619625"/>
            <a:ext cx="8001000" cy="333300"/>
          </a:xfrm>
          <a:prstGeom prst="roundRect">
            <a:avLst>
              <a:gd fmla="val 11428" name="adj"/>
            </a:avLst>
          </a:prstGeom>
          <a:solidFill>
            <a:srgbClr val="F08300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e597baf9a4_0_2363"/>
          <p:cNvSpPr txBox="1"/>
          <p:nvPr/>
        </p:nvSpPr>
        <p:spPr>
          <a:xfrm>
            <a:off x="762000" y="4619625"/>
            <a:ext cx="7620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「何をしたいか」を繋げるだけで、複雑なデータ操作が理解しやすい</a:t>
            </a:r>
            <a:endParaRPr b="1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597baf9a4_0_27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e597baf9a4_0_2752"/>
          <p:cNvSpPr/>
          <p:nvPr/>
        </p:nvSpPr>
        <p:spPr>
          <a:xfrm>
            <a:off x="447675" y="361950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597baf9a4_0_27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まとめ：Stream APIの正体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69" name="Google Shape;369;g3e597baf9a4_0_2752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e597baf9a4_0_2752"/>
          <p:cNvSpPr/>
          <p:nvPr/>
        </p:nvSpPr>
        <p:spPr>
          <a:xfrm>
            <a:off x="571500" y="857250"/>
            <a:ext cx="8001000" cy="666900"/>
          </a:xfrm>
          <a:prstGeom prst="roundRect">
            <a:avLst>
              <a:gd fmla="val 11428" name="adj"/>
            </a:avLst>
          </a:prstGeom>
          <a:solidFill>
            <a:srgbClr val="FFF3E0"/>
          </a:solidFill>
          <a:ln cap="flat" cmpd="sng" w="9525">
            <a:solidFill>
              <a:srgbClr val="F08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e597baf9a4_0_2752"/>
          <p:cNvSpPr txBox="1"/>
          <p:nvPr/>
        </p:nvSpPr>
        <p:spPr>
          <a:xfrm>
            <a:off x="666750" y="857250"/>
            <a:ext cx="7810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配列やListなどのデータのループ処理に対して、</a:t>
            </a:r>
            <a:br>
              <a:rPr b="1" lang="ja" sz="180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1" lang="ja" sz="18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「何をするか」を段階的に記述できる</a:t>
            </a:r>
            <a:r>
              <a:rPr b="1" lang="ja" sz="180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rPr>
              <a:t>仕組み</a:t>
            </a:r>
            <a:endParaRPr b="1" sz="1800">
              <a:solidFill>
                <a:srgbClr val="E64A1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2" name="Google Shape;372;g3e597baf9a4_0_275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3" name="Google Shape;373;g3e597baf9a4_0_2752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74" name="Google Shape;374;g3e597baf9a4_0_2752"/>
          <p:cNvGrpSpPr/>
          <p:nvPr/>
        </p:nvGrpSpPr>
        <p:grpSpPr>
          <a:xfrm>
            <a:off x="571500" y="1714438"/>
            <a:ext cx="3905400" cy="2476305"/>
            <a:chOff x="571500" y="1714500"/>
            <a:chExt cx="3905400" cy="3809700"/>
          </a:xfrm>
        </p:grpSpPr>
        <p:sp>
          <p:nvSpPr>
            <p:cNvPr id="375" name="Google Shape;375;g3e597baf9a4_0_2752"/>
            <p:cNvSpPr/>
            <p:nvPr/>
          </p:nvSpPr>
          <p:spPr>
            <a:xfrm>
              <a:off x="571500" y="1714500"/>
              <a:ext cx="3905400" cy="38097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F08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g3e597baf9a4_0_2752"/>
            <p:cNvSpPr txBox="1"/>
            <p:nvPr/>
          </p:nvSpPr>
          <p:spPr>
            <a:xfrm>
              <a:off x="762000" y="2007561"/>
              <a:ext cx="3524400" cy="32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記述の特徴：宣言的</a:t>
              </a:r>
              <a:endParaRPr b="1" sz="16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ja" sz="13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「手順」を細かく指示するのではなく</a:t>
              </a:r>
              <a:endParaRPr b="0" sz="13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404040"/>
                  </a:solidFill>
                  <a:highlight>
                    <a:srgbClr val="FFF9C4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「やりたいこと」</a:t>
              </a:r>
              <a:r>
                <a:rPr b="1" lang="ja"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を並べて記述</a:t>
              </a:r>
              <a:endParaRPr b="1" sz="14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616161"/>
                  </a:solidFill>
                  <a:highlight>
                    <a:srgbClr val="F5F5F5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💡 コードの目的が直感的に理解しや</a:t>
              </a:r>
              <a:r>
                <a:rPr lang="ja" sz="1100">
                  <a:solidFill>
                    <a:srgbClr val="616161"/>
                  </a:solidFill>
                  <a:highlight>
                    <a:srgbClr val="F5F5F5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すい</a:t>
              </a:r>
              <a:endParaRPr sz="1100">
                <a:solidFill>
                  <a:srgbClr val="616161"/>
                </a:solidFill>
                <a:highlight>
                  <a:srgbClr val="F5F5F5"/>
                </a:highlight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00">
                  <a:solidFill>
                    <a:srgbClr val="616161"/>
                  </a:solidFill>
                  <a:highlight>
                    <a:srgbClr val="F5F5F5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　　　　　　　　</a:t>
              </a:r>
              <a:r>
                <a:rPr b="0" lang="ja" sz="1100">
                  <a:solidFill>
                    <a:srgbClr val="616161"/>
                  </a:solidFill>
                  <a:highlight>
                    <a:srgbClr val="F5F5F5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可読性</a:t>
              </a:r>
              <a:r>
                <a:rPr lang="ja" sz="1100">
                  <a:solidFill>
                    <a:srgbClr val="616161"/>
                  </a:solidFill>
                  <a:highlight>
                    <a:srgbClr val="F5F5F5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向上！</a:t>
              </a:r>
              <a:endParaRPr b="0" sz="1100">
                <a:solidFill>
                  <a:srgbClr val="616161"/>
                </a:solidFill>
                <a:highlight>
                  <a:srgbClr val="F5F5F5"/>
                </a:highlight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77" name="Google Shape;377;g3e597baf9a4_0_2752"/>
          <p:cNvGrpSpPr/>
          <p:nvPr/>
        </p:nvGrpSpPr>
        <p:grpSpPr>
          <a:xfrm>
            <a:off x="4667250" y="1714438"/>
            <a:ext cx="3905400" cy="2476305"/>
            <a:chOff x="4667250" y="1714500"/>
            <a:chExt cx="3905400" cy="3809700"/>
          </a:xfrm>
        </p:grpSpPr>
        <p:sp>
          <p:nvSpPr>
            <p:cNvPr id="378" name="Google Shape;378;g3e597baf9a4_0_2752"/>
            <p:cNvSpPr/>
            <p:nvPr/>
          </p:nvSpPr>
          <p:spPr>
            <a:xfrm>
              <a:off x="4667250" y="1714500"/>
              <a:ext cx="3905400" cy="38097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F08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g3e597baf9a4_0_2752"/>
            <p:cNvSpPr txBox="1"/>
            <p:nvPr/>
          </p:nvSpPr>
          <p:spPr>
            <a:xfrm>
              <a:off x="4857750" y="2007561"/>
              <a:ext cx="3524400" cy="32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書き方の基本構成</a:t>
              </a:r>
              <a:endParaRPr b="1" sz="16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ja" sz="13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生成 → 中間操作 → 終端操作</a:t>
              </a:r>
              <a:endParaRPr b="1" sz="13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ja" sz="1100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メソッドを数珠つなぎに記述</a:t>
              </a:r>
              <a:endParaRPr b="0" sz="1100">
                <a:solidFill>
                  <a:srgbClr val="61616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ja" sz="1050">
                  <a:solidFill>
                    <a:srgbClr val="CE9178"/>
                  </a:solidFill>
                  <a:highlight>
                    <a:srgbClr val="2D2D2D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.stream() </a:t>
              </a:r>
              <a:r>
                <a:rPr b="1" lang="ja" sz="1050">
                  <a:solidFill>
                    <a:srgbClr val="6A9955"/>
                  </a:solidFill>
                  <a:highlight>
                    <a:srgbClr val="2D2D2D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// 生成</a:t>
              </a:r>
              <a:endParaRPr b="1" sz="1050">
                <a:solidFill>
                  <a:srgbClr val="CE9178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050">
                  <a:solidFill>
                    <a:srgbClr val="DCDCDC"/>
                  </a:solidFill>
                  <a:highlight>
                    <a:srgbClr val="2D2D2D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.filter(...)</a:t>
              </a:r>
              <a:endParaRPr b="1" sz="1050">
                <a:solidFill>
                  <a:srgbClr val="DCDCDC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050">
                  <a:solidFill>
                    <a:srgbClr val="DCDCDC"/>
                  </a:solidFill>
                  <a:highlight>
                    <a:srgbClr val="2D2D2D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.map(...) </a:t>
              </a:r>
              <a:r>
                <a:rPr b="1" lang="ja" sz="1050">
                  <a:solidFill>
                    <a:srgbClr val="6A9955"/>
                  </a:solidFill>
                  <a:highlight>
                    <a:srgbClr val="2D2D2D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// 中間操作</a:t>
              </a:r>
              <a:endParaRPr b="1" sz="1050">
                <a:solidFill>
                  <a:srgbClr val="DCDCDC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050">
                  <a:solidFill>
                    <a:srgbClr val="CE9178"/>
                  </a:solidFill>
                  <a:highlight>
                    <a:srgbClr val="2D2D2D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.toList() </a:t>
              </a:r>
              <a:r>
                <a:rPr b="1" lang="ja" sz="1050">
                  <a:solidFill>
                    <a:srgbClr val="6A9955"/>
                  </a:solidFill>
                  <a:highlight>
                    <a:srgbClr val="2D2D2D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// 終端操作</a:t>
              </a:r>
              <a:endParaRPr b="1" sz="1050">
                <a:solidFill>
                  <a:srgbClr val="CE9178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5"/>
          <p:cNvPicPr preferRelativeResize="0"/>
          <p:nvPr/>
        </p:nvPicPr>
        <p:blipFill rotWithShape="1">
          <a:blip r:embed="rId3">
            <a:alphaModFix/>
          </a:blip>
          <a:srcRect b="259" l="0" r="0" t="3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"/>
          <p:cNvSpPr txBox="1"/>
          <p:nvPr/>
        </p:nvSpPr>
        <p:spPr>
          <a:xfrm>
            <a:off x="609600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特徴①：連続した「1つの流れ」で記述できる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88" name="Google Shape;388;p5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コードを順を追って理解が可能</a:t>
            </a:r>
            <a:endParaRPr b="1" i="0" sz="18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89" name="Google Shape;389;p5"/>
          <p:cNvSpPr/>
          <p:nvPr/>
        </p:nvSpPr>
        <p:spPr>
          <a:xfrm>
            <a:off x="571500" y="1524000"/>
            <a:ext cx="8001000" cy="2857500"/>
          </a:xfrm>
          <a:prstGeom prst="roundRect">
            <a:avLst>
              <a:gd fmla="val 3333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oogle Shape;390;p5"/>
          <p:cNvGrpSpPr/>
          <p:nvPr/>
        </p:nvGrpSpPr>
        <p:grpSpPr>
          <a:xfrm>
            <a:off x="952500" y="2457450"/>
            <a:ext cx="1333500" cy="876300"/>
            <a:chOff x="952500" y="2457450"/>
            <a:chExt cx="1333500" cy="876300"/>
          </a:xfrm>
        </p:grpSpPr>
        <p:sp>
          <p:nvSpPr>
            <p:cNvPr id="391" name="Google Shape;391;p5"/>
            <p:cNvSpPr/>
            <p:nvPr/>
          </p:nvSpPr>
          <p:spPr>
            <a:xfrm>
              <a:off x="952500" y="2571750"/>
              <a:ext cx="13335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"/>
            <p:cNvSpPr txBox="1"/>
            <p:nvPr/>
          </p:nvSpPr>
          <p:spPr>
            <a:xfrm>
              <a:off x="952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データソース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952500" y="245745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6C75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"/>
            <p:cNvSpPr txBox="1"/>
            <p:nvPr/>
          </p:nvSpPr>
          <p:spPr>
            <a:xfrm>
              <a:off x="952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START</a:t>
              </a:r>
              <a:endParaRPr b="1" i="0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pic>
        <p:nvPicPr>
          <p:cNvPr id="395" name="Google Shape;3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3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4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5"/>
          <p:cNvGrpSpPr/>
          <p:nvPr/>
        </p:nvGrpSpPr>
        <p:grpSpPr>
          <a:xfrm>
            <a:off x="2857500" y="2571750"/>
            <a:ext cx="1524000" cy="762000"/>
            <a:chOff x="2857500" y="2571750"/>
            <a:chExt cx="1524000" cy="762000"/>
          </a:xfrm>
        </p:grpSpPr>
        <p:sp>
          <p:nvSpPr>
            <p:cNvPr id="398" name="Google Shape;398;p5"/>
            <p:cNvSpPr/>
            <p:nvPr/>
          </p:nvSpPr>
          <p:spPr>
            <a:xfrm>
              <a:off x="2857500" y="257175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"/>
            <p:cNvSpPr txBox="1"/>
            <p:nvPr/>
          </p:nvSpPr>
          <p:spPr>
            <a:xfrm>
              <a:off x="28575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絞り込み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.filter()</a:t>
              </a:r>
              <a:endParaRPr b="1" i="0" sz="1400" u="none" cap="none" strike="noStrik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400" name="Google Shape;4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1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1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p5"/>
          <p:cNvGrpSpPr/>
          <p:nvPr/>
        </p:nvGrpSpPr>
        <p:grpSpPr>
          <a:xfrm>
            <a:off x="4953000" y="2571750"/>
            <a:ext cx="1524000" cy="762000"/>
            <a:chOff x="4953000" y="2571750"/>
            <a:chExt cx="1524000" cy="762000"/>
          </a:xfrm>
        </p:grpSpPr>
        <p:sp>
          <p:nvSpPr>
            <p:cNvPr id="403" name="Google Shape;403;p5"/>
            <p:cNvSpPr/>
            <p:nvPr/>
          </p:nvSpPr>
          <p:spPr>
            <a:xfrm>
              <a:off x="4953000" y="257175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"/>
            <p:cNvSpPr txBox="1"/>
            <p:nvPr/>
          </p:nvSpPr>
          <p:spPr>
            <a:xfrm>
              <a:off x="49530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変換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.map()</a:t>
              </a:r>
              <a:endParaRPr b="1" i="0" sz="1400" u="none" cap="none" strike="noStrik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405" name="Google Shape;4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5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5"/>
          <p:cNvGrpSpPr/>
          <p:nvPr/>
        </p:nvGrpSpPr>
        <p:grpSpPr>
          <a:xfrm>
            <a:off x="7048500" y="2457450"/>
            <a:ext cx="1333500" cy="876300"/>
            <a:chOff x="7048500" y="2457450"/>
            <a:chExt cx="1333500" cy="876300"/>
          </a:xfrm>
        </p:grpSpPr>
        <p:sp>
          <p:nvSpPr>
            <p:cNvPr id="408" name="Google Shape;408;p5"/>
            <p:cNvSpPr/>
            <p:nvPr/>
          </p:nvSpPr>
          <p:spPr>
            <a:xfrm>
              <a:off x="7048500" y="2571750"/>
              <a:ext cx="13335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"/>
            <p:cNvSpPr txBox="1"/>
            <p:nvPr/>
          </p:nvSpPr>
          <p:spPr>
            <a:xfrm>
              <a:off x="7048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結果の収集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7048500" y="245745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E539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"/>
            <p:cNvSpPr txBox="1"/>
            <p:nvPr/>
          </p:nvSpPr>
          <p:spPr>
            <a:xfrm>
              <a:off x="7048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GOAL</a:t>
              </a:r>
              <a:endParaRPr b="1" i="0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412" name="Google Shape;412;p5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3" name="Google Shape;413;p5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"/>
          <p:cNvPicPr preferRelativeResize="0"/>
          <p:nvPr/>
        </p:nvPicPr>
        <p:blipFill rotWithShape="1">
          <a:blip r:embed="rId3">
            <a:alphaModFix/>
          </a:blip>
          <a:srcRect b="259" l="0" r="0" t="3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"/>
          <p:cNvSpPr txBox="1"/>
          <p:nvPr/>
        </p:nvSpPr>
        <p:spPr>
          <a:xfrm>
            <a:off x="609600" y="318125"/>
            <a:ext cx="772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特徴②：メソッドを使用することで処理内容がわかりやすい 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21" name="Google Shape;421;p6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「何をしたいか」で記述する</a:t>
            </a:r>
            <a:endParaRPr b="1" i="0" sz="18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22" name="Google Shape;422;p6"/>
          <p:cNvSpPr/>
          <p:nvPr/>
        </p:nvSpPr>
        <p:spPr>
          <a:xfrm>
            <a:off x="571500" y="4000500"/>
            <a:ext cx="8001000" cy="571500"/>
          </a:xfrm>
          <a:prstGeom prst="roundRect">
            <a:avLst>
              <a:gd fmla="val 50000" name="adj"/>
            </a:avLst>
          </a:prstGeom>
          <a:solidFill>
            <a:srgbClr val="FEEBEE"/>
          </a:solidFill>
          <a:ln cap="flat" cmpd="sng" w="9525">
            <a:solidFill>
              <a:srgbClr val="EF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"/>
          <p:cNvSpPr txBox="1"/>
          <p:nvPr/>
        </p:nvSpPr>
        <p:spPr>
          <a:xfrm>
            <a:off x="571500" y="4000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1600" u="none" cap="none" strike="noStrike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処理の内容が直感的に理解しやすい</a:t>
            </a:r>
            <a:endParaRPr b="1" i="0" sz="1600" u="none" cap="none" strike="noStrike">
              <a:solidFill>
                <a:srgbClr val="E53935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24" name="Google Shape;424;p6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5" name="Google Shape;425;p6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26" name="Google Shape;426;p6"/>
          <p:cNvGrpSpPr/>
          <p:nvPr/>
        </p:nvGrpSpPr>
        <p:grpSpPr>
          <a:xfrm>
            <a:off x="5967450" y="1909047"/>
            <a:ext cx="2667000" cy="1265700"/>
            <a:chOff x="5905500" y="1655997"/>
            <a:chExt cx="2667000" cy="1265700"/>
          </a:xfrm>
        </p:grpSpPr>
        <p:sp>
          <p:nvSpPr>
            <p:cNvPr id="427" name="Google Shape;427;p6"/>
            <p:cNvSpPr/>
            <p:nvPr/>
          </p:nvSpPr>
          <p:spPr>
            <a:xfrm>
              <a:off x="5905500" y="1655997"/>
              <a:ext cx="2667000" cy="1265700"/>
            </a:xfrm>
            <a:prstGeom prst="roundRect">
              <a:avLst>
                <a:gd fmla="val 602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6"/>
            <p:cNvSpPr txBox="1"/>
            <p:nvPr/>
          </p:nvSpPr>
          <p:spPr>
            <a:xfrm>
              <a:off x="6048375" y="1655997"/>
              <a:ext cx="2381400" cy="12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.stream()</a:t>
              </a: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データを流し始める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.filter()</a:t>
              </a: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条件で絞り込む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.map()</a:t>
              </a: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別の形に変換する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.toList()</a:t>
              </a: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結果をリストに集める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429" name="Google Shape;429;p6"/>
          <p:cNvGrpSpPr/>
          <p:nvPr/>
        </p:nvGrpSpPr>
        <p:grpSpPr>
          <a:xfrm>
            <a:off x="784775" y="1281826"/>
            <a:ext cx="4952899" cy="2499798"/>
            <a:chOff x="854627" y="1047755"/>
            <a:chExt cx="6561000" cy="3238500"/>
          </a:xfrm>
        </p:grpSpPr>
        <p:sp>
          <p:nvSpPr>
            <p:cNvPr id="430" name="Google Shape;430;p6"/>
            <p:cNvSpPr/>
            <p:nvPr/>
          </p:nvSpPr>
          <p:spPr>
            <a:xfrm>
              <a:off x="854627" y="1860323"/>
              <a:ext cx="6561000" cy="1639800"/>
            </a:xfrm>
            <a:prstGeom prst="roundRect">
              <a:avLst>
                <a:gd fmla="val 2777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6"/>
            <p:cNvSpPr txBox="1"/>
            <p:nvPr/>
          </p:nvSpPr>
          <p:spPr>
            <a:xfrm>
              <a:off x="951363" y="1047755"/>
              <a:ext cx="6182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b="0" i="0" lang="ja" sz="11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...};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b="0" i="0" lang="ja" sz="1100" u="none" cap="none" strike="noStrike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