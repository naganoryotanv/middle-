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5" r:id="rId2"/>
  </p:sldMasterIdLst>
  <p:notesMasterIdLst>
    <p:notesMasterId r:id="rId20"/>
  </p:notesMasterIdLst>
  <p:sldIdLst>
    <p:sldId id="256" r:id="rId3"/>
    <p:sldId id="257" r:id="rId4"/>
    <p:sldId id="271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2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Mate" panose="020B0604020202020204" charset="0"/>
      <p:regular r:id="rId25"/>
      <p:italic r:id="rId26"/>
    </p:embeddedFont>
    <p:embeddedFont>
      <p:font typeface="Noto Sans" panose="020B0502040504020204" pitchFamily="34" charset="0"/>
      <p:regular r:id="rId27"/>
      <p:bold r:id="rId28"/>
      <p:italic r:id="rId29"/>
      <p:boldItalic r:id="rId30"/>
    </p:embeddedFont>
    <p:embeddedFont>
      <p:font typeface="Noto Sans JP" panose="020B0200000000000000" pitchFamily="34" charset="-128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>
          <p15:clr>
            <a:srgbClr val="747775"/>
          </p15:clr>
        </p15:guide>
        <p15:guide id="2" orient="horz" pos="162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0pWchRS+6SKf+/AjkxWZ4d4NW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288" autoAdjust="0"/>
  </p:normalViewPr>
  <p:slideViewPr>
    <p:cSldViewPr snapToGrid="0">
      <p:cViewPr varScale="1">
        <p:scale>
          <a:sx n="112" d="100"/>
          <a:sy n="112" d="100"/>
        </p:scale>
        <p:origin x="120" y="282"/>
      </p:cViewPr>
      <p:guideLst>
        <p:guide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ca76c1784_0_1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eca76c1784_0_1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47EFB6C4-C63F-B4F4-8414-C8A636600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ca76c1784_0_1289:notes">
            <a:extLst>
              <a:ext uri="{FF2B5EF4-FFF2-40B4-BE49-F238E27FC236}">
                <a16:creationId xmlns:a16="http://schemas.microsoft.com/office/drawing/2014/main" id="{2E48FE0E-B362-5503-359A-5F51D982EE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eca76c1784_0_1289:notes">
            <a:extLst>
              <a:ext uri="{FF2B5EF4-FFF2-40B4-BE49-F238E27FC236}">
                <a16:creationId xmlns:a16="http://schemas.microsoft.com/office/drawing/2014/main" id="{E61018C2-B346-8FA5-1AA7-030AA94BE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6681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ca76c178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eca76c1784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ca76c178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eca76c1784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ca76c1784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eca76c1784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ca76c1784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eca76c1784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597baf9a4_0_1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e597baf9a4_0_17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597baf9a4_0_1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3e597baf9a4_0_1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>
          <a:extLst>
            <a:ext uri="{FF2B5EF4-FFF2-40B4-BE49-F238E27FC236}">
              <a16:creationId xmlns:a16="http://schemas.microsoft.com/office/drawing/2014/main" id="{F3B31504-E9F1-3CB6-6D10-2FDA1615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e597baf9a4_0_1929:notes">
            <a:extLst>
              <a:ext uri="{FF2B5EF4-FFF2-40B4-BE49-F238E27FC236}">
                <a16:creationId xmlns:a16="http://schemas.microsoft.com/office/drawing/2014/main" id="{425DD38D-5C94-A678-FA64-F456CD2DD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3e597baf9a4_0_1929:notes">
            <a:extLst>
              <a:ext uri="{FF2B5EF4-FFF2-40B4-BE49-F238E27FC236}">
                <a16:creationId xmlns:a16="http://schemas.microsoft.com/office/drawing/2014/main" id="{3AAA446A-9C9D-32FC-68A3-709C3F39A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618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597baf9a4_0_2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3e597baf9a4_0_2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597baf9a4_0_2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3e597baf9a4_0_2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e597baf9a4_0_2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3e597baf9a4_0_27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55cd1e1e3_10_0)">
  <p:cSld name="Generated (g3e55cd1e1e3_10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72b96d2cb_7_0)">
  <p:cSld name="Generated (g3e72b96d2cb_7_0)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個別ページ">
  <p:cSld name="CUSTOM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9" title="アセット 2@2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80975" y="302386"/>
            <a:ext cx="359250" cy="4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9"/>
          <p:cNvSpPr/>
          <p:nvPr/>
        </p:nvSpPr>
        <p:spPr>
          <a:xfrm>
            <a:off x="448607" y="367420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526563" y="317775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表紙">
  <p:cSld name="CUSTOM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0" title="アセット 2@2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068" y="251560"/>
            <a:ext cx="520176" cy="6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1071" y="3279874"/>
            <a:ext cx="776300" cy="134633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2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ca6f565c2_7_0)">
  <p:cSld name="Generated (g3eca6f565c2_7_0)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55cd1e1e3_10_0)">
  <p:cSld name="Generated (g3e55cd1e1e3_10_0)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72b96d2cb_7_0)">
  <p:cSld name="Generated (g3e72b96d2cb_7_0)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個別ページ">
  <p:cSld name="CUSTOM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3e7449559d7_0_491" title="アセット 2@2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80975" y="302386"/>
            <a:ext cx="359250" cy="4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3e7449559d7_0_491"/>
          <p:cNvSpPr/>
          <p:nvPr/>
        </p:nvSpPr>
        <p:spPr>
          <a:xfrm>
            <a:off x="448607" y="367420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e7449559d7_0_491"/>
          <p:cNvSpPr txBox="1">
            <a:spLocks noGrp="1"/>
          </p:cNvSpPr>
          <p:nvPr>
            <p:ph type="title"/>
          </p:nvPr>
        </p:nvSpPr>
        <p:spPr>
          <a:xfrm>
            <a:off x="526563" y="317775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200"/>
              <a:buFont typeface="Noto Sans JP"/>
              <a:buNone/>
              <a:defRPr sz="2200" b="1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defRPr>
            </a:lvl9pPr>
          </a:lstStyle>
          <a:p>
            <a:endParaRPr/>
          </a:p>
        </p:txBody>
      </p:sp>
      <p:sp>
        <p:nvSpPr>
          <p:cNvPr id="72" name="Google Shape;72;g3e7449559d7_0_49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表紙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g3e7449559d7_0_496" title="アセット 2@2x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068" y="251560"/>
            <a:ext cx="520176" cy="60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g3e7449559d7_0_4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1071" y="3279874"/>
            <a:ext cx="776300" cy="134633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e7449559d7_0_49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7449559d7_0_50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9" name="Google Shape;79;g3e7449559d7_0_50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0" name="Google Shape;80;g3e7449559d7_0_5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7449559d7_0_50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3" name="Google Shape;83;g3e7449559d7_0_5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7449559d7_0_50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3e7449559d7_0_50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g3e7449559d7_0_50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7449559d7_0_5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3e7449559d7_0_5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1" name="Google Shape;91;g3e7449559d7_0_51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2" name="Google Shape;92;g3e7449559d7_0_5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449559d7_0_5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e7449559d7_0_5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7449559d7_0_5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" name="Google Shape;98;g3e7449559d7_0_5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9" name="Google Shape;99;g3e7449559d7_0_5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7449559d7_0_52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2" name="Google Shape;102;g3e7449559d7_0_5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7449559d7_0_5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e7449559d7_0_52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06" name="Google Shape;106;g3e7449559d7_0_52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7" name="Google Shape;107;g3e7449559d7_0_52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g3e7449559d7_0_5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7449559d7_0_5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11" name="Google Shape;111;g3e7449559d7_0_5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7449559d7_0_5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4" name="Google Shape;114;g3e7449559d7_0_5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g3e7449559d7_0_5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7449559d7_0_5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ca6f565c2_7_0)">
  <p:cSld name="Generated (g3eca6f565c2_7_0)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7449559d7_0_48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g3e7449559d7_0_4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g3e7449559d7_0_4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 t="189" b="199"/>
          <a:stretch/>
        </p:blipFill>
        <p:spPr>
          <a:xfrm>
            <a:off x="290036" y="251555"/>
            <a:ext cx="520200" cy="60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1099" y="3279839"/>
            <a:ext cx="776400" cy="13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"/>
          <p:cNvSpPr txBox="1"/>
          <p:nvPr/>
        </p:nvSpPr>
        <p:spPr>
          <a:xfrm>
            <a:off x="762000" y="2000250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ja" sz="36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APIを理解する</a:t>
            </a:r>
            <a:endParaRPr sz="36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3810000" y="3619500"/>
            <a:ext cx="152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" sz="11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長野 椋太</a:t>
            </a:r>
            <a:endParaRPr sz="11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7829550" y="48577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ja" sz="8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8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g3eca76c1784_0_1289"/>
          <p:cNvGrpSpPr/>
          <p:nvPr/>
        </p:nvGrpSpPr>
        <p:grpSpPr>
          <a:xfrm>
            <a:off x="523875" y="1143000"/>
            <a:ext cx="8096400" cy="1999360"/>
            <a:chOff x="523875" y="1143000"/>
            <a:chExt cx="8096400" cy="3048000"/>
          </a:xfrm>
        </p:grpSpPr>
        <p:sp>
          <p:nvSpPr>
            <p:cNvPr id="134" name="Google Shape;134;g3eca76c1784_0_1289"/>
            <p:cNvSpPr/>
            <p:nvPr/>
          </p:nvSpPr>
          <p:spPr>
            <a:xfrm>
              <a:off x="523875" y="1143000"/>
              <a:ext cx="8096400" cy="3048000"/>
            </a:xfrm>
            <a:prstGeom prst="roundRect">
              <a:avLst>
                <a:gd name="adj" fmla="val 3125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" name="Google Shape;135;g3eca76c1784_0_1289"/>
            <p:cNvGrpSpPr/>
            <p:nvPr/>
          </p:nvGrpSpPr>
          <p:grpSpPr>
            <a:xfrm>
              <a:off x="762000" y="1381125"/>
              <a:ext cx="3619500" cy="2571900"/>
              <a:chOff x="762000" y="1381125"/>
              <a:chExt cx="3619500" cy="2571900"/>
            </a:xfrm>
          </p:grpSpPr>
          <p:sp>
            <p:nvSpPr>
              <p:cNvPr id="136" name="Google Shape;136;g3eca76c1784_0_1289"/>
              <p:cNvSpPr/>
              <p:nvPr/>
            </p:nvSpPr>
            <p:spPr>
              <a:xfrm>
                <a:off x="762000" y="1381125"/>
                <a:ext cx="3619500" cy="2571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g3eca76c1784_0_1289"/>
              <p:cNvSpPr txBox="1"/>
              <p:nvPr/>
            </p:nvSpPr>
            <p:spPr>
              <a:xfrm>
                <a:off x="762000" y="1381125"/>
                <a:ext cx="36195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ja" sz="1400" b="1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前半：Stream APIの基本を理解する</a:t>
                </a:r>
                <a:endParaRPr sz="1400" b="1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lvl="0" indent="0" algn="l" rtl="0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ja" sz="1400" b="1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01</a:t>
                </a:r>
                <a:r>
                  <a:rPr lang="ja" sz="140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Stream APIとは何か</a:t>
                </a:r>
                <a:endParaRPr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ja" sz="1400" b="1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02</a:t>
                </a:r>
                <a:r>
                  <a:rPr lang="ja" sz="140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Stream APIの特徴</a:t>
                </a:r>
                <a:endParaRPr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lvl="0" indent="0" algn="l" rtl="0">
                  <a:spcBef>
                    <a:spcPts val="1125"/>
                  </a:spcBef>
                  <a:spcAft>
                    <a:spcPts val="1125"/>
                  </a:spcAft>
                  <a:buNone/>
                </a:pPr>
                <a:r>
                  <a:rPr lang="ja" sz="1400" b="1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03</a:t>
                </a:r>
                <a:r>
                  <a:rPr lang="ja" sz="140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Stream APIの書き方</a:t>
                </a:r>
                <a:endParaRPr sz="140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  <p:grpSp>
          <p:nvGrpSpPr>
            <p:cNvPr id="138" name="Google Shape;138;g3eca76c1784_0_1289"/>
            <p:cNvGrpSpPr/>
            <p:nvPr/>
          </p:nvGrpSpPr>
          <p:grpSpPr>
            <a:xfrm>
              <a:off x="4762500" y="1381125"/>
              <a:ext cx="3619500" cy="2571900"/>
              <a:chOff x="4762500" y="1381125"/>
              <a:chExt cx="3619500" cy="2571900"/>
            </a:xfrm>
          </p:grpSpPr>
          <p:sp>
            <p:nvSpPr>
              <p:cNvPr id="139" name="Google Shape;139;g3eca76c1784_0_1289"/>
              <p:cNvSpPr/>
              <p:nvPr/>
            </p:nvSpPr>
            <p:spPr>
              <a:xfrm>
                <a:off x="4762500" y="1381125"/>
                <a:ext cx="3619500" cy="2571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g3eca76c1784_0_1289"/>
              <p:cNvSpPr txBox="1"/>
              <p:nvPr/>
            </p:nvSpPr>
            <p:spPr>
              <a:xfrm>
                <a:off x="4762500" y="1381125"/>
                <a:ext cx="3619500" cy="2571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ja" sz="1400" b="1" dirty="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後半：Stream APIを使う場面を考える</a:t>
                </a:r>
                <a:endParaRPr sz="1400" b="1" dirty="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lvl="0" indent="0" algn="l" rtl="0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ja" sz="1400" b="1" dirty="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04</a:t>
                </a:r>
                <a:r>
                  <a:rPr lang="ja" sz="1400" dirty="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どこで使えばよいか</a:t>
                </a:r>
                <a:endParaRPr sz="1400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ja" sz="1400" b="1" dirty="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05</a:t>
                </a:r>
                <a:r>
                  <a:rPr lang="ja" sz="1400" dirty="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利点・欠点</a:t>
                </a:r>
                <a:endParaRPr sz="1400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  <a:p>
                <a:pPr marL="0" lvl="0" indent="0" algn="l" rtl="0">
                  <a:spcBef>
                    <a:spcPts val="1125"/>
                  </a:spcBef>
                  <a:spcAft>
                    <a:spcPts val="1125"/>
                  </a:spcAft>
                  <a:buNone/>
                </a:pPr>
                <a:r>
                  <a:rPr lang="ja" sz="1400" b="1" dirty="0">
                    <a:solidFill>
                      <a:srgbClr val="F0830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06</a:t>
                </a:r>
                <a:r>
                  <a:rPr lang="ja" sz="1400" dirty="0">
                    <a:solidFill>
                      <a:srgbClr val="404040"/>
                    </a:solidFill>
                    <a:latin typeface="Noto Sans JP"/>
                    <a:ea typeface="Noto Sans JP"/>
                    <a:cs typeface="Noto Sans JP"/>
                    <a:sym typeface="Noto Sans JP"/>
                  </a:rPr>
                  <a:t>まとめ</a:t>
                </a:r>
                <a:endParaRPr sz="1400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endParaRPr>
              </a:p>
            </p:txBody>
          </p:sp>
        </p:grpSp>
      </p:grpSp>
      <p:sp>
        <p:nvSpPr>
          <p:cNvPr id="141" name="Google Shape;141;g3eca76c1784_0_1289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eca76c1784_0_1289"/>
          <p:cNvSpPr txBox="1"/>
          <p:nvPr/>
        </p:nvSpPr>
        <p:spPr>
          <a:xfrm>
            <a:off x="726757" y="31813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目次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43" name="Google Shape;143;g3eca76c1784_0_1289"/>
          <p:cNvPicPr preferRelativeResize="0"/>
          <p:nvPr/>
        </p:nvPicPr>
        <p:blipFill rotWithShape="1">
          <a:blip r:embed="rId3">
            <a:alphaModFix/>
          </a:blip>
          <a:srcRect t="30" b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eca76c1784_0_1289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g3eca76c1784_0_1289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9FCAE5E9-2963-1105-BAD5-0E45BBA8D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ca76c1784_0_1289">
            <a:extLst>
              <a:ext uri="{FF2B5EF4-FFF2-40B4-BE49-F238E27FC236}">
                <a16:creationId xmlns:a16="http://schemas.microsoft.com/office/drawing/2014/main" id="{1E298617-1021-5C2C-B276-A1522D685E32}"/>
              </a:ext>
            </a:extLst>
          </p:cNvPr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eca76c1784_0_1289">
            <a:extLst>
              <a:ext uri="{FF2B5EF4-FFF2-40B4-BE49-F238E27FC236}">
                <a16:creationId xmlns:a16="http://schemas.microsoft.com/office/drawing/2014/main" id="{69E023CE-8CA2-75A5-4A06-646D54F1E20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0" b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eca76c1784_0_1289">
            <a:extLst>
              <a:ext uri="{FF2B5EF4-FFF2-40B4-BE49-F238E27FC236}">
                <a16:creationId xmlns:a16="http://schemas.microsoft.com/office/drawing/2014/main" id="{DCE82F3B-C415-67BE-DDDF-A5E76CC5EE9C}"/>
              </a:ext>
            </a:extLst>
          </p:cNvPr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5" name="Google Shape;145;g3eca76c1784_0_1289">
            <a:extLst>
              <a:ext uri="{FF2B5EF4-FFF2-40B4-BE49-F238E27FC236}">
                <a16:creationId xmlns:a16="http://schemas.microsoft.com/office/drawing/2014/main" id="{7CCC9ACE-9069-7723-02DC-1B2C613E2D6E}"/>
              </a:ext>
            </a:extLst>
          </p:cNvPr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3C9E23-A774-3FDD-1C9C-9D4A2C8C896F}"/>
              </a:ext>
            </a:extLst>
          </p:cNvPr>
          <p:cNvSpPr txBox="1"/>
          <p:nvPr/>
        </p:nvSpPr>
        <p:spPr>
          <a:xfrm>
            <a:off x="354650" y="1110441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dirty="0"/>
              <a:t>みなさんは研修で、配列や拡張for文について学んだと思います。</a:t>
            </a:r>
          </a:p>
          <a:p>
            <a:pPr>
              <a:buNone/>
            </a:pPr>
            <a:r>
              <a:rPr lang="ja-JP" altLang="ja-JP" dirty="0"/>
              <a:t>拡張for文を使うと、配列やListの中身を1つずつ取り出して処理できます。</a:t>
            </a:r>
          </a:p>
          <a:p>
            <a:pPr>
              <a:buNone/>
            </a:pPr>
            <a:r>
              <a:rPr lang="ja-JP" altLang="ja-JP" dirty="0"/>
              <a:t>たとえば、配列の中から条件に合うものだけを取り出したり、取り出した値を変換したりする処理です。</a:t>
            </a:r>
          </a:p>
          <a:p>
            <a:pPr>
              <a:buNone/>
            </a:pPr>
            <a:r>
              <a:rPr lang="ja-JP" altLang="ja-JP" dirty="0"/>
              <a:t>今回紹介するStream APIは、そういった </a:t>
            </a:r>
            <a:r>
              <a:rPr lang="ja-JP" altLang="ja-JP" b="1" dirty="0"/>
              <a:t>配列やListに対する処理を、別の書き方で表現できる仕組み</a:t>
            </a:r>
            <a:r>
              <a:rPr lang="ja-JP" altLang="ja-JP" dirty="0"/>
              <a:t> です。</a:t>
            </a:r>
          </a:p>
          <a:p>
            <a:pPr>
              <a:buNone/>
            </a:pPr>
            <a:r>
              <a:rPr lang="ja-JP" altLang="ja-JP" dirty="0"/>
              <a:t>まずは、研修で学んだ拡張for文で書いた場合を見て、そのあと同じ処理をStream APIで書くとどうなるかを見ていきます。</a:t>
            </a:r>
          </a:p>
        </p:txBody>
      </p:sp>
    </p:spTree>
    <p:extLst>
      <p:ext uri="{BB962C8B-B14F-4D97-AF65-F5344CB8AC3E}">
        <p14:creationId xmlns:p14="http://schemas.microsoft.com/office/powerpoint/2010/main" val="2540793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ca76c1784_0_8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g3eca76c1784_0_87"/>
          <p:cNvPicPr preferRelativeResize="0"/>
          <p:nvPr/>
        </p:nvPicPr>
        <p:blipFill rotWithShape="1">
          <a:blip r:embed="rId3">
            <a:alphaModFix/>
          </a:blip>
          <a:srcRect t="199" b="199"/>
          <a:stretch/>
        </p:blipFill>
        <p:spPr>
          <a:xfrm>
            <a:off x="8480965" y="302419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eca76c1784_0_87"/>
          <p:cNvSpPr/>
          <p:nvPr/>
        </p:nvSpPr>
        <p:spPr>
          <a:xfrm>
            <a:off x="448627" y="367379"/>
            <a:ext cx="918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eca76c1784_0_87"/>
          <p:cNvSpPr txBox="1"/>
          <p:nvPr/>
        </p:nvSpPr>
        <p:spPr>
          <a:xfrm>
            <a:off x="630717" y="317729"/>
            <a:ext cx="7103100" cy="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ja-JP" altLang="ja-JP" sz="2400" dirty="0"/>
              <a:t>研修で学んだ拡張for文</a:t>
            </a:r>
            <a:endParaRPr sz="2200" b="1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4" name="Google Shape;154;g3eca76c1784_0_87"/>
          <p:cNvSpPr/>
          <p:nvPr/>
        </p:nvSpPr>
        <p:spPr>
          <a:xfrm>
            <a:off x="526542" y="1047750"/>
            <a:ext cx="8091000" cy="2857500"/>
          </a:xfrm>
          <a:prstGeom prst="roundRect">
            <a:avLst>
              <a:gd name="adj" fmla="val 2666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eca76c1784_0_87"/>
          <p:cNvSpPr txBox="1"/>
          <p:nvPr/>
        </p:nvSpPr>
        <p:spPr>
          <a:xfrm>
            <a:off x="714375" y="1238250"/>
            <a:ext cx="77154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1. 配列を定義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spcBef>
                <a:spcPts val="300"/>
              </a:spcBef>
              <a:buSzPts val="853"/>
            </a:pPr>
            <a:r>
              <a:rPr lang="ja" sz="853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lang="ja" sz="853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fruits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= {</a:t>
            </a:r>
            <a:r>
              <a:rPr lang="ja" sz="853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853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853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853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ja-JP" altLang="ja-JP" sz="900" dirty="0"/>
              <a:t> </a:t>
            </a:r>
            <a:r>
              <a:rPr lang="ja-JP" altLang="ja-JP" sz="900" dirty="0">
                <a:solidFill>
                  <a:srgbClr val="92D050"/>
                </a:solidFill>
              </a:rPr>
              <a:t>fig</a:t>
            </a:r>
            <a:r>
              <a:rPr lang="ja-JP" altLang="ja-JP" sz="900" dirty="0"/>
              <a:t> </a:t>
            </a:r>
            <a:r>
              <a:rPr lang="ja" sz="853" b="0" i="0" u="none" strike="noStrike" cap="none" dirty="0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2. 結果を格納するリスト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ja" sz="853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ja" sz="853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ja" sz="853" b="0" i="0" u="none" strike="noStrike" cap="none" dirty="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ja" sz="853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&lt;&gt;();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3. 配列を1つずつ取り出して処理する</a:t>
            </a:r>
            <a:endParaRPr sz="853" b="0" i="1" u="none" strike="noStrike" cap="none" dirty="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0" u="none" strike="noStrike" cap="none" dirty="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ja" sz="853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ja" sz="853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ja" sz="853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fruits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905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4. 文字列の長さが 4文字以上であるかを判定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905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0" u="none" strike="noStrike" cap="none" dirty="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ja" sz="853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ja" sz="853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length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 &gt;= </a:t>
            </a:r>
            <a:r>
              <a:rPr lang="ja" sz="853" b="0" i="0" u="none" strike="noStrike" cap="none" dirty="0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810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5. 条件を満たした場合、文字列をすべて大文字に変換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810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ja" sz="853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upperCaseString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ja" sz="853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ja" sz="853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toUpperCase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810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1" u="none" strike="noStrike" cap="none" dirty="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6. 大文字に変換した文字列を結果のリストに追加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810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ja" sz="853" b="0" i="0" u="none" strike="noStrike" cap="none" dirty="0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ja" sz="853" b="0" i="0" u="none" strike="noStrike" cap="non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upperCaseString</a:t>
            </a: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905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lang="ja" sz="853" b="0" i="0" u="none" strike="noStrike" cap="non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53" b="0" i="0" u="none" strike="noStrike" cap="non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56" name="Google Shape;156;g3eca76c1784_0_87"/>
          <p:cNvGrpSpPr/>
          <p:nvPr/>
        </p:nvGrpSpPr>
        <p:grpSpPr>
          <a:xfrm>
            <a:off x="4895463" y="4484307"/>
            <a:ext cx="3103252" cy="847458"/>
            <a:chOff x="526542" y="4095750"/>
            <a:chExt cx="8091000" cy="847458"/>
          </a:xfrm>
        </p:grpSpPr>
        <p:sp>
          <p:nvSpPr>
            <p:cNvPr id="157" name="Google Shape;157;g3eca76c1784_0_87"/>
            <p:cNvSpPr/>
            <p:nvPr/>
          </p:nvSpPr>
          <p:spPr>
            <a:xfrm>
              <a:off x="526542" y="4095750"/>
              <a:ext cx="8091000" cy="571500"/>
            </a:xfrm>
            <a:prstGeom prst="roundRect">
              <a:avLst>
                <a:gd name="adj" fmla="val 6666"/>
              </a:avLst>
            </a:prstGeom>
            <a:solidFill>
              <a:srgbClr val="FFF3E0"/>
            </a:solidFill>
            <a:ln w="9525" cap="flat" cmpd="sng">
              <a:solidFill>
                <a:srgbClr val="F0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eca76c1784_0_87"/>
            <p:cNvSpPr txBox="1"/>
            <p:nvPr/>
          </p:nvSpPr>
          <p:spPr>
            <a:xfrm>
              <a:off x="1519816" y="4371708"/>
              <a:ext cx="6407064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altLang="en-US" sz="1200" b="0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結果を格納するリストを作って</a:t>
              </a:r>
              <a:endParaRPr lang="en-US" altLang="ja-JP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altLang="en-US" sz="1200" b="0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配列を一つずつ取り出して</a:t>
              </a:r>
              <a:endParaRPr lang="en-US" altLang="ja-JP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altLang="ja-JP" sz="1200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…</a:t>
              </a:r>
              <a:endParaRPr lang="en-US" altLang="ja-JP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lang="en-US" altLang="ja-JP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159" name="Google Shape;159;g3eca76c1784_0_87"/>
          <p:cNvSpPr txBox="1"/>
          <p:nvPr/>
        </p:nvSpPr>
        <p:spPr>
          <a:xfrm>
            <a:off x="7829550" y="4914900"/>
            <a:ext cx="604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2026/06/02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62124C-7A11-4679-D17F-A802B817326D}"/>
              </a:ext>
            </a:extLst>
          </p:cNvPr>
          <p:cNvSpPr txBox="1"/>
          <p:nvPr/>
        </p:nvSpPr>
        <p:spPr>
          <a:xfrm>
            <a:off x="540427" y="696626"/>
            <a:ext cx="5805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/>
              <a:t>4文字以上の果物名を大文字にして、リストにまとめる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1E3E90-1E9F-A789-66A7-E6194208C9AE}"/>
              </a:ext>
            </a:extLst>
          </p:cNvPr>
          <p:cNvSpPr txBox="1"/>
          <p:nvPr/>
        </p:nvSpPr>
        <p:spPr>
          <a:xfrm>
            <a:off x="49385" y="402806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dirty="0"/>
              <a:t>何をする処理か</a:t>
            </a:r>
            <a:endParaRPr lang="ja-JP" altLang="ja-JP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75C6F2F-31C0-9D33-9A88-76AE79A25163}"/>
              </a:ext>
            </a:extLst>
          </p:cNvPr>
          <p:cNvSpPr txBox="1"/>
          <p:nvPr/>
        </p:nvSpPr>
        <p:spPr>
          <a:xfrm>
            <a:off x="4182267" y="402806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dirty="0"/>
              <a:t>どうやるか</a:t>
            </a:r>
            <a:endParaRPr lang="ja-JP" altLang="ja-JP" dirty="0"/>
          </a:p>
        </p:txBody>
      </p:sp>
      <p:grpSp>
        <p:nvGrpSpPr>
          <p:cNvPr id="7" name="Google Shape;156;g3eca76c1784_0_87">
            <a:extLst>
              <a:ext uri="{FF2B5EF4-FFF2-40B4-BE49-F238E27FC236}">
                <a16:creationId xmlns:a16="http://schemas.microsoft.com/office/drawing/2014/main" id="{094CF550-710C-AD9C-8482-DDC716A0EDC2}"/>
              </a:ext>
            </a:extLst>
          </p:cNvPr>
          <p:cNvGrpSpPr/>
          <p:nvPr/>
        </p:nvGrpSpPr>
        <p:grpSpPr>
          <a:xfrm>
            <a:off x="783759" y="4436987"/>
            <a:ext cx="3103252" cy="571500"/>
            <a:chOff x="526542" y="4095750"/>
            <a:chExt cx="8091000" cy="571500"/>
          </a:xfrm>
        </p:grpSpPr>
        <p:sp>
          <p:nvSpPr>
            <p:cNvPr id="8" name="Google Shape;157;g3eca76c1784_0_87">
              <a:extLst>
                <a:ext uri="{FF2B5EF4-FFF2-40B4-BE49-F238E27FC236}">
                  <a16:creationId xmlns:a16="http://schemas.microsoft.com/office/drawing/2014/main" id="{910D6A90-E18D-C18C-6677-F72677BE4565}"/>
                </a:ext>
              </a:extLst>
            </p:cNvPr>
            <p:cNvSpPr/>
            <p:nvPr/>
          </p:nvSpPr>
          <p:spPr>
            <a:xfrm>
              <a:off x="526542" y="4095750"/>
              <a:ext cx="8091000" cy="571500"/>
            </a:xfrm>
            <a:prstGeom prst="roundRect">
              <a:avLst>
                <a:gd name="adj" fmla="val 6666"/>
              </a:avLst>
            </a:prstGeom>
            <a:solidFill>
              <a:srgbClr val="FFF3E0"/>
            </a:solidFill>
            <a:ln w="9525" cap="flat" cmpd="sng">
              <a:solidFill>
                <a:srgbClr val="F0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58;g3eca76c1784_0_87">
              <a:extLst>
                <a:ext uri="{FF2B5EF4-FFF2-40B4-BE49-F238E27FC236}">
                  <a16:creationId xmlns:a16="http://schemas.microsoft.com/office/drawing/2014/main" id="{DC63EF17-A3DE-6326-D571-6769BE9828C5}"/>
                </a:ext>
              </a:extLst>
            </p:cNvPr>
            <p:cNvSpPr txBox="1"/>
            <p:nvPr/>
          </p:nvSpPr>
          <p:spPr>
            <a:xfrm>
              <a:off x="2098450" y="4095750"/>
              <a:ext cx="5109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" sz="1200" b="0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文字列の長さが４文字以上　→　大文字に変換　→　結果をリストに追加</a:t>
              </a:r>
              <a:endParaRPr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ca76c1784_0_100"/>
          <p:cNvSpPr/>
          <p:nvPr/>
        </p:nvSpPr>
        <p:spPr>
          <a:xfrm>
            <a:off x="-75" y="-2857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3eca76c1784_0_100"/>
          <p:cNvPicPr preferRelativeResize="0"/>
          <p:nvPr/>
        </p:nvPicPr>
        <p:blipFill rotWithShape="1">
          <a:blip r:embed="rId3">
            <a:alphaModFix/>
          </a:blip>
          <a:srcRect t="150" b="14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eca76c1784_0_100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eca76c1784_0_100"/>
          <p:cNvSpPr txBox="1"/>
          <p:nvPr/>
        </p:nvSpPr>
        <p:spPr>
          <a:xfrm>
            <a:off x="644307" y="317560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同じ処理をStream APIで書くと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8" name="Google Shape;168;g3eca76c1784_0_100"/>
          <p:cNvSpPr/>
          <p:nvPr/>
        </p:nvSpPr>
        <p:spPr>
          <a:xfrm>
            <a:off x="526725" y="1160850"/>
            <a:ext cx="8090400" cy="1619400"/>
          </a:xfrm>
          <a:prstGeom prst="roundRect">
            <a:avLst>
              <a:gd name="adj" fmla="val 3478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eca76c1784_0_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050" y="2976525"/>
            <a:ext cx="2859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eca76c1784_0_100"/>
          <p:cNvSpPr/>
          <p:nvPr/>
        </p:nvSpPr>
        <p:spPr>
          <a:xfrm>
            <a:off x="526732" y="3857625"/>
            <a:ext cx="8090400" cy="95250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9525" cap="flat" cmpd="sng">
            <a:solidFill>
              <a:srgbClr val="F08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eca76c1784_0_100"/>
          <p:cNvSpPr txBox="1"/>
          <p:nvPr/>
        </p:nvSpPr>
        <p:spPr>
          <a:xfrm>
            <a:off x="7831455" y="492442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2026/06/02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2" name="Google Shape;172;g3eca76c1784_0_100"/>
          <p:cNvSpPr txBox="1"/>
          <p:nvPr/>
        </p:nvSpPr>
        <p:spPr>
          <a:xfrm>
            <a:off x="762000" y="1398975"/>
            <a:ext cx="7620000" cy="13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95250" rIns="95250" bIns="95250" anchor="t" anchorCtr="0">
            <a:noAutofit/>
          </a:bodyPr>
          <a:lstStyle/>
          <a:p>
            <a:pPr marL="2381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[] fruits = {</a:t>
            </a:r>
            <a:r>
              <a:rPr lang="ja" sz="1300" b="0" i="0" u="none" strike="noStrike" cap="non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1300" b="0" i="0" u="none" strike="noStrike" cap="non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1300" b="0" i="0" u="none" strike="noStrike" cap="non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ja" sz="1300" b="0" i="0" u="none" strike="noStrike" cap="non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"date"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300" b="0" i="0" u="none" strike="noStrike" cap="none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381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ja" sz="1300" b="0" i="0" u="none" strike="noStrike" cap="non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&gt; result = </a:t>
            </a:r>
            <a:r>
              <a:rPr lang="ja" sz="1300" b="0" i="0" u="none" strike="noStrike" cap="non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Arrays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.stream(fruits)</a:t>
            </a:r>
            <a:endParaRPr sz="1300" b="0" i="0" u="none" strike="noStrike" cap="none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381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.filter(s -&gt; s.length() &gt;= </a:t>
            </a:r>
            <a:r>
              <a:rPr lang="ja" sz="1300" b="0" i="0" u="none" strike="noStrike" cap="non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ja" sz="13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4文字以上で絞り込む</a:t>
            </a:r>
            <a:endParaRPr sz="1300" b="0" i="0" u="none" strike="noStrike" cap="none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381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.map(</a:t>
            </a:r>
            <a:r>
              <a:rPr lang="ja" sz="1300" b="0" i="0" u="none" strike="noStrike" cap="non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::toUpperCase) </a:t>
            </a:r>
            <a:r>
              <a:rPr lang="ja" sz="13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大文字に変換する</a:t>
            </a:r>
            <a:endParaRPr sz="1300" b="0" i="0" u="none" strike="noStrike" cap="none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2381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.collect(</a:t>
            </a:r>
            <a:r>
              <a:rPr lang="ja" sz="1300" b="0" i="0" u="none" strike="noStrike" cap="non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Collectors</a:t>
            </a:r>
            <a:r>
              <a:rPr lang="ja" sz="1300" b="0" i="0" u="none" strike="noStrike" cap="non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.toList()); </a:t>
            </a:r>
            <a:r>
              <a:rPr lang="ja" sz="1300" b="0" i="0" u="none" strike="noStrike" cap="non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リストに格納する</a:t>
            </a:r>
            <a:endParaRPr sz="1300" b="0" i="0" u="none" strike="noStrike" cap="none">
              <a:solidFill>
                <a:srgbClr val="569CD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" name="Google Shape;173;g3eca76c1784_0_100"/>
          <p:cNvSpPr txBox="1"/>
          <p:nvPr/>
        </p:nvSpPr>
        <p:spPr>
          <a:xfrm>
            <a:off x="1584675" y="4097879"/>
            <a:ext cx="5974500" cy="51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-JP" altLang="en-US" sz="18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何をする処理か？にフォーカスして記述できる</a:t>
            </a:r>
            <a:endParaRPr sz="1800" b="1" i="0" u="none" strike="noStrike" cap="none" dirty="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ca76c1784_0_113"/>
          <p:cNvSpPr/>
          <p:nvPr/>
        </p:nvSpPr>
        <p:spPr>
          <a:xfrm>
            <a:off x="0" y="-2857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eca76c1784_0_113"/>
          <p:cNvPicPr preferRelativeResize="0"/>
          <p:nvPr/>
        </p:nvPicPr>
        <p:blipFill rotWithShape="1">
          <a:blip r:embed="rId3">
            <a:alphaModFix/>
          </a:blip>
          <a:srcRect t="150" b="14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eca76c1784_0_11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eca76c1784_0_113"/>
          <p:cNvSpPr txBox="1"/>
          <p:nvPr/>
        </p:nvSpPr>
        <p:spPr>
          <a:xfrm>
            <a:off x="728657" y="318185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APIとは何か？</a:t>
            </a:r>
            <a:endParaRPr sz="2200" b="1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2" name="Google Shape;182;g3eca76c1784_0_113"/>
          <p:cNvSpPr txBox="1"/>
          <p:nvPr/>
        </p:nvSpPr>
        <p:spPr>
          <a:xfrm>
            <a:off x="526798" y="1143000"/>
            <a:ext cx="8313361" cy="2857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190500" tIns="190500" rIns="190500" bIns="190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配列や</a:t>
            </a:r>
            <a:r>
              <a:rPr lang="en-US" altLang="ja-JP" sz="18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List</a:t>
            </a:r>
            <a:r>
              <a:rPr lang="ja-JP" altLang="en-US" sz="1800" b="1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などのデータのループ処理に対して、何をする処理？を段階的に書ける仕組み</a:t>
            </a:r>
            <a:endParaRPr sz="1800" b="1" dirty="0">
              <a:solidFill>
                <a:srgbClr val="FFFFFF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83" name="Google Shape;183;g3eca76c1784_0_113"/>
          <p:cNvSpPr txBox="1"/>
          <p:nvPr/>
        </p:nvSpPr>
        <p:spPr>
          <a:xfrm>
            <a:off x="7831455" y="4924425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2026/06/02</a:t>
            </a:r>
            <a:endParaRPr sz="600" b="0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3" name="Google Shape;156;g3eca76c1784_0_87">
            <a:extLst>
              <a:ext uri="{FF2B5EF4-FFF2-40B4-BE49-F238E27FC236}">
                <a16:creationId xmlns:a16="http://schemas.microsoft.com/office/drawing/2014/main" id="{6C6547E9-3D1F-830B-F4D5-A7264D251F18}"/>
              </a:ext>
            </a:extLst>
          </p:cNvPr>
          <p:cNvGrpSpPr/>
          <p:nvPr/>
        </p:nvGrpSpPr>
        <p:grpSpPr>
          <a:xfrm>
            <a:off x="448627" y="3853957"/>
            <a:ext cx="8091000" cy="971358"/>
            <a:chOff x="526542" y="3695892"/>
            <a:chExt cx="8091000" cy="971358"/>
          </a:xfrm>
        </p:grpSpPr>
        <p:sp>
          <p:nvSpPr>
            <p:cNvPr id="4" name="Google Shape;157;g3eca76c1784_0_87">
              <a:extLst>
                <a:ext uri="{FF2B5EF4-FFF2-40B4-BE49-F238E27FC236}">
                  <a16:creationId xmlns:a16="http://schemas.microsoft.com/office/drawing/2014/main" id="{90D4A435-93C5-3DC2-79AC-2463EB28F962}"/>
                </a:ext>
              </a:extLst>
            </p:cNvPr>
            <p:cNvSpPr/>
            <p:nvPr/>
          </p:nvSpPr>
          <p:spPr>
            <a:xfrm>
              <a:off x="526542" y="4095750"/>
              <a:ext cx="8091000" cy="571500"/>
            </a:xfrm>
            <a:prstGeom prst="roundRect">
              <a:avLst>
                <a:gd name="adj" fmla="val 6666"/>
              </a:avLst>
            </a:prstGeom>
            <a:solidFill>
              <a:srgbClr val="FFF3E0"/>
            </a:solidFill>
            <a:ln w="9525" cap="flat" cmpd="sng">
              <a:solidFill>
                <a:srgbClr val="F0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58;g3eca76c1784_0_87">
              <a:extLst>
                <a:ext uri="{FF2B5EF4-FFF2-40B4-BE49-F238E27FC236}">
                  <a16:creationId xmlns:a16="http://schemas.microsoft.com/office/drawing/2014/main" id="{3FC3379D-D6C3-07C7-AF90-B18B327A1AA0}"/>
                </a:ext>
              </a:extLst>
            </p:cNvPr>
            <p:cNvSpPr txBox="1"/>
            <p:nvPr/>
          </p:nvSpPr>
          <p:spPr>
            <a:xfrm>
              <a:off x="2098450" y="4095750"/>
              <a:ext cx="51099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" sz="1200" b="0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文字列の長さが４文字以上　→　大文字に変換　→　結果をリストに追加</a:t>
              </a:r>
              <a:endParaRPr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6" name="Google Shape;158;g3eca76c1784_0_87">
              <a:extLst>
                <a:ext uri="{FF2B5EF4-FFF2-40B4-BE49-F238E27FC236}">
                  <a16:creationId xmlns:a16="http://schemas.microsoft.com/office/drawing/2014/main" id="{667B6923-80B0-39CB-018B-CA8A0431633D}"/>
                </a:ext>
              </a:extLst>
            </p:cNvPr>
            <p:cNvSpPr txBox="1"/>
            <p:nvPr/>
          </p:nvSpPr>
          <p:spPr>
            <a:xfrm>
              <a:off x="4256807" y="3695892"/>
              <a:ext cx="1006101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altLang="en-US" sz="1200" b="0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段階的とは？</a:t>
              </a:r>
              <a:endParaRPr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ca76c1784_0_1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g3eca76c1784_0_123"/>
          <p:cNvPicPr preferRelativeResize="0"/>
          <p:nvPr/>
        </p:nvPicPr>
        <p:blipFill rotWithShape="1">
          <a:blip r:embed="rId3">
            <a:alphaModFix/>
          </a:blip>
          <a:srcRect t="150" b="14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eca76c1784_0_12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eca76c1784_0_123"/>
          <p:cNvSpPr txBox="1"/>
          <p:nvPr/>
        </p:nvSpPr>
        <p:spPr>
          <a:xfrm>
            <a:off x="571507" y="318185"/>
            <a:ext cx="7102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APIの主な特徴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96" name="Google Shape;196;g3eca76c1784_0_123"/>
          <p:cNvSpPr/>
          <p:nvPr/>
        </p:nvSpPr>
        <p:spPr>
          <a:xfrm>
            <a:off x="523875" y="952500"/>
            <a:ext cx="80904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eca76c1784_0_123"/>
          <p:cNvSpPr txBox="1"/>
          <p:nvPr/>
        </p:nvSpPr>
        <p:spPr>
          <a:xfrm>
            <a:off x="425737" y="1311333"/>
            <a:ext cx="5286375" cy="638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ja-JP" altLang="ja-JP" dirty="0"/>
              <a:t>絞り込む → 変換する → まとめる</a:t>
            </a:r>
            <a:r>
              <a:rPr lang="ja-JP" altLang="en-US" dirty="0"/>
              <a:t>という型があるので、この型を理解したら直感的に何の処理が来るかわかる</a:t>
            </a:r>
            <a:endParaRPr sz="1400" b="0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01" name="Google Shape;201;g3eca76c1784_0_123"/>
          <p:cNvSpPr txBox="1"/>
          <p:nvPr/>
        </p:nvSpPr>
        <p:spPr>
          <a:xfrm>
            <a:off x="7829550" y="4914900"/>
            <a:ext cx="6039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2026/06/02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02" name="Google Shape;202;g3eca76c1784_0_123"/>
          <p:cNvGrpSpPr/>
          <p:nvPr/>
        </p:nvGrpSpPr>
        <p:grpSpPr>
          <a:xfrm>
            <a:off x="2592675" y="3363648"/>
            <a:ext cx="3952800" cy="1428900"/>
            <a:chOff x="4667250" y="1476375"/>
            <a:chExt cx="3952800" cy="1428900"/>
          </a:xfrm>
        </p:grpSpPr>
        <p:sp>
          <p:nvSpPr>
            <p:cNvPr id="203" name="Google Shape;203;g3eca76c1784_0_123"/>
            <p:cNvSpPr/>
            <p:nvPr/>
          </p:nvSpPr>
          <p:spPr>
            <a:xfrm>
              <a:off x="4667250" y="1476375"/>
              <a:ext cx="3952800" cy="1428900"/>
            </a:xfrm>
            <a:prstGeom prst="roundRect">
              <a:avLst>
                <a:gd name="adj" fmla="val 5333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4" name="Google Shape;204;g3eca76c1784_0_1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953000" y="1838325"/>
              <a:ext cx="3571800" cy="1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g3eca76c1784_0_123"/>
            <p:cNvSpPr/>
            <p:nvPr/>
          </p:nvSpPr>
          <p:spPr>
            <a:xfrm>
              <a:off x="5381625" y="1762125"/>
              <a:ext cx="285900" cy="285900"/>
            </a:xfrm>
            <a:prstGeom prst="ellipse">
              <a:avLst/>
            </a:prstGeom>
            <a:solidFill>
              <a:srgbClr val="F08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g3eca76c1784_0_123"/>
            <p:cNvSpPr/>
            <p:nvPr/>
          </p:nvSpPr>
          <p:spPr>
            <a:xfrm>
              <a:off x="6524625" y="1762125"/>
              <a:ext cx="285900" cy="285900"/>
            </a:xfrm>
            <a:prstGeom prst="ellipse">
              <a:avLst/>
            </a:prstGeom>
            <a:solidFill>
              <a:srgbClr val="F08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g3eca76c1784_0_123"/>
            <p:cNvSpPr/>
            <p:nvPr/>
          </p:nvSpPr>
          <p:spPr>
            <a:xfrm>
              <a:off x="7667625" y="1762125"/>
              <a:ext cx="285900" cy="285900"/>
            </a:xfrm>
            <a:prstGeom prst="ellipse">
              <a:avLst/>
            </a:prstGeom>
            <a:solidFill>
              <a:srgbClr val="F08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g3eca76c1784_0_123"/>
            <p:cNvSpPr txBox="1"/>
            <p:nvPr/>
          </p:nvSpPr>
          <p:spPr>
            <a:xfrm>
              <a:off x="5143500" y="2143125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000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取得</a:t>
              </a:r>
              <a:endParaRPr sz="1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09" name="Google Shape;209;g3eca76c1784_0_123"/>
            <p:cNvSpPr txBox="1"/>
            <p:nvPr/>
          </p:nvSpPr>
          <p:spPr>
            <a:xfrm>
              <a:off x="6286500" y="2143125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000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処理</a:t>
              </a:r>
              <a:endParaRPr sz="1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10" name="Google Shape;210;g3eca76c1784_0_123"/>
            <p:cNvSpPr txBox="1"/>
            <p:nvPr/>
          </p:nvSpPr>
          <p:spPr>
            <a:xfrm>
              <a:off x="7429500" y="2143125"/>
              <a:ext cx="76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" sz="1000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終端</a:t>
              </a:r>
              <a:endParaRPr sz="1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4A86731-F9EB-DB66-CC31-FA4BBA58C11F}"/>
              </a:ext>
            </a:extLst>
          </p:cNvPr>
          <p:cNvSpPr txBox="1"/>
          <p:nvPr/>
        </p:nvSpPr>
        <p:spPr>
          <a:xfrm>
            <a:off x="163950" y="83111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b="1" dirty="0"/>
              <a:t>「何をするか」に集中しやすい宣言的な記述</a:t>
            </a:r>
            <a:r>
              <a:rPr lang="ja-JP" altLang="ja-JP" dirty="0"/>
              <a:t>ができる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CDE10F-F6E3-F83A-4188-1125C6AAB598}"/>
              </a:ext>
            </a:extLst>
          </p:cNvPr>
          <p:cNvSpPr txBox="1"/>
          <p:nvPr/>
        </p:nvSpPr>
        <p:spPr>
          <a:xfrm>
            <a:off x="401924" y="1894388"/>
            <a:ext cx="54770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dirty="0"/>
              <a:t>コンピュータに対して細かい手順を1つずつ命令するというより、</a:t>
            </a:r>
          </a:p>
          <a:p>
            <a:pPr>
              <a:buNone/>
            </a:pPr>
            <a:r>
              <a:rPr lang="ja-JP" altLang="ja-JP" dirty="0"/>
              <a:t>「このデータに対して何をしたいのか」を中心に書く、という意味です。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219" name="Google Shape;219;p7"/>
            <p:cNvPicPr preferRelativeResize="0"/>
            <p:nvPr/>
          </p:nvPicPr>
          <p:blipFill rotWithShape="1">
            <a:blip r:embed="rId3">
              <a:alphaModFix/>
            </a:blip>
            <a:srcRect t="150" b="140"/>
            <a:stretch/>
          </p:blipFill>
          <p:spPr>
            <a:xfrm>
              <a:off x="8481060" y="301943"/>
              <a:ext cx="359100" cy="41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7"/>
            <p:cNvSpPr/>
            <p:nvPr/>
          </p:nvSpPr>
          <p:spPr>
            <a:xfrm>
              <a:off x="448627" y="367665"/>
              <a:ext cx="91500" cy="285900"/>
            </a:xfrm>
            <a:prstGeom prst="rect">
              <a:avLst/>
            </a:prstGeom>
            <a:solidFill>
              <a:srgbClr val="F083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800"/>
                <a:buFont typeface="Arial"/>
                <a:buNone/>
              </a:pPr>
              <a:r>
                <a:rPr lang="ja" sz="4800" b="1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Stream APIの書き方</a:t>
              </a:r>
              <a:endParaRPr sz="48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22" name="Google Shape;222;p7"/>
            <p:cNvSpPr txBox="1"/>
            <p:nvPr/>
          </p:nvSpPr>
          <p:spPr>
            <a:xfrm>
              <a:off x="7829550" y="49244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ja" sz="600" b="1" i="0" u="none" strike="noStrike" cap="none">
                  <a:solidFill>
                    <a:srgbClr val="404040"/>
                  </a:solidFill>
                  <a:latin typeface="Noto Sans"/>
                  <a:ea typeface="Noto Sans"/>
                  <a:cs typeface="Noto Sans"/>
                  <a:sym typeface="Noto Sans"/>
                </a:rPr>
                <a:t>2026/05/29</a:t>
              </a:r>
              <a:endParaRPr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8"/>
          <p:cNvPicPr preferRelativeResize="0"/>
          <p:nvPr/>
        </p:nvPicPr>
        <p:blipFill rotWithShape="1">
          <a:blip r:embed="rId3">
            <a:alphaModFix/>
          </a:blip>
          <a:srcRect t="150" b="14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-1432845" y="312382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SzPts val="4800"/>
            </a:pPr>
            <a:r>
              <a:rPr lang="en-US" altLang="ja" sz="2400" b="1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Stream API</a:t>
            </a:r>
            <a:r>
              <a:rPr lang="ja-JP" altLang="en-US" sz="2400" b="1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の書き方</a:t>
            </a:r>
          </a:p>
        </p:txBody>
      </p:sp>
      <p:sp>
        <p:nvSpPr>
          <p:cNvPr id="230" name="Google Shape;230;p8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232" name="Google Shape;232;p8"/>
          <p:cNvGrpSpPr/>
          <p:nvPr/>
        </p:nvGrpSpPr>
        <p:grpSpPr>
          <a:xfrm>
            <a:off x="571500" y="4524375"/>
            <a:ext cx="8001000" cy="381000"/>
            <a:chOff x="571500" y="4524375"/>
            <a:chExt cx="8001000" cy="381000"/>
          </a:xfrm>
        </p:grpSpPr>
        <p:sp>
          <p:nvSpPr>
            <p:cNvPr id="233" name="Google Shape;233;p8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E1F5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8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 dirty="0">
                  <a:solidFill>
                    <a:srgbClr val="4FC3F7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sz="1400" b="1" i="0" u="none" strike="noStrike" cap="none" dirty="0">
                <a:solidFill>
                  <a:srgbClr val="4FC3F7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8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81C784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sz="1400" b="1" i="0" u="none" strike="noStrike" cap="none">
                <a:solidFill>
                  <a:srgbClr val="81C784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FBE9E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8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FF8A6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sz="1400" b="1" i="0" u="none" strike="noStrike" cap="none">
                <a:solidFill>
                  <a:srgbClr val="FF8A6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239" name="Google Shape;239;p8"/>
          <p:cNvGrpSpPr/>
          <p:nvPr/>
        </p:nvGrpSpPr>
        <p:grpSpPr>
          <a:xfrm>
            <a:off x="494377" y="966362"/>
            <a:ext cx="8048625" cy="2473681"/>
            <a:chOff x="571500" y="952500"/>
            <a:chExt cx="8048625" cy="3429000"/>
          </a:xfrm>
        </p:grpSpPr>
        <p:sp>
          <p:nvSpPr>
            <p:cNvPr id="240" name="Google Shape;240;p8"/>
            <p:cNvSpPr/>
            <p:nvPr/>
          </p:nvSpPr>
          <p:spPr>
            <a:xfrm>
              <a:off x="571500" y="952500"/>
              <a:ext cx="8001000" cy="3429000"/>
            </a:xfrm>
            <a:prstGeom prst="roundRect">
              <a:avLst>
                <a:gd name="adj" fmla="val 2777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8"/>
            <p:cNvSpPr txBox="1"/>
            <p:nvPr/>
          </p:nvSpPr>
          <p:spPr>
            <a:xfrm>
              <a:off x="619125" y="1047739"/>
              <a:ext cx="8001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"cherry"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</a:t>
              </a:r>
              <a:r>
                <a:rPr lang="en-US" alt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fig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配列の宣言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① 生成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lang="ja" sz="1400" b="0" i="0" u="none" strike="noStrike" cap="none" dirty="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</a:t>
              </a: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::toUpperCase)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③ 終端操作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42" name="Google Shape;242;p8"/>
          <p:cNvSpPr txBox="1"/>
          <p:nvPr/>
        </p:nvSpPr>
        <p:spPr>
          <a:xfrm>
            <a:off x="959827" y="4053185"/>
            <a:ext cx="75174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 APIの構造</a:t>
            </a:r>
            <a:endParaRPr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F6610D2-A2E5-0AFE-6E56-D569FE491686}"/>
              </a:ext>
            </a:extLst>
          </p:cNvPr>
          <p:cNvSpPr/>
          <p:nvPr/>
        </p:nvSpPr>
        <p:spPr>
          <a:xfrm>
            <a:off x="523874" y="1683521"/>
            <a:ext cx="6928059" cy="1324599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F22E76-1A4E-4A29-B56B-26CBDCC97174}"/>
              </a:ext>
            </a:extLst>
          </p:cNvPr>
          <p:cNvSpPr txBox="1"/>
          <p:nvPr/>
        </p:nvSpPr>
        <p:spPr>
          <a:xfrm>
            <a:off x="134227" y="3663701"/>
            <a:ext cx="5289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/>
              <a:t>配列やListなどのデータをStream</a:t>
            </a:r>
            <a:r>
              <a:rPr lang="en-US" altLang="ja-JP" dirty="0"/>
              <a:t>API</a:t>
            </a:r>
            <a:r>
              <a:rPr lang="ja-JP" altLang="ja-JP" dirty="0"/>
              <a:t>として扱えるようにする</a:t>
            </a:r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D51A4BD-357C-DE4C-70D7-8E84982138E4}"/>
              </a:ext>
            </a:extLst>
          </p:cNvPr>
          <p:cNvSpPr txBox="1"/>
          <p:nvPr/>
        </p:nvSpPr>
        <p:spPr>
          <a:xfrm>
            <a:off x="3048000" y="4924425"/>
            <a:ext cx="5289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/>
              <a:t>データを絞り込んだり、変換したり</a:t>
            </a:r>
            <a:r>
              <a:rPr lang="ja-JP" altLang="en-US" dirty="0"/>
              <a:t>操作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93460D-90CA-9A00-573D-93E6F8A76B09}"/>
              </a:ext>
            </a:extLst>
          </p:cNvPr>
          <p:cNvSpPr txBox="1"/>
          <p:nvPr/>
        </p:nvSpPr>
        <p:spPr>
          <a:xfrm>
            <a:off x="5927577" y="4092728"/>
            <a:ext cx="5289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dirty="0"/>
              <a:t>最終的な結果を取り出す処理</a:t>
            </a:r>
            <a:endParaRPr lang="ja-JP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g3e597baf9a4_0_1711"/>
          <p:cNvPicPr preferRelativeResize="0"/>
          <p:nvPr/>
        </p:nvPicPr>
        <p:blipFill rotWithShape="1">
          <a:blip r:embed="rId3">
            <a:alphaModFix/>
          </a:blip>
          <a:srcRect t="30" b="487"/>
          <a:stretch/>
        </p:blipFill>
        <p:spPr>
          <a:xfrm>
            <a:off x="8481060" y="301943"/>
            <a:ext cx="359100" cy="4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e597baf9a4_0_1711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e597baf9a4_0_1711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生成：データをStreamとして流し始める</a:t>
            </a:r>
            <a:endParaRPr sz="2200" b="1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1" name="Google Shape;251;g3e597baf9a4_0_1711"/>
          <p:cNvSpPr/>
          <p:nvPr/>
        </p:nvSpPr>
        <p:spPr>
          <a:xfrm>
            <a:off x="571500" y="4524375"/>
            <a:ext cx="8001000" cy="381000"/>
          </a:xfrm>
          <a:prstGeom prst="roundRect">
            <a:avLst>
              <a:gd name="adj" fmla="val 10000"/>
            </a:avLst>
          </a:prstGeom>
          <a:solidFill>
            <a:srgbClr val="E1F5F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e597baf9a4_0_1711"/>
          <p:cNvSpPr txBox="1"/>
          <p:nvPr/>
        </p:nvSpPr>
        <p:spPr>
          <a:xfrm>
            <a:off x="5715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>
                <a:solidFill>
                  <a:srgbClr val="4FC3F7"/>
                </a:solidFill>
                <a:latin typeface="Noto Sans JP"/>
                <a:ea typeface="Noto Sans JP"/>
                <a:cs typeface="Noto Sans JP"/>
                <a:sym typeface="Noto Sans JP"/>
              </a:rPr>
              <a:t>① 生成</a:t>
            </a:r>
            <a:endParaRPr sz="1400" b="1" i="0" u="none" strike="noStrike" cap="none">
              <a:solidFill>
                <a:srgbClr val="4FC3F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3" name="Google Shape;253;g3e597baf9a4_0_1711"/>
          <p:cNvSpPr/>
          <p:nvPr/>
        </p:nvSpPr>
        <p:spPr>
          <a:xfrm>
            <a:off x="3333750" y="4524375"/>
            <a:ext cx="2476500" cy="381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e597baf9a4_0_1711"/>
          <p:cNvSpPr txBox="1"/>
          <p:nvPr/>
        </p:nvSpPr>
        <p:spPr>
          <a:xfrm>
            <a:off x="333375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 dirty="0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</a:t>
            </a:r>
            <a:endParaRPr sz="1400" b="1" i="0" u="none" strike="noStrike" cap="none" dirty="0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5" name="Google Shape;255;g3e597baf9a4_0_1711"/>
          <p:cNvSpPr/>
          <p:nvPr/>
        </p:nvSpPr>
        <p:spPr>
          <a:xfrm>
            <a:off x="6096000" y="4524375"/>
            <a:ext cx="2476500" cy="3810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e597baf9a4_0_1711"/>
          <p:cNvSpPr txBox="1"/>
          <p:nvPr/>
        </p:nvSpPr>
        <p:spPr>
          <a:xfrm>
            <a:off x="6096000" y="4524375"/>
            <a:ext cx="2476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</a:t>
            </a:r>
            <a:endParaRPr sz="1400" b="1" i="0" u="none" strike="noStrike" cap="none">
              <a:solidFill>
                <a:srgbClr val="BDBDBD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7" name="Google Shape;257;g3e597baf9a4_0_1711"/>
          <p:cNvSpPr/>
          <p:nvPr/>
        </p:nvSpPr>
        <p:spPr>
          <a:xfrm>
            <a:off x="540127" y="2828700"/>
            <a:ext cx="3810000" cy="1428900"/>
          </a:xfrm>
          <a:prstGeom prst="roundRect">
            <a:avLst>
              <a:gd name="adj" fmla="val 5333"/>
            </a:avLst>
          </a:prstGeom>
          <a:solidFill>
            <a:srgbClr val="F1F8E9"/>
          </a:solidFill>
          <a:ln w="9525" cap="flat" cmpd="sng">
            <a:solidFill>
              <a:srgbClr val="AED5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e597baf9a4_0_1711"/>
          <p:cNvSpPr txBox="1"/>
          <p:nvPr/>
        </p:nvSpPr>
        <p:spPr>
          <a:xfrm>
            <a:off x="730627" y="2971575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1" i="0" u="none" strike="noStrike" cap="none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配列から生成する場合</a:t>
            </a:r>
            <a:endParaRPr sz="1300" b="1" i="0" u="none" strike="noStrike" cap="none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9" name="Google Shape;259;g3e597baf9a4_0_1711"/>
          <p:cNvSpPr/>
          <p:nvPr/>
        </p:nvSpPr>
        <p:spPr>
          <a:xfrm>
            <a:off x="730627" y="3352575"/>
            <a:ext cx="3429000" cy="666900"/>
          </a:xfrm>
          <a:prstGeom prst="roundRect">
            <a:avLst>
              <a:gd name="adj" fmla="val 5714"/>
            </a:avLst>
          </a:prstGeom>
          <a:solidFill>
            <a:srgbClr val="2D2D2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e597baf9a4_0_1711"/>
          <p:cNvSpPr txBox="1"/>
          <p:nvPr/>
        </p:nvSpPr>
        <p:spPr>
          <a:xfrm>
            <a:off x="825877" y="3447825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Arrays.stream(配列名)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1" name="Google Shape;261;g3e597baf9a4_0_1711"/>
          <p:cNvSpPr/>
          <p:nvPr/>
        </p:nvSpPr>
        <p:spPr>
          <a:xfrm>
            <a:off x="4731127" y="2828700"/>
            <a:ext cx="3810000" cy="1428900"/>
          </a:xfrm>
          <a:prstGeom prst="roundRect">
            <a:avLst>
              <a:gd name="adj" fmla="val 5333"/>
            </a:avLst>
          </a:prstGeom>
          <a:solidFill>
            <a:srgbClr val="E3F2FD"/>
          </a:solidFill>
          <a:ln w="9525" cap="flat" cmpd="sng">
            <a:solidFill>
              <a:srgbClr val="90CA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e597baf9a4_0_1711"/>
          <p:cNvSpPr txBox="1"/>
          <p:nvPr/>
        </p:nvSpPr>
        <p:spPr>
          <a:xfrm>
            <a:off x="4921627" y="2971575"/>
            <a:ext cx="3429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1" i="0" u="none" strike="noStrike" cap="none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Listから生成する場合</a:t>
            </a:r>
            <a:endParaRPr sz="1300" b="1" i="0" u="none" strike="noStrike" cap="none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63" name="Google Shape;263;g3e597baf9a4_0_1711"/>
          <p:cNvSpPr/>
          <p:nvPr/>
        </p:nvSpPr>
        <p:spPr>
          <a:xfrm>
            <a:off x="4921627" y="3352575"/>
            <a:ext cx="3429000" cy="666900"/>
          </a:xfrm>
          <a:prstGeom prst="roundRect">
            <a:avLst>
              <a:gd name="adj" fmla="val 5714"/>
            </a:avLst>
          </a:prstGeom>
          <a:solidFill>
            <a:srgbClr val="2D2D2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e597baf9a4_0_1711"/>
          <p:cNvSpPr txBox="1"/>
          <p:nvPr/>
        </p:nvSpPr>
        <p:spPr>
          <a:xfrm>
            <a:off x="5016877" y="3447825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リスト名.stream()</a:t>
            </a:r>
            <a:endParaRPr sz="1300" b="0" i="0" u="none" strike="noStrike" cap="none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5" name="Google Shape;265;g3e597baf9a4_0_1711"/>
          <p:cNvSpPr/>
          <p:nvPr/>
        </p:nvSpPr>
        <p:spPr>
          <a:xfrm>
            <a:off x="480060" y="838200"/>
            <a:ext cx="8001000" cy="12861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e597baf9a4_0_1711"/>
          <p:cNvSpPr txBox="1"/>
          <p:nvPr/>
        </p:nvSpPr>
        <p:spPr>
          <a:xfrm>
            <a:off x="670560" y="885900"/>
            <a:ext cx="7620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altLang="en-US" dirty="0">
                <a:sym typeface="Noto Sans JP"/>
              </a:rPr>
              <a:t>役割</a:t>
            </a:r>
            <a:r>
              <a:rPr lang="en-US" altLang="ja-JP" dirty="0">
                <a:sym typeface="Noto Sans JP"/>
              </a:rPr>
              <a:t>:</a:t>
            </a:r>
            <a:r>
              <a:rPr lang="en-US" altLang="ja" dirty="0">
                <a:sym typeface="Noto Sans JP"/>
              </a:rPr>
              <a:t>Stream API</a:t>
            </a:r>
            <a:r>
              <a:rPr lang="ja" altLang="en-US" dirty="0">
                <a:sym typeface="Noto Sans JP"/>
              </a:rPr>
              <a:t>を使うための入り口</a:t>
            </a:r>
            <a:endParaRPr lang="en-US" altLang="ja" dirty="0"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dirty="0"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altLang="en-US" dirty="0">
                <a:sym typeface="Noto Sans JP"/>
              </a:rPr>
              <a:t>・配列やコレクション（</a:t>
            </a:r>
            <a:r>
              <a:rPr lang="en-US" altLang="ja" dirty="0">
                <a:sym typeface="Noto Sans JP"/>
              </a:rPr>
              <a:t>List, Set</a:t>
            </a:r>
            <a:r>
              <a:rPr lang="ja" altLang="en-US" dirty="0">
                <a:sym typeface="Noto Sans JP"/>
              </a:rPr>
              <a:t>など）を</a:t>
            </a:r>
            <a:r>
              <a:rPr lang="en-US" altLang="ja" dirty="0">
                <a:sym typeface="Noto Sans JP"/>
              </a:rPr>
              <a:t>Stream</a:t>
            </a:r>
            <a:r>
              <a:rPr lang="ja" altLang="en-US" dirty="0">
                <a:sym typeface="Noto Sans JP"/>
              </a:rPr>
              <a:t>という「データの流れ」に変換</a:t>
            </a:r>
            <a:r>
              <a:rPr lang="ja-JP" altLang="en-US" dirty="0">
                <a:sym typeface="Noto Sans JP"/>
              </a:rPr>
              <a:t>し準備</a:t>
            </a:r>
            <a:endParaRPr lang="en-US" altLang="ja" dirty="0">
              <a:sym typeface="Noto Sans JP"/>
            </a:endParaRPr>
          </a:p>
        </p:txBody>
      </p:sp>
      <p:sp>
        <p:nvSpPr>
          <p:cNvPr id="267" name="Google Shape;267;g3e597baf9a4_0_1711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" name="Google Shape;250;g3e597baf9a4_0_1711">
            <a:extLst>
              <a:ext uri="{FF2B5EF4-FFF2-40B4-BE49-F238E27FC236}">
                <a16:creationId xmlns:a16="http://schemas.microsoft.com/office/drawing/2014/main" id="{AB1D6548-D41A-BF80-EFBB-7C8C7DE443F1}"/>
              </a:ext>
            </a:extLst>
          </p:cNvPr>
          <p:cNvSpPr txBox="1"/>
          <p:nvPr/>
        </p:nvSpPr>
        <p:spPr>
          <a:xfrm>
            <a:off x="3605047" y="2314313"/>
            <a:ext cx="206081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-JP" altLang="en-US" sz="2200" b="1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具体的な書き方</a:t>
            </a:r>
            <a:endParaRPr sz="2200" b="1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g3e597baf9a4_0_1929"/>
          <p:cNvPicPr preferRelativeResize="0"/>
          <p:nvPr/>
        </p:nvPicPr>
        <p:blipFill rotWithShape="1">
          <a:blip r:embed="rId3">
            <a:alphaModFix/>
          </a:blip>
          <a:srcRect t="30" b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e597baf9a4_0_1929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597baf9a4_0_1929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中間操作：データを加工・絞り込む</a:t>
            </a:r>
            <a:endParaRPr sz="2200" b="1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276" name="Google Shape;276;g3e597baf9a4_0_1929"/>
          <p:cNvGrpSpPr/>
          <p:nvPr/>
        </p:nvGrpSpPr>
        <p:grpSpPr>
          <a:xfrm>
            <a:off x="480060" y="2476350"/>
            <a:ext cx="3810000" cy="1428900"/>
            <a:chOff x="571500" y="952500"/>
            <a:chExt cx="3810000" cy="1428900"/>
          </a:xfrm>
        </p:grpSpPr>
        <p:sp>
          <p:nvSpPr>
            <p:cNvPr id="277" name="Google Shape;277;g3e597baf9a4_0_1929"/>
            <p:cNvSpPr/>
            <p:nvPr/>
          </p:nvSpPr>
          <p:spPr>
            <a:xfrm>
              <a:off x="571500" y="952500"/>
              <a:ext cx="3810000" cy="1428900"/>
            </a:xfrm>
            <a:prstGeom prst="roundRect">
              <a:avLst>
                <a:gd name="adj" fmla="val 5333"/>
              </a:avLst>
            </a:prstGeom>
            <a:solidFill>
              <a:srgbClr val="E8F5E9"/>
            </a:solidFill>
            <a:ln w="9525" cap="flat" cmpd="sng">
              <a:solidFill>
                <a:srgbClr val="81C7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e597baf9a4_0_1929"/>
            <p:cNvSpPr txBox="1"/>
            <p:nvPr/>
          </p:nvSpPr>
          <p:spPr>
            <a:xfrm>
              <a:off x="762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1" i="0" u="none" strike="noStrike" cap="none" dirty="0">
                  <a:solidFill>
                    <a:srgbClr val="0288D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filter：条件で絞り込む</a:t>
              </a:r>
              <a:endParaRPr sz="1300" b="1" i="0" u="none" strike="noStrike" cap="none" dirty="0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79" name="Google Shape;279;g3e597baf9a4_0_1929"/>
            <p:cNvSpPr/>
            <p:nvPr/>
          </p:nvSpPr>
          <p:spPr>
            <a:xfrm>
              <a:off x="762000" y="1476375"/>
              <a:ext cx="3429000" cy="666900"/>
            </a:xfrm>
            <a:prstGeom prst="roundRect">
              <a:avLst>
                <a:gd name="adj" fmla="val 5714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e597baf9a4_0_1929"/>
            <p:cNvSpPr txBox="1"/>
            <p:nvPr/>
          </p:nvSpPr>
          <p:spPr>
            <a:xfrm>
              <a:off x="857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4)</a:t>
              </a:r>
              <a:endParaRPr sz="13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81" name="Google Shape;281;g3e597baf9a4_0_1929"/>
          <p:cNvGrpSpPr/>
          <p:nvPr/>
        </p:nvGrpSpPr>
        <p:grpSpPr>
          <a:xfrm>
            <a:off x="4671060" y="2476350"/>
            <a:ext cx="3810000" cy="1428900"/>
            <a:chOff x="4762500" y="952500"/>
            <a:chExt cx="3810000" cy="1428900"/>
          </a:xfrm>
        </p:grpSpPr>
        <p:sp>
          <p:nvSpPr>
            <p:cNvPr id="282" name="Google Shape;282;g3e597baf9a4_0_1929"/>
            <p:cNvSpPr/>
            <p:nvPr/>
          </p:nvSpPr>
          <p:spPr>
            <a:xfrm>
              <a:off x="4762500" y="952500"/>
              <a:ext cx="3810000" cy="1428900"/>
            </a:xfrm>
            <a:prstGeom prst="roundRect">
              <a:avLst>
                <a:gd name="adj" fmla="val 5333"/>
              </a:avLst>
            </a:prstGeom>
            <a:solidFill>
              <a:srgbClr val="E8F5E9"/>
            </a:solidFill>
            <a:ln w="9525" cap="flat" cmpd="sng">
              <a:solidFill>
                <a:srgbClr val="81C78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e597baf9a4_0_1929"/>
            <p:cNvSpPr txBox="1"/>
            <p:nvPr/>
          </p:nvSpPr>
          <p:spPr>
            <a:xfrm>
              <a:off x="4953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1" i="0" u="none" strike="noStrike" cap="none">
                  <a:solidFill>
                    <a:srgbClr val="0288D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map：別の形に変換する</a:t>
              </a:r>
              <a:endParaRPr sz="1300" b="1" i="0" u="none" strike="noStrike" cap="none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84" name="Google Shape;284;g3e597baf9a4_0_1929"/>
            <p:cNvSpPr/>
            <p:nvPr/>
          </p:nvSpPr>
          <p:spPr>
            <a:xfrm>
              <a:off x="4953000" y="1476375"/>
              <a:ext cx="3429000" cy="666900"/>
            </a:xfrm>
            <a:prstGeom prst="roundRect">
              <a:avLst>
                <a:gd name="adj" fmla="val 5714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e597baf9a4_0_1929"/>
            <p:cNvSpPr txBox="1"/>
            <p:nvPr/>
          </p:nvSpPr>
          <p:spPr>
            <a:xfrm>
              <a:off x="5048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.map(String::toUpperCase)</a:t>
              </a:r>
              <a:endParaRPr sz="13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89" name="Google Shape;289;g3e597baf9a4_0_1929"/>
          <p:cNvGrpSpPr/>
          <p:nvPr/>
        </p:nvGrpSpPr>
        <p:grpSpPr>
          <a:xfrm>
            <a:off x="571500" y="4524375"/>
            <a:ext cx="8001000" cy="381000"/>
            <a:chOff x="571500" y="4524375"/>
            <a:chExt cx="8001000" cy="381000"/>
          </a:xfrm>
        </p:grpSpPr>
        <p:sp>
          <p:nvSpPr>
            <p:cNvPr id="290" name="Google Shape;290;g3e597baf9a4_0_1929"/>
            <p:cNvSpPr/>
            <p:nvPr/>
          </p:nvSpPr>
          <p:spPr>
            <a:xfrm>
              <a:off x="571500" y="4524375"/>
              <a:ext cx="8001000" cy="381000"/>
            </a:xfrm>
            <a:prstGeom prst="roundRect">
              <a:avLst>
                <a:gd name="adj" fmla="val 10000"/>
              </a:avLst>
            </a:prstGeom>
            <a:solidFill>
              <a:srgbClr val="E1F5F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g3e597baf9a4_0_1929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g3e597baf9a4_0_1929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sz="1400" b="1" i="0" u="none" strike="noStrike" cap="non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93" name="Google Shape;293;g3e597baf9a4_0_1929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e597baf9a4_0_1929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81C784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sz="1400" b="1" i="0" u="none" strike="noStrike" cap="none">
                <a:solidFill>
                  <a:srgbClr val="81C784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295" name="Google Shape;295;g3e597baf9a4_0_1929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3e597baf9a4_0_1929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sz="1400" b="1" i="0" u="none" strike="noStrike" cap="non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297" name="Google Shape;297;g3e597baf9a4_0_1929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0C1C7C-41DF-7FC5-66EC-373C2B07653D}"/>
              </a:ext>
            </a:extLst>
          </p:cNvPr>
          <p:cNvSpPr txBox="1"/>
          <p:nvPr/>
        </p:nvSpPr>
        <p:spPr>
          <a:xfrm>
            <a:off x="864870" y="1102366"/>
            <a:ext cx="7447660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altLang="en-US" dirty="0">
                <a:sym typeface="Noto Sans JP"/>
              </a:rPr>
              <a:t>役割</a:t>
            </a:r>
            <a:r>
              <a:rPr lang="en-US" altLang="ja-JP" dirty="0">
                <a:sym typeface="Noto Sans JP"/>
              </a:rPr>
              <a:t>:</a:t>
            </a:r>
            <a:r>
              <a:rPr lang="ja-JP" altLang="en-US" dirty="0">
                <a:sym typeface="Noto Sans JP"/>
              </a:rPr>
              <a:t>配列</a:t>
            </a:r>
            <a:r>
              <a:rPr lang="en-US" altLang="ja-JP" dirty="0">
                <a:sym typeface="Noto Sans JP"/>
              </a:rPr>
              <a:t>/</a:t>
            </a:r>
            <a:r>
              <a:rPr lang="ja-JP" altLang="en-US" dirty="0">
                <a:sym typeface="Noto Sans JP"/>
              </a:rPr>
              <a:t>リストの中身を操作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ja-JP" altLang="en-US" dirty="0">
              <a:sym typeface="Noto Sans JP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altLang="en-US" dirty="0">
                <a:sym typeface="Noto Sans JP"/>
              </a:rPr>
              <a:t>絞り込みや変換などの処理をメソッドをつなげて記述して、出力結果の準備</a:t>
            </a:r>
          </a:p>
        </p:txBody>
      </p:sp>
      <p:sp>
        <p:nvSpPr>
          <p:cNvPr id="4" name="Google Shape;250;g3e597baf9a4_0_1711">
            <a:extLst>
              <a:ext uri="{FF2B5EF4-FFF2-40B4-BE49-F238E27FC236}">
                <a16:creationId xmlns:a16="http://schemas.microsoft.com/office/drawing/2014/main" id="{10A5F65C-65E0-3D1A-25E4-06B01F220FF8}"/>
              </a:ext>
            </a:extLst>
          </p:cNvPr>
          <p:cNvSpPr txBox="1"/>
          <p:nvPr/>
        </p:nvSpPr>
        <p:spPr>
          <a:xfrm>
            <a:off x="3605047" y="2000250"/>
            <a:ext cx="204372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-JP" altLang="en-US" sz="2200" b="1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具体的な書き方</a:t>
            </a:r>
            <a:endParaRPr sz="2200" b="1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" name="Google Shape;250;g3e597baf9a4_0_1711">
            <a:extLst>
              <a:ext uri="{FF2B5EF4-FFF2-40B4-BE49-F238E27FC236}">
                <a16:creationId xmlns:a16="http://schemas.microsoft.com/office/drawing/2014/main" id="{26F0B949-E6FE-FC1D-15D2-E5D8F7B26806}"/>
              </a:ext>
            </a:extLst>
          </p:cNvPr>
          <p:cNvSpPr txBox="1"/>
          <p:nvPr/>
        </p:nvSpPr>
        <p:spPr>
          <a:xfrm>
            <a:off x="2772079" y="4048125"/>
            <a:ext cx="39278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-JP" altLang="en-US" sz="22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注意</a:t>
            </a:r>
            <a:r>
              <a:rPr lang="en-US" altLang="ja-JP" sz="22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:</a:t>
            </a:r>
            <a:r>
              <a:rPr lang="ja-JP" altLang="en-US" sz="22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複数の宣言が可能</a:t>
            </a:r>
            <a:endParaRPr sz="2200" b="1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>
          <a:extLst>
            <a:ext uri="{FF2B5EF4-FFF2-40B4-BE49-F238E27FC236}">
              <a16:creationId xmlns:a16="http://schemas.microsoft.com/office/drawing/2014/main" id="{E6BF435C-ED83-F5A1-A4E6-86AE051E3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g3e597baf9a4_0_1929">
            <a:extLst>
              <a:ext uri="{FF2B5EF4-FFF2-40B4-BE49-F238E27FC236}">
                <a16:creationId xmlns:a16="http://schemas.microsoft.com/office/drawing/2014/main" id="{6C7248F9-1A7B-CA45-4618-060119FBDD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0" b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e597baf9a4_0_1929">
            <a:extLst>
              <a:ext uri="{FF2B5EF4-FFF2-40B4-BE49-F238E27FC236}">
                <a16:creationId xmlns:a16="http://schemas.microsoft.com/office/drawing/2014/main" id="{B42B78D3-3267-291D-B4A2-0C7BD139739B}"/>
              </a:ext>
            </a:extLst>
          </p:cNvPr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597baf9a4_0_1929">
            <a:extLst>
              <a:ext uri="{FF2B5EF4-FFF2-40B4-BE49-F238E27FC236}">
                <a16:creationId xmlns:a16="http://schemas.microsoft.com/office/drawing/2014/main" id="{1AEC5282-6A7D-3E11-5E2F-E0373C977060}"/>
              </a:ext>
            </a:extLst>
          </p:cNvPr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② 中間操作：データを加工・絞り込む</a:t>
            </a:r>
            <a:endParaRPr sz="2200" b="1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pSp>
        <p:nvGrpSpPr>
          <p:cNvPr id="7" name="Google Shape;239;p8">
            <a:extLst>
              <a:ext uri="{FF2B5EF4-FFF2-40B4-BE49-F238E27FC236}">
                <a16:creationId xmlns:a16="http://schemas.microsoft.com/office/drawing/2014/main" id="{74094390-627C-94B1-C64F-9D60E5A42164}"/>
              </a:ext>
            </a:extLst>
          </p:cNvPr>
          <p:cNvGrpSpPr/>
          <p:nvPr/>
        </p:nvGrpSpPr>
        <p:grpSpPr>
          <a:xfrm>
            <a:off x="547687" y="1607297"/>
            <a:ext cx="8048625" cy="2473681"/>
            <a:chOff x="571500" y="952500"/>
            <a:chExt cx="8048625" cy="3429000"/>
          </a:xfrm>
        </p:grpSpPr>
        <p:sp>
          <p:nvSpPr>
            <p:cNvPr id="8" name="Google Shape;240;p8">
              <a:extLst>
                <a:ext uri="{FF2B5EF4-FFF2-40B4-BE49-F238E27FC236}">
                  <a16:creationId xmlns:a16="http://schemas.microsoft.com/office/drawing/2014/main" id="{E88E0E03-5E26-8F8B-7A66-A7C7CD932A41}"/>
                </a:ext>
              </a:extLst>
            </p:cNvPr>
            <p:cNvSpPr/>
            <p:nvPr/>
          </p:nvSpPr>
          <p:spPr>
            <a:xfrm>
              <a:off x="571500" y="952500"/>
              <a:ext cx="8001000" cy="3429000"/>
            </a:xfrm>
            <a:prstGeom prst="roundRect">
              <a:avLst>
                <a:gd name="adj" fmla="val 2777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41;p8">
              <a:extLst>
                <a:ext uri="{FF2B5EF4-FFF2-40B4-BE49-F238E27FC236}">
                  <a16:creationId xmlns:a16="http://schemas.microsoft.com/office/drawing/2014/main" id="{73C620F4-BC43-2A34-D72E-BBF509E24197}"/>
                </a:ext>
              </a:extLst>
            </p:cNvPr>
            <p:cNvSpPr txBox="1"/>
            <p:nvPr/>
          </p:nvSpPr>
          <p:spPr>
            <a:xfrm>
              <a:off x="619125" y="1047739"/>
              <a:ext cx="80010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"banana"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"cherry"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</a:t>
              </a:r>
              <a:r>
                <a:rPr lang="en-US" alt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fig</a:t>
              </a:r>
              <a:r>
                <a:rPr lang="ja" sz="1400" b="0" i="0" u="none" strike="noStrike" cap="none" dirty="0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};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配列の宣言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20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① 生成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lang="ja" sz="1400" b="0" i="0" u="none" strike="noStrike" cap="none" dirty="0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</a:t>
              </a:r>
              <a:r>
                <a:rPr lang="ja" sz="1400" b="0" i="0" u="none" strike="noStrike" cap="none" dirty="0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::toUpperCase)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② 中間操作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2159000" marR="0" lvl="0" indent="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 dirty="0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 </a:t>
              </a:r>
              <a:r>
                <a:rPr lang="ja" sz="1400" b="0" i="0" u="none" strike="noStrike" cap="none" dirty="0">
                  <a:solidFill>
                    <a:srgbClr val="6A99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③ 終端操作</a:t>
              </a:r>
              <a:endParaRPr sz="1400" b="0" i="0" u="none" strike="noStrike" cap="none" dirty="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818A9E45-FE41-D41B-92C2-0C81FB8981E6}"/>
              </a:ext>
            </a:extLst>
          </p:cNvPr>
          <p:cNvCxnSpPr/>
          <p:nvPr/>
        </p:nvCxnSpPr>
        <p:spPr>
          <a:xfrm>
            <a:off x="1820254" y="2948299"/>
            <a:ext cx="79475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7BE2E2EE-6760-17CF-B919-25AF73904A51}"/>
              </a:ext>
            </a:extLst>
          </p:cNvPr>
          <p:cNvCxnSpPr/>
          <p:nvPr/>
        </p:nvCxnSpPr>
        <p:spPr>
          <a:xfrm>
            <a:off x="1840194" y="3280161"/>
            <a:ext cx="79475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250;g3e597baf9a4_0_1711">
            <a:extLst>
              <a:ext uri="{FF2B5EF4-FFF2-40B4-BE49-F238E27FC236}">
                <a16:creationId xmlns:a16="http://schemas.microsoft.com/office/drawing/2014/main" id="{2A9A7A2B-129C-238A-FD36-CBD10EF38D19}"/>
              </a:ext>
            </a:extLst>
          </p:cNvPr>
          <p:cNvSpPr txBox="1"/>
          <p:nvPr/>
        </p:nvSpPr>
        <p:spPr>
          <a:xfrm>
            <a:off x="-965479" y="2554124"/>
            <a:ext cx="3927824" cy="1132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-JP" altLang="en-US" sz="1600" b="1" i="0" u="none" strike="noStrike" cap="none" dirty="0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繋げて</a:t>
            </a:r>
            <a:endParaRPr lang="en-US" altLang="ja-JP" sz="1600" b="1" i="0" u="none" strike="noStrike" cap="none" dirty="0">
              <a:solidFill>
                <a:schemeClr val="accent4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-JP" altLang="en-US" sz="1600" b="1" i="0" u="none" strike="noStrike" cap="none" dirty="0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書くことが可能</a:t>
            </a:r>
            <a:endParaRPr sz="1600" b="1" i="0" u="none" strike="noStrike" cap="none" dirty="0">
              <a:solidFill>
                <a:schemeClr val="accent4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635863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597baf9a4_0_2152"/>
          <p:cNvSpPr/>
          <p:nvPr/>
        </p:nvSpPr>
        <p:spPr>
          <a:xfrm>
            <a:off x="447675" y="361950"/>
            <a:ext cx="954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e597baf9a4_0_2152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③ 終端操作：最終的な結果を得る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05" name="Google Shape;305;g3e597baf9a4_0_2152"/>
          <p:cNvPicPr preferRelativeResize="0"/>
          <p:nvPr/>
        </p:nvPicPr>
        <p:blipFill rotWithShape="1">
          <a:blip r:embed="rId3">
            <a:alphaModFix/>
          </a:blip>
          <a:srcRect t="199" b="199"/>
          <a:stretch/>
        </p:blipFill>
        <p:spPr>
          <a:xfrm>
            <a:off x="8477250" y="295275"/>
            <a:ext cx="3621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g3e597baf9a4_0_2152"/>
          <p:cNvGrpSpPr/>
          <p:nvPr/>
        </p:nvGrpSpPr>
        <p:grpSpPr>
          <a:xfrm>
            <a:off x="691142" y="2476500"/>
            <a:ext cx="3810000" cy="1428900"/>
            <a:chOff x="571500" y="952500"/>
            <a:chExt cx="3810000" cy="1428900"/>
          </a:xfrm>
        </p:grpSpPr>
        <p:sp>
          <p:nvSpPr>
            <p:cNvPr id="307" name="Google Shape;307;g3e597baf9a4_0_2152"/>
            <p:cNvSpPr/>
            <p:nvPr/>
          </p:nvSpPr>
          <p:spPr>
            <a:xfrm>
              <a:off x="571500" y="952500"/>
              <a:ext cx="3810000" cy="1428900"/>
            </a:xfrm>
            <a:prstGeom prst="roundRect">
              <a:avLst>
                <a:gd name="adj" fmla="val 5333"/>
              </a:avLst>
            </a:prstGeom>
            <a:solidFill>
              <a:srgbClr val="FFF3E0"/>
            </a:solidFill>
            <a:ln w="9525" cap="flat" cmpd="sng">
              <a:solidFill>
                <a:srgbClr val="FFAB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e597baf9a4_0_2152"/>
            <p:cNvSpPr txBox="1"/>
            <p:nvPr/>
          </p:nvSpPr>
          <p:spPr>
            <a:xfrm>
              <a:off x="762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1" i="0" u="none" strike="noStrike" cap="none" dirty="0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toList：結果をListとして取得する</a:t>
              </a:r>
              <a:endParaRPr sz="1300" b="1" i="0" u="none" strike="noStrike" cap="none" dirty="0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09" name="Google Shape;309;g3e597baf9a4_0_2152"/>
            <p:cNvSpPr/>
            <p:nvPr/>
          </p:nvSpPr>
          <p:spPr>
            <a:xfrm>
              <a:off x="762000" y="1476375"/>
              <a:ext cx="3429000" cy="666900"/>
            </a:xfrm>
            <a:prstGeom prst="roundRect">
              <a:avLst>
                <a:gd name="adj" fmla="val 5714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e597baf9a4_0_2152"/>
            <p:cNvSpPr txBox="1"/>
            <p:nvPr/>
          </p:nvSpPr>
          <p:spPr>
            <a:xfrm>
              <a:off x="857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</a:t>
              </a:r>
              <a:endParaRPr sz="13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11" name="Google Shape;311;g3e597baf9a4_0_2152"/>
          <p:cNvGrpSpPr/>
          <p:nvPr/>
        </p:nvGrpSpPr>
        <p:grpSpPr>
          <a:xfrm>
            <a:off x="4882142" y="2476500"/>
            <a:ext cx="3810000" cy="1428900"/>
            <a:chOff x="4762500" y="952500"/>
            <a:chExt cx="3810000" cy="1428900"/>
          </a:xfrm>
        </p:grpSpPr>
        <p:sp>
          <p:nvSpPr>
            <p:cNvPr id="312" name="Google Shape;312;g3e597baf9a4_0_2152"/>
            <p:cNvSpPr/>
            <p:nvPr/>
          </p:nvSpPr>
          <p:spPr>
            <a:xfrm>
              <a:off x="4762500" y="952500"/>
              <a:ext cx="3810000" cy="1428900"/>
            </a:xfrm>
            <a:prstGeom prst="roundRect">
              <a:avLst>
                <a:gd name="adj" fmla="val 5333"/>
              </a:avLst>
            </a:prstGeom>
            <a:solidFill>
              <a:srgbClr val="FFF3E0"/>
            </a:solidFill>
            <a:ln w="9525" cap="flat" cmpd="sng">
              <a:solidFill>
                <a:srgbClr val="FFAB9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e597baf9a4_0_2152"/>
            <p:cNvSpPr txBox="1"/>
            <p:nvPr/>
          </p:nvSpPr>
          <p:spPr>
            <a:xfrm>
              <a:off x="4953000" y="1095375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1" i="0" u="none" strike="noStrike" cap="none">
                  <a:solidFill>
                    <a:srgbClr val="E64A19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count：要素の件数を取得する</a:t>
              </a:r>
              <a:endParaRPr sz="1300" b="1" i="0" u="none" strike="noStrike" cap="none">
                <a:solidFill>
                  <a:srgbClr val="E64A19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14" name="Google Shape;314;g3e597baf9a4_0_2152"/>
            <p:cNvSpPr/>
            <p:nvPr/>
          </p:nvSpPr>
          <p:spPr>
            <a:xfrm>
              <a:off x="4953000" y="1476375"/>
              <a:ext cx="3429000" cy="666900"/>
            </a:xfrm>
            <a:prstGeom prst="roundRect">
              <a:avLst>
                <a:gd name="adj" fmla="val 5714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e597baf9a4_0_2152"/>
            <p:cNvSpPr txBox="1"/>
            <p:nvPr/>
          </p:nvSpPr>
          <p:spPr>
            <a:xfrm>
              <a:off x="5048250" y="1571625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.count()</a:t>
              </a:r>
              <a:endParaRPr sz="13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17" name="Google Shape;317;g3e597baf9a4_0_2152"/>
          <p:cNvSpPr/>
          <p:nvPr/>
        </p:nvSpPr>
        <p:spPr>
          <a:xfrm>
            <a:off x="447675" y="785888"/>
            <a:ext cx="8001000" cy="1524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" name="Google Shape;319;g3e597baf9a4_0_2152"/>
          <p:cNvGrpSpPr/>
          <p:nvPr/>
        </p:nvGrpSpPr>
        <p:grpSpPr>
          <a:xfrm>
            <a:off x="571500" y="4524375"/>
            <a:ext cx="8001000" cy="381000"/>
            <a:chOff x="571500" y="4524375"/>
            <a:chExt cx="8001000" cy="381000"/>
          </a:xfrm>
        </p:grpSpPr>
        <p:sp>
          <p:nvSpPr>
            <p:cNvPr id="320" name="Google Shape;320;g3e597baf9a4_0_2152"/>
            <p:cNvSpPr/>
            <p:nvPr/>
          </p:nvSpPr>
          <p:spPr>
            <a:xfrm>
              <a:off x="571500" y="4524375"/>
              <a:ext cx="8001000" cy="381000"/>
            </a:xfrm>
            <a:prstGeom prst="roundRect">
              <a:avLst>
                <a:gd name="adj" fmla="val 10000"/>
              </a:avLst>
            </a:prstGeom>
            <a:solidFill>
              <a:srgbClr val="FBE9E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g3e597baf9a4_0_2152"/>
            <p:cNvSpPr/>
            <p:nvPr/>
          </p:nvSpPr>
          <p:spPr>
            <a:xfrm>
              <a:off x="57150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e597baf9a4_0_2152"/>
            <p:cNvSpPr txBox="1"/>
            <p:nvPr/>
          </p:nvSpPr>
          <p:spPr>
            <a:xfrm>
              <a:off x="5715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① 生成</a:t>
              </a:r>
              <a:endParaRPr sz="1400" b="1" i="0" u="none" strike="noStrike" cap="non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23" name="Google Shape;323;g3e597baf9a4_0_2152"/>
            <p:cNvSpPr/>
            <p:nvPr/>
          </p:nvSpPr>
          <p:spPr>
            <a:xfrm>
              <a:off x="333375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F5F5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e597baf9a4_0_2152"/>
            <p:cNvSpPr txBox="1"/>
            <p:nvPr/>
          </p:nvSpPr>
          <p:spPr>
            <a:xfrm>
              <a:off x="333375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BDBDBD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② 中間操作</a:t>
              </a:r>
              <a:endParaRPr sz="1400" b="1" i="0" u="none" strike="noStrike" cap="none">
                <a:solidFill>
                  <a:srgbClr val="BDBDBD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25" name="Google Shape;325;g3e597baf9a4_0_2152"/>
            <p:cNvSpPr/>
            <p:nvPr/>
          </p:nvSpPr>
          <p:spPr>
            <a:xfrm>
              <a:off x="6096000" y="4524375"/>
              <a:ext cx="2476500" cy="381000"/>
            </a:xfrm>
            <a:prstGeom prst="roundRect">
              <a:avLst>
                <a:gd name="adj" fmla="val 10000"/>
              </a:avLst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3e597baf9a4_0_2152"/>
            <p:cNvSpPr txBox="1"/>
            <p:nvPr/>
          </p:nvSpPr>
          <p:spPr>
            <a:xfrm>
              <a:off x="6096000" y="4524375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FF8A6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③ 終端操作</a:t>
              </a:r>
              <a:endParaRPr sz="1400" b="1" i="0" u="none" strike="noStrike" cap="none">
                <a:solidFill>
                  <a:srgbClr val="FF8A65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327" name="Google Shape;327;g3e597baf9a4_0_2152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" name="Google Shape;266;g3e597baf9a4_0_1711">
            <a:extLst>
              <a:ext uri="{FF2B5EF4-FFF2-40B4-BE49-F238E27FC236}">
                <a16:creationId xmlns:a16="http://schemas.microsoft.com/office/drawing/2014/main" id="{BE896302-21E9-944F-58AC-E2DA7349403A}"/>
              </a:ext>
            </a:extLst>
          </p:cNvPr>
          <p:cNvSpPr txBox="1"/>
          <p:nvPr/>
        </p:nvSpPr>
        <p:spPr>
          <a:xfrm>
            <a:off x="670560" y="885900"/>
            <a:ext cx="7620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altLang="en-US" dirty="0">
                <a:sym typeface="Noto Sans JP"/>
              </a:rPr>
              <a:t>役割</a:t>
            </a:r>
            <a:r>
              <a:rPr lang="en-US" altLang="ja-JP" dirty="0">
                <a:sym typeface="Noto Sans JP"/>
              </a:rPr>
              <a:t>:</a:t>
            </a:r>
            <a:r>
              <a:rPr lang="ja-JP" altLang="en-US" dirty="0">
                <a:sym typeface="Noto Sans JP"/>
              </a:rPr>
              <a:t>操作した配列</a:t>
            </a:r>
            <a:r>
              <a:rPr lang="en-US" altLang="ja-JP" dirty="0">
                <a:sym typeface="Noto Sans JP"/>
              </a:rPr>
              <a:t>/</a:t>
            </a:r>
            <a:r>
              <a:rPr lang="ja-JP" altLang="en-US" dirty="0">
                <a:sym typeface="Noto Sans JP"/>
              </a:rPr>
              <a:t>リストの集約</a:t>
            </a:r>
            <a:endParaRPr lang="en-US" altLang="ja" dirty="0"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dirty="0">
              <a:sym typeface="Noto Sans JP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altLang="en-US" dirty="0">
                <a:sym typeface="Noto Sans JP"/>
              </a:rPr>
              <a:t>終端操作が記述されて初めて、生成と中間操作が実行される</a:t>
            </a:r>
            <a:endParaRPr lang="en-US" altLang="ja" dirty="0">
              <a:sym typeface="Noto Sans JP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597baf9a4_0_2363"/>
          <p:cNvSpPr/>
          <p:nvPr/>
        </p:nvSpPr>
        <p:spPr>
          <a:xfrm>
            <a:off x="9675" y="-9525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e597baf9a4_0_2363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e597baf9a4_0_2363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全体像と実行結果のイメージ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35" name="Google Shape;335;g3e597baf9a4_0_2363"/>
          <p:cNvPicPr preferRelativeResize="0"/>
          <p:nvPr/>
        </p:nvPicPr>
        <p:blipFill rotWithShape="1">
          <a:blip r:embed="rId3">
            <a:alphaModFix/>
          </a:blip>
          <a:srcRect t="30" b="30"/>
          <a:stretch/>
        </p:blipFill>
        <p:spPr>
          <a:xfrm>
            <a:off x="8481060" y="301943"/>
            <a:ext cx="359100" cy="4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e597baf9a4_0_2363"/>
          <p:cNvSpPr/>
          <p:nvPr/>
        </p:nvSpPr>
        <p:spPr>
          <a:xfrm>
            <a:off x="571500" y="952500"/>
            <a:ext cx="8001000" cy="152400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e597baf9a4_0_2363"/>
          <p:cNvSpPr txBox="1"/>
          <p:nvPr/>
        </p:nvSpPr>
        <p:spPr>
          <a:xfrm>
            <a:off x="762000" y="1095375"/>
            <a:ext cx="7620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String[] fruits = {</a:t>
            </a:r>
            <a:r>
              <a:rPr lang="ja" sz="1300" b="0" i="0" u="none" strike="noStrike" cap="none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"apple"</a:t>
            </a: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ja" sz="1300" b="0" i="0" u="none" strike="noStrike" cap="none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"banana"</a:t>
            </a: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ja" sz="1300" b="0" i="0" u="none" strike="noStrike" cap="none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"cherry"</a:t>
            </a: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ja" sz="1300" b="0" i="0" u="none" strike="noStrike" cap="none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“</a:t>
            </a:r>
            <a:r>
              <a:rPr lang="en-US" altLang="ja" sz="1300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fig</a:t>
            </a:r>
            <a:r>
              <a:rPr lang="ja" sz="1300" b="0" i="0" u="none" strike="noStrike" cap="none" dirty="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List&lt;String&gt; result = Arrays.stream(fruits) 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① 生成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1590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.filter(s -&gt; s.length() &gt;= 4) 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② 中間操作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1590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.map(String::toUpperCase) 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② 中間操作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1590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ja" sz="1300" b="0" i="0" u="none" strike="noStrike" cap="none" dirty="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.toList(); </a:t>
            </a:r>
            <a:r>
              <a:rPr lang="ja" sz="1300" b="0" i="0" u="none" strike="noStrike" cap="none" dirty="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// ③ 終端操作</a:t>
            </a:r>
            <a:endParaRPr sz="1300" b="0" i="0" u="none" strike="noStrike" cap="none" dirty="0">
              <a:solidFill>
                <a:srgbClr val="4EC9B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38" name="Google Shape;338;g3e597baf9a4_0_23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2475" y="2571750"/>
            <a:ext cx="1920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e597baf9a4_0_23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24375" y="2857500"/>
            <a:ext cx="95400" cy="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e597baf9a4_0_2363"/>
          <p:cNvSpPr/>
          <p:nvPr/>
        </p:nvSpPr>
        <p:spPr>
          <a:xfrm>
            <a:off x="571500" y="3048000"/>
            <a:ext cx="3810000" cy="133350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e597baf9a4_0_2363"/>
          <p:cNvSpPr txBox="1"/>
          <p:nvPr/>
        </p:nvSpPr>
        <p:spPr>
          <a:xfrm>
            <a:off x="1337061" y="3450200"/>
            <a:ext cx="2500001" cy="5290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rPr>
              <a:t>実際の出力結果 (resultの中身)</a:t>
            </a:r>
            <a:endParaRPr sz="1400" b="1" i="0" u="none" strike="noStrike" cap="none" dirty="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sz="1200" b="0" i="0" u="none" strike="noStrike" cap="none" dirty="0">
                <a:solidFill>
                  <a:srgbClr val="404040"/>
                </a:solidFill>
                <a:highlight>
                  <a:srgbClr val="E0E0E0"/>
                </a:highlight>
                <a:latin typeface="Courier New"/>
                <a:ea typeface="Courier New"/>
                <a:cs typeface="Courier New"/>
                <a:sym typeface="Courier New"/>
              </a:rPr>
              <a:t>[APPLE, BANANA, CHERRY]</a:t>
            </a:r>
            <a:endParaRPr sz="1200" b="1" i="0" u="none" strike="noStrike" cap="none" dirty="0">
              <a:solidFill>
                <a:srgbClr val="F083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2" name="Google Shape;342;g3e597baf9a4_0_2363"/>
          <p:cNvSpPr/>
          <p:nvPr/>
        </p:nvSpPr>
        <p:spPr>
          <a:xfrm>
            <a:off x="4762500" y="3048000"/>
            <a:ext cx="3810000" cy="1333500"/>
          </a:xfrm>
          <a:prstGeom prst="roundRect">
            <a:avLst>
              <a:gd name="adj" fmla="val 5714"/>
            </a:avLst>
          </a:prstGeom>
          <a:solidFill>
            <a:srgbClr val="E3F2FD"/>
          </a:solidFill>
          <a:ln w="9525" cap="flat" cmpd="sng">
            <a:solidFill>
              <a:srgbClr val="90CA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e597baf9a4_0_2363"/>
          <p:cNvSpPr txBox="1"/>
          <p:nvPr/>
        </p:nvSpPr>
        <p:spPr>
          <a:xfrm>
            <a:off x="4953000" y="3190875"/>
            <a:ext cx="34290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" sz="1400" b="1" i="0" u="none" strike="noStrike" cap="none" dirty="0">
                <a:solidFill>
                  <a:srgbClr val="0288D1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処理のイメージ</a:t>
            </a:r>
            <a:endParaRPr sz="1400" b="1" i="0" u="none" strike="noStrike" cap="none" dirty="0">
              <a:solidFill>
                <a:srgbClr val="0288D1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1. データを流れ(Stream)にする</a:t>
            </a:r>
            <a:endParaRPr sz="1200" b="0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2. 条件に合うものだけ通す</a:t>
            </a:r>
            <a:endParaRPr sz="1200" b="0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3. 形を変える(大文字化)</a:t>
            </a:r>
            <a:endParaRPr sz="1200" b="0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sz="12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4. 最後にリストとして回収する</a:t>
            </a:r>
            <a:endParaRPr sz="1200" b="0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44" name="Google Shape;344;g3e597baf9a4_0_2363"/>
          <p:cNvSpPr/>
          <p:nvPr/>
        </p:nvSpPr>
        <p:spPr>
          <a:xfrm>
            <a:off x="571500" y="4619625"/>
            <a:ext cx="8001000" cy="333300"/>
          </a:xfrm>
          <a:prstGeom prst="roundRect">
            <a:avLst>
              <a:gd name="adj" fmla="val 11428"/>
            </a:avLst>
          </a:prstGeom>
          <a:solidFill>
            <a:srgbClr val="F08300">
              <a:alpha val="10196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e597baf9a4_0_2363"/>
          <p:cNvSpPr txBox="1"/>
          <p:nvPr/>
        </p:nvSpPr>
        <p:spPr>
          <a:xfrm>
            <a:off x="762000" y="4619625"/>
            <a:ext cx="7620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" sz="12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「何をしたいか」を繋げるだけで、複雑なデータ操作が</a:t>
            </a:r>
            <a:r>
              <a:rPr lang="ja-JP" altLang="en-US" sz="1200" b="1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理解しやすい</a:t>
            </a:r>
            <a:endParaRPr sz="1200" b="1" i="0" u="none" strike="noStrike" cap="none" dirty="0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597baf9a4_0_27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e597baf9a4_0_2752"/>
          <p:cNvSpPr/>
          <p:nvPr/>
        </p:nvSpPr>
        <p:spPr>
          <a:xfrm>
            <a:off x="447675" y="361950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e597baf9a4_0_2752"/>
          <p:cNvSpPr txBox="1"/>
          <p:nvPr/>
        </p:nvSpPr>
        <p:spPr>
          <a:xfrm>
            <a:off x="609600" y="31432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まとめ：Stream APIの正体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353" name="Google Shape;353;g3e597baf9a4_0_2752"/>
          <p:cNvPicPr preferRelativeResize="0"/>
          <p:nvPr/>
        </p:nvPicPr>
        <p:blipFill rotWithShape="1">
          <a:blip r:embed="rId3">
            <a:alphaModFix/>
          </a:blip>
          <a:srcRect t="150" b="140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e597baf9a4_0_2752"/>
          <p:cNvSpPr/>
          <p:nvPr/>
        </p:nvSpPr>
        <p:spPr>
          <a:xfrm>
            <a:off x="571500" y="952500"/>
            <a:ext cx="8001000" cy="571500"/>
          </a:xfrm>
          <a:prstGeom prst="roundRect">
            <a:avLst>
              <a:gd name="adj" fmla="val 13333"/>
            </a:avLst>
          </a:prstGeom>
          <a:solidFill>
            <a:srgbClr val="F8F9FA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e597baf9a4_0_2752"/>
          <p:cNvSpPr txBox="1"/>
          <p:nvPr/>
        </p:nvSpPr>
        <p:spPr>
          <a:xfrm>
            <a:off x="190650" y="952500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ja-JP" altLang="en-US" sz="1800" b="1" dirty="0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配列や</a:t>
            </a:r>
            <a:r>
              <a:rPr lang="en-US" altLang="ja-JP" sz="1800" b="1" dirty="0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List</a:t>
            </a:r>
            <a:r>
              <a:rPr lang="ja-JP" altLang="en-US" sz="1800" b="1" dirty="0">
                <a:solidFill>
                  <a:schemeClr val="accent4"/>
                </a:solidFill>
                <a:latin typeface="Noto Sans JP"/>
                <a:ea typeface="Noto Sans JP"/>
                <a:cs typeface="Noto Sans JP"/>
                <a:sym typeface="Noto Sans JP"/>
              </a:rPr>
              <a:t>などのデータのループ処理に対して、何をする処理？を段階的に書ける仕組み</a:t>
            </a:r>
          </a:p>
        </p:txBody>
      </p:sp>
      <p:sp>
        <p:nvSpPr>
          <p:cNvPr id="356" name="Google Shape;356;g3e597baf9a4_0_2752"/>
          <p:cNvSpPr txBox="1"/>
          <p:nvPr/>
        </p:nvSpPr>
        <p:spPr>
          <a:xfrm>
            <a:off x="7829550" y="4924425"/>
            <a:ext cx="600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57" name="Google Shape;357;g3e597baf9a4_0_2752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358" name="Google Shape;358;g3e597baf9a4_0_2752"/>
          <p:cNvGrpSpPr/>
          <p:nvPr/>
        </p:nvGrpSpPr>
        <p:grpSpPr>
          <a:xfrm>
            <a:off x="571500" y="1714500"/>
            <a:ext cx="3905400" cy="1609814"/>
            <a:chOff x="571500" y="1714500"/>
            <a:chExt cx="3905400" cy="2476500"/>
          </a:xfrm>
        </p:grpSpPr>
        <p:sp>
          <p:nvSpPr>
            <p:cNvPr id="359" name="Google Shape;359;g3e597baf9a4_0_2752"/>
            <p:cNvSpPr/>
            <p:nvPr/>
          </p:nvSpPr>
          <p:spPr>
            <a:xfrm>
              <a:off x="571500" y="1714500"/>
              <a:ext cx="3905400" cy="2476500"/>
            </a:xfrm>
            <a:prstGeom prst="roundRect">
              <a:avLst>
                <a:gd name="adj" fmla="val 4615"/>
              </a:avLst>
            </a:prstGeom>
            <a:solidFill>
              <a:srgbClr val="F8F9FA"/>
            </a:solidFill>
            <a:ln w="14300" cap="flat" cmpd="sng">
              <a:solidFill>
                <a:srgbClr val="F0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3e597baf9a4_0_2752"/>
            <p:cNvSpPr txBox="1"/>
            <p:nvPr/>
          </p:nvSpPr>
          <p:spPr>
            <a:xfrm>
              <a:off x="609600" y="1905000"/>
              <a:ext cx="38100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ja" sz="1600" b="1" i="0" u="none" strike="noStrike" cap="none" dirty="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記述の特徴：宣言的な書き方</a:t>
              </a:r>
              <a:endParaRPr sz="1600" b="1" i="0" u="none" strike="noStrike" cap="none" dirty="0">
                <a:solidFill>
                  <a:srgbClr val="F08300"/>
                </a:solidFill>
                <a:latin typeface="Mate"/>
                <a:ea typeface="Mate"/>
                <a:cs typeface="Mate"/>
                <a:sym typeface="Mate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0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「手順」を細かく指示するのではなく</a:t>
              </a:r>
              <a:endParaRPr lang="en-US" altLang="ja" sz="13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1" i="0" u="none" strike="noStrike" cap="none" dirty="0">
                  <a:solidFill>
                    <a:srgbClr val="404040"/>
                  </a:solidFill>
                  <a:highlight>
                    <a:srgbClr val="FFF9C4"/>
                  </a:highlight>
                  <a:latin typeface="Noto Sans JP"/>
                  <a:ea typeface="Noto Sans JP"/>
                  <a:cs typeface="Noto Sans JP"/>
                  <a:sym typeface="Noto Sans JP"/>
                </a:rPr>
                <a:t>「やりたいこと」</a:t>
              </a:r>
              <a:r>
                <a:rPr lang="ja" sz="1300" b="0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を並べて記述</a:t>
              </a:r>
              <a:endParaRPr sz="13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 dirty="0">
                  <a:solidFill>
                    <a:srgbClr val="616161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コードの目的が直感的に理解しやすくなり、可読性が向上</a:t>
              </a:r>
              <a:endParaRPr sz="1100" b="0" i="0" u="none" strike="noStrike" cap="none" dirty="0">
                <a:solidFill>
                  <a:srgbClr val="616161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361" name="Google Shape;361;g3e597baf9a4_0_2752"/>
          <p:cNvGrpSpPr/>
          <p:nvPr/>
        </p:nvGrpSpPr>
        <p:grpSpPr>
          <a:xfrm>
            <a:off x="4667250" y="1714500"/>
            <a:ext cx="3905400" cy="1609814"/>
            <a:chOff x="4667250" y="1714500"/>
            <a:chExt cx="3905400" cy="2476500"/>
          </a:xfrm>
        </p:grpSpPr>
        <p:sp>
          <p:nvSpPr>
            <p:cNvPr id="362" name="Google Shape;362;g3e597baf9a4_0_2752"/>
            <p:cNvSpPr/>
            <p:nvPr/>
          </p:nvSpPr>
          <p:spPr>
            <a:xfrm>
              <a:off x="4667250" y="1714500"/>
              <a:ext cx="3905400" cy="2476500"/>
            </a:xfrm>
            <a:prstGeom prst="roundRect">
              <a:avLst>
                <a:gd name="adj" fmla="val 4615"/>
              </a:avLst>
            </a:prstGeom>
            <a:solidFill>
              <a:srgbClr val="F8F9FA"/>
            </a:solidFill>
            <a:ln w="14300" cap="flat" cmpd="sng">
              <a:solidFill>
                <a:srgbClr val="F083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3e597baf9a4_0_2752"/>
            <p:cNvSpPr txBox="1"/>
            <p:nvPr/>
          </p:nvSpPr>
          <p:spPr>
            <a:xfrm>
              <a:off x="4857750" y="1905000"/>
              <a:ext cx="3524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ja" sz="1600" b="1" i="0" u="none" strike="noStrike" cap="none" dirty="0">
                  <a:solidFill>
                    <a:srgbClr val="F0830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書き方の基本構成</a:t>
              </a:r>
              <a:endParaRPr sz="1600" b="1" i="0" u="none" strike="noStrike" cap="none" dirty="0">
                <a:solidFill>
                  <a:srgbClr val="F0830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ja" sz="1300" b="1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生成 → 中間操作 → 終端操作</a:t>
              </a:r>
              <a:endParaRPr sz="1300" b="1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メソッドを数珠つなぎに記述</a:t>
              </a:r>
              <a:r>
                <a:rPr lang="ja-JP" altLang="en-US" sz="1100" b="0" i="0" u="none" strike="noStrike" cap="none" dirty="0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可能</a:t>
              </a:r>
              <a:endParaRPr sz="1100" b="0" i="0" u="none" strike="noStrike" cap="none" dirty="0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ja" sz="1000" b="0" i="0" u="none" strike="noStrike" cap="none" dirty="0">
                  <a:solidFill>
                    <a:srgbClr val="40404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.stream() // 生成</a:t>
              </a:r>
              <a:endParaRPr sz="1000" b="0" i="0" u="none" strike="noStrike" cap="none" dirty="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ja" sz="1000" b="0" i="0" u="none" strike="noStrike" cap="none" dirty="0">
                  <a:solidFill>
                    <a:srgbClr val="40404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.filter(...)</a:t>
              </a:r>
              <a:endParaRPr sz="1000" b="0" i="0" u="none" strike="noStrike" cap="none" dirty="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ja" sz="1000" b="0" i="0" u="none" strike="noStrike" cap="none" dirty="0">
                  <a:solidFill>
                    <a:srgbClr val="40404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.map(...) // 中間操作</a:t>
              </a:r>
              <a:endParaRPr sz="1000" b="0" i="0" u="none" strike="noStrike" cap="none" dirty="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ja" sz="1000" b="0" i="0" u="none" strike="noStrike" cap="none" dirty="0">
                  <a:solidFill>
                    <a:srgbClr val="40404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 // 終端操作</a:t>
              </a:r>
              <a:endParaRPr sz="1000" b="0" i="0" u="none" strike="noStrike" cap="none" dirty="0">
                <a:solidFill>
                  <a:srgbClr val="40404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5"/>
          <p:cNvPicPr preferRelativeResize="0"/>
          <p:nvPr/>
        </p:nvPicPr>
        <p:blipFill rotWithShape="1">
          <a:blip r:embed="rId3">
            <a:alphaModFix/>
          </a:blip>
          <a:srcRect t="30" b="259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"/>
          <p:cNvSpPr txBox="1"/>
          <p:nvPr/>
        </p:nvSpPr>
        <p:spPr>
          <a:xfrm>
            <a:off x="609600" y="318135"/>
            <a:ext cx="709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特徴①：連続した「1つの流れ」で記述できる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2" name="Google Shape;372;p5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" sz="18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コードを順を追って理解が可能</a:t>
            </a:r>
            <a:endParaRPr sz="18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373" name="Google Shape;373;p5"/>
          <p:cNvSpPr/>
          <p:nvPr/>
        </p:nvSpPr>
        <p:spPr>
          <a:xfrm>
            <a:off x="571500" y="1524000"/>
            <a:ext cx="8001000" cy="2857500"/>
          </a:xfrm>
          <a:prstGeom prst="roundRect">
            <a:avLst>
              <a:gd name="adj" fmla="val 3333"/>
            </a:avLst>
          </a:prstGeom>
          <a:solidFill>
            <a:srgbClr val="F8F9FA"/>
          </a:solidFill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5"/>
          <p:cNvGrpSpPr/>
          <p:nvPr/>
        </p:nvGrpSpPr>
        <p:grpSpPr>
          <a:xfrm>
            <a:off x="952500" y="2457450"/>
            <a:ext cx="1333500" cy="876300"/>
            <a:chOff x="952500" y="2457450"/>
            <a:chExt cx="1333500" cy="876300"/>
          </a:xfrm>
        </p:grpSpPr>
        <p:sp>
          <p:nvSpPr>
            <p:cNvPr id="375" name="Google Shape;375;p5"/>
            <p:cNvSpPr/>
            <p:nvPr/>
          </p:nvSpPr>
          <p:spPr>
            <a:xfrm>
              <a:off x="952500" y="2571750"/>
              <a:ext cx="1333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"/>
            <p:cNvSpPr txBox="1"/>
            <p:nvPr/>
          </p:nvSpPr>
          <p:spPr>
            <a:xfrm>
              <a:off x="952500" y="25717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データソース</a:t>
              </a:r>
              <a:endParaRPr sz="14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952500" y="2457450"/>
              <a:ext cx="1333500" cy="228600"/>
            </a:xfrm>
            <a:prstGeom prst="roundRect">
              <a:avLst>
                <a:gd name="adj" fmla="val 16666"/>
              </a:avLst>
            </a:prstGeom>
            <a:solidFill>
              <a:srgbClr val="6C757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5"/>
            <p:cNvSpPr txBox="1"/>
            <p:nvPr/>
          </p:nvSpPr>
          <p:spPr>
            <a:xfrm>
              <a:off x="952500" y="24574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" sz="1200" b="1" i="0" u="none" strike="noStrike" cap="non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START</a:t>
              </a:r>
              <a:endParaRPr sz="1200" b="1" i="0" u="none" strike="noStrike" cap="non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pic>
        <p:nvPicPr>
          <p:cNvPr id="379" name="Google Shape;37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36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146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1" name="Google Shape;381;p5"/>
          <p:cNvGrpSpPr/>
          <p:nvPr/>
        </p:nvGrpSpPr>
        <p:grpSpPr>
          <a:xfrm>
            <a:off x="2857500" y="2571750"/>
            <a:ext cx="1524000" cy="762000"/>
            <a:chOff x="2857500" y="2571750"/>
            <a:chExt cx="1524000" cy="762000"/>
          </a:xfrm>
        </p:grpSpPr>
        <p:sp>
          <p:nvSpPr>
            <p:cNvPr id="382" name="Google Shape;382;p5"/>
            <p:cNvSpPr/>
            <p:nvPr/>
          </p:nvSpPr>
          <p:spPr>
            <a:xfrm>
              <a:off x="2857500" y="257175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5"/>
            <p:cNvSpPr txBox="1"/>
            <p:nvPr/>
          </p:nvSpPr>
          <p:spPr>
            <a:xfrm>
              <a:off x="2857500" y="25717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絞り込み</a:t>
              </a:r>
              <a:endParaRPr sz="14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007B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.filter()</a:t>
              </a:r>
              <a:endParaRPr sz="1400" b="1" i="0" u="none" strike="noStrike" cap="none">
                <a:solidFill>
                  <a:srgbClr val="007B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84" name="Google Shape;38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1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101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5"/>
          <p:cNvGrpSpPr/>
          <p:nvPr/>
        </p:nvGrpSpPr>
        <p:grpSpPr>
          <a:xfrm>
            <a:off x="4953000" y="2571750"/>
            <a:ext cx="1524000" cy="762000"/>
            <a:chOff x="4953000" y="2571750"/>
            <a:chExt cx="1524000" cy="762000"/>
          </a:xfrm>
        </p:grpSpPr>
        <p:sp>
          <p:nvSpPr>
            <p:cNvPr id="387" name="Google Shape;387;p5"/>
            <p:cNvSpPr/>
            <p:nvPr/>
          </p:nvSpPr>
          <p:spPr>
            <a:xfrm>
              <a:off x="4953000" y="2571750"/>
              <a:ext cx="1524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5"/>
            <p:cNvSpPr txBox="1"/>
            <p:nvPr/>
          </p:nvSpPr>
          <p:spPr>
            <a:xfrm>
              <a:off x="4953000" y="2571750"/>
              <a:ext cx="152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変換</a:t>
              </a:r>
              <a:endParaRPr sz="14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1" i="0" u="none" strike="noStrike" cap="none">
                  <a:solidFill>
                    <a:srgbClr val="007B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.map()</a:t>
              </a:r>
              <a:endParaRPr sz="1400" b="1" i="0" u="none" strike="noStrike" cap="none">
                <a:solidFill>
                  <a:srgbClr val="007B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89" name="Google Shape;38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5" y="2933700"/>
            <a:ext cx="381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05625" y="2905125"/>
            <a:ext cx="95400" cy="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1" name="Google Shape;391;p5"/>
          <p:cNvGrpSpPr/>
          <p:nvPr/>
        </p:nvGrpSpPr>
        <p:grpSpPr>
          <a:xfrm>
            <a:off x="7048500" y="2457450"/>
            <a:ext cx="1333500" cy="876300"/>
            <a:chOff x="7048500" y="2457450"/>
            <a:chExt cx="1333500" cy="876300"/>
          </a:xfrm>
        </p:grpSpPr>
        <p:sp>
          <p:nvSpPr>
            <p:cNvPr id="392" name="Google Shape;392;p5"/>
            <p:cNvSpPr/>
            <p:nvPr/>
          </p:nvSpPr>
          <p:spPr>
            <a:xfrm>
              <a:off x="7048500" y="2571750"/>
              <a:ext cx="13335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"/>
            <p:cNvSpPr txBox="1"/>
            <p:nvPr/>
          </p:nvSpPr>
          <p:spPr>
            <a:xfrm>
              <a:off x="7048500" y="2571750"/>
              <a:ext cx="133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" sz="14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結果の収集</a:t>
              </a:r>
              <a:endParaRPr sz="14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7048500" y="2457450"/>
              <a:ext cx="1333500" cy="228600"/>
            </a:xfrm>
            <a:prstGeom prst="roundRect">
              <a:avLst>
                <a:gd name="adj" fmla="val 16666"/>
              </a:avLst>
            </a:prstGeom>
            <a:solidFill>
              <a:srgbClr val="E539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5"/>
            <p:cNvSpPr txBox="1"/>
            <p:nvPr/>
          </p:nvSpPr>
          <p:spPr>
            <a:xfrm>
              <a:off x="7048500" y="2457450"/>
              <a:ext cx="1333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" sz="1200" b="1" i="0" u="none" strike="noStrike" cap="none">
                  <a:solidFill>
                    <a:srgbClr val="FFFF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GOAL</a:t>
              </a:r>
              <a:endParaRPr sz="1200" b="1" i="0" u="none" strike="noStrike" cap="non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sp>
        <p:nvSpPr>
          <p:cNvPr id="396" name="Google Shape;396;p5"/>
          <p:cNvSpPr txBox="1"/>
          <p:nvPr/>
        </p:nvSpPr>
        <p:spPr>
          <a:xfrm>
            <a:off x="7829550" y="4924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97" name="Google Shape;397;p5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6"/>
          <p:cNvPicPr preferRelativeResize="0"/>
          <p:nvPr/>
        </p:nvPicPr>
        <p:blipFill rotWithShape="1">
          <a:blip r:embed="rId3">
            <a:alphaModFix/>
          </a:blip>
          <a:srcRect t="30" b="259"/>
          <a:stretch/>
        </p:blipFill>
        <p:spPr>
          <a:xfrm>
            <a:off x="8481060" y="301943"/>
            <a:ext cx="359100" cy="4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6"/>
          <p:cNvSpPr/>
          <p:nvPr/>
        </p:nvSpPr>
        <p:spPr>
          <a:xfrm>
            <a:off x="448627" y="367665"/>
            <a:ext cx="91500" cy="285900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6"/>
          <p:cNvSpPr txBox="1"/>
          <p:nvPr/>
        </p:nvSpPr>
        <p:spPr>
          <a:xfrm>
            <a:off x="609600" y="318125"/>
            <a:ext cx="7726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" sz="22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特徴②：メソッドを使用することで処理内容がわかりやすい </a:t>
            </a:r>
            <a:endParaRPr sz="22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5" name="Google Shape;405;p6"/>
          <p:cNvSpPr txBox="1"/>
          <p:nvPr/>
        </p:nvSpPr>
        <p:spPr>
          <a:xfrm>
            <a:off x="571500" y="9525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ja" sz="1800" b="1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rPr>
              <a:t>「何をしたいか」で記述する</a:t>
            </a:r>
            <a:endParaRPr sz="1800" b="1" i="0" u="none" strike="noStrike" cap="none">
              <a:solidFill>
                <a:srgbClr val="40404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6" name="Google Shape;406;p6"/>
          <p:cNvSpPr/>
          <p:nvPr/>
        </p:nvSpPr>
        <p:spPr>
          <a:xfrm>
            <a:off x="571500" y="4000500"/>
            <a:ext cx="8001000" cy="571500"/>
          </a:xfrm>
          <a:prstGeom prst="roundRect">
            <a:avLst>
              <a:gd name="adj" fmla="val 50000"/>
            </a:avLst>
          </a:prstGeom>
          <a:solidFill>
            <a:srgbClr val="FEEBEE"/>
          </a:solidFill>
          <a:ln w="9525" cap="flat" cmpd="sng">
            <a:solidFill>
              <a:srgbClr val="EF9A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"/>
          <p:cNvSpPr txBox="1"/>
          <p:nvPr/>
        </p:nvSpPr>
        <p:spPr>
          <a:xfrm>
            <a:off x="571500" y="4000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ja" sz="1600" b="1" i="0" u="none" strike="noStrike" cap="none">
                <a:solidFill>
                  <a:srgbClr val="E53935"/>
                </a:solidFill>
                <a:latin typeface="Noto Sans JP"/>
                <a:ea typeface="Noto Sans JP"/>
                <a:cs typeface="Noto Sans JP"/>
                <a:sym typeface="Noto Sans JP"/>
              </a:rPr>
              <a:t>処理の内容が直感的に理解しやすい</a:t>
            </a:r>
            <a:endParaRPr sz="1600" b="1" i="0" u="none" strike="noStrike" cap="none">
              <a:solidFill>
                <a:srgbClr val="E53935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08" name="Google Shape;408;p6"/>
          <p:cNvSpPr txBox="1"/>
          <p:nvPr/>
        </p:nvSpPr>
        <p:spPr>
          <a:xfrm>
            <a:off x="7829550" y="4924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2026/05/29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9" name="Google Shape;409;p6"/>
          <p:cNvSpPr txBox="1"/>
          <p:nvPr/>
        </p:nvSpPr>
        <p:spPr>
          <a:xfrm>
            <a:off x="8477250" y="4924425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ja" sz="600" b="1" i="0" u="none" strike="noStrike" cap="none">
                <a:solidFill>
                  <a:srgbClr val="40404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 sz="600" b="1" i="0" u="none" strike="noStrike" cap="none">
              <a:solidFill>
                <a:srgbClr val="40404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410" name="Google Shape;410;p6"/>
          <p:cNvGrpSpPr/>
          <p:nvPr/>
        </p:nvGrpSpPr>
        <p:grpSpPr>
          <a:xfrm>
            <a:off x="5967450" y="1909047"/>
            <a:ext cx="2667000" cy="1265700"/>
            <a:chOff x="5905500" y="1655997"/>
            <a:chExt cx="2667000" cy="1265700"/>
          </a:xfrm>
        </p:grpSpPr>
        <p:sp>
          <p:nvSpPr>
            <p:cNvPr id="411" name="Google Shape;411;p6"/>
            <p:cNvSpPr/>
            <p:nvPr/>
          </p:nvSpPr>
          <p:spPr>
            <a:xfrm>
              <a:off x="5905500" y="1655997"/>
              <a:ext cx="2667000" cy="1265700"/>
            </a:xfrm>
            <a:prstGeom prst="roundRect">
              <a:avLst>
                <a:gd name="adj" fmla="val 6020"/>
              </a:avLst>
            </a:prstGeom>
            <a:solidFill>
              <a:srgbClr val="F8F9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6"/>
            <p:cNvSpPr txBox="1"/>
            <p:nvPr/>
          </p:nvSpPr>
          <p:spPr>
            <a:xfrm>
              <a:off x="6048375" y="1655997"/>
              <a:ext cx="2381400" cy="12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.stream()</a:t>
              </a:r>
              <a:r>
                <a:rPr lang="ja" sz="11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データを流し始める</a:t>
              </a:r>
              <a:endParaRPr sz="11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.filter()</a:t>
              </a:r>
              <a:r>
                <a:rPr lang="ja" sz="11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条件で絞り込む</a:t>
              </a:r>
              <a:endParaRPr sz="11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>
                  <a:solidFill>
                    <a:srgbClr val="007BFF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.map()</a:t>
              </a:r>
              <a:r>
                <a:rPr lang="ja" sz="11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別の形に変換する</a:t>
              </a:r>
              <a:endParaRPr sz="11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1" i="0" u="none" strike="noStrike" cap="none">
                  <a:solidFill>
                    <a:srgbClr val="E53935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.toList()</a:t>
              </a:r>
              <a:r>
                <a:rPr lang="ja" sz="1100" b="0" i="0" u="none" strike="noStrike" cap="none">
                  <a:solidFill>
                    <a:srgbClr val="404040"/>
                  </a:solidFill>
                  <a:latin typeface="Noto Sans JP"/>
                  <a:ea typeface="Noto Sans JP"/>
                  <a:cs typeface="Noto Sans JP"/>
                  <a:sym typeface="Noto Sans JP"/>
                </a:rPr>
                <a:t>: 結果をリストに集める</a:t>
              </a:r>
              <a:endParaRPr sz="1100" b="0" i="0" u="none" strike="noStrike" cap="none">
                <a:solidFill>
                  <a:srgbClr val="404040"/>
                </a:solidFill>
                <a:latin typeface="Noto Sans JP"/>
                <a:ea typeface="Noto Sans JP"/>
                <a:cs typeface="Noto Sans JP"/>
                <a:sym typeface="Noto Sans JP"/>
              </a:endParaRPr>
            </a:p>
          </p:txBody>
        </p:sp>
      </p:grpSp>
      <p:grpSp>
        <p:nvGrpSpPr>
          <p:cNvPr id="413" name="Google Shape;413;p6"/>
          <p:cNvGrpSpPr/>
          <p:nvPr/>
        </p:nvGrpSpPr>
        <p:grpSpPr>
          <a:xfrm>
            <a:off x="784775" y="1281826"/>
            <a:ext cx="4952899" cy="2499798"/>
            <a:chOff x="854627" y="1047755"/>
            <a:chExt cx="6561000" cy="3238500"/>
          </a:xfrm>
        </p:grpSpPr>
        <p:sp>
          <p:nvSpPr>
            <p:cNvPr id="414" name="Google Shape;414;p6"/>
            <p:cNvSpPr/>
            <p:nvPr/>
          </p:nvSpPr>
          <p:spPr>
            <a:xfrm>
              <a:off x="854627" y="1860323"/>
              <a:ext cx="6561000" cy="1639800"/>
            </a:xfrm>
            <a:prstGeom prst="roundRect">
              <a:avLst>
                <a:gd name="adj" fmla="val 2777"/>
              </a:avLst>
            </a:prstGeom>
            <a:solidFill>
              <a:srgbClr val="2D2D2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6"/>
            <p:cNvSpPr txBox="1"/>
            <p:nvPr/>
          </p:nvSpPr>
          <p:spPr>
            <a:xfrm>
              <a:off x="951363" y="1047755"/>
              <a:ext cx="6182400" cy="3238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[] fruits = {</a:t>
              </a:r>
              <a:r>
                <a:rPr lang="ja" sz="1100" b="0" i="0" u="none" strike="noStrike" cap="none">
                  <a:solidFill>
                    <a:srgbClr val="CE917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"apple"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...};</a:t>
              </a:r>
              <a:endParaRPr sz="11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List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</a:t>
              </a:r>
              <a:r>
                <a:rPr lang="ja" sz="11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&gt; result = </a:t>
              </a:r>
              <a:r>
                <a:rPr lang="ja" sz="11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Arrays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.stream(fruits)</a:t>
              </a:r>
              <a:endParaRPr sz="11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15240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.filter(s -&gt; s.length() &gt;= </a:t>
              </a:r>
              <a:r>
                <a:rPr lang="ja" sz="1100" b="0" i="0" u="none" strike="noStrike" cap="none">
                  <a:solidFill>
                    <a:srgbClr val="B5CEA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1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15240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.map(</a:t>
              </a:r>
              <a:r>
                <a:rPr lang="ja" sz="1100" b="0" i="0" u="none" strike="noStrike" cap="none">
                  <a:solidFill>
                    <a:srgbClr val="4EC9B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String</a:t>
              </a: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::toUpperCase)</a:t>
              </a:r>
              <a:endParaRPr sz="11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15240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ja" sz="1100" b="0" i="0" u="none" strike="noStrike" cap="none">
                  <a:solidFill>
                    <a:srgbClr val="DCDCD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.toList();</a:t>
              </a:r>
              <a:endParaRPr sz="1100" b="0" i="0" u="none" strike="noStrike" cap="none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1594</Words>
  <Application>Microsoft Office PowerPoint</Application>
  <PresentationFormat>画面に合わせる (16:9)</PresentationFormat>
  <Paragraphs>185</Paragraphs>
  <Slides>17</Slides>
  <Notes>17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17</vt:i4>
      </vt:variant>
    </vt:vector>
  </HeadingPairs>
  <TitlesOfParts>
    <vt:vector size="26" baseType="lpstr">
      <vt:lpstr>Consolas</vt:lpstr>
      <vt:lpstr>Noto Sans JP</vt:lpstr>
      <vt:lpstr>Mate</vt:lpstr>
      <vt:lpstr>Courier New</vt:lpstr>
      <vt:lpstr>Arial</vt:lpstr>
      <vt:lpstr>Noto Sans</vt:lpstr>
      <vt:lpstr>Calibri</vt:lpstr>
      <vt:lpstr>Simple Light</vt:lpstr>
      <vt:lpstr>Simple Light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長野　椋太</cp:lastModifiedBy>
  <cp:revision>29</cp:revision>
  <dcterms:modified xsi:type="dcterms:W3CDTF">2026-06-03T12:14:20Z</dcterms:modified>
</cp:coreProperties>
</file>