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Noto Sans" panose="020B0502040504020204" pitchFamily="34" charset="0"/>
      <p:regular r:id="rId24"/>
      <p:bold r:id="rId25"/>
      <p:italic r:id="rId26"/>
      <p:boldItalic r:id="rId27"/>
    </p:embeddedFont>
    <p:embeddedFont>
      <p:font typeface="Noto Sans JP" panose="020B0200000000000000" pitchFamily="34" charset="-128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  <p15:guide id="2" orient="horz" pos="162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z+nevbcRCWwTXQdI8DxeST7yH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customschemas.google.com/relationships/presentationmetadata" Target="meta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a76c1784_0_1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eca76c1784_0_1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a76c178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eca76c178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a76c178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eca76c178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ca76c178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eca76c178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858c16184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858c16184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597baf9a4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e597baf9a4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597baf9a4_0_1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3e597baf9a4_0_1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"/>
              <a:t>ラムダ式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597baf9a4_0_2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e597baf9a4_0_2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597baf9a4_0_2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e597baf9a4_0_2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597baf9a4_0_2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e597baf9a4_0_2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55cd1e1e3_10_0)">
  <p:cSld name="Generated (g3e55cd1e1e3_10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72b96d2cb_7_0)">
  <p:cSld name="Generated (g3e72b96d2cb_7_0)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個別ページ">
  <p:cSld name="CUSTOM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9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9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>
  <p:cSld name="CUSTOM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0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ca6f565c2_7_0)">
  <p:cSld name="Generated (g3eca6f565c2_7_0)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55cd1e1e3_10_0)">
  <p:cSld name="Generated (g3e55cd1e1e3_10_0)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72b96d2cb_7_0)">
  <p:cSld name="Generated (g3e72b96d2cb_7_0)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個別ページ">
  <p:cSld name="CUSTOM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e858c16184_0_1574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e858c16184_0_1574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858c16184_0_1574"/>
          <p:cNvSpPr txBox="1">
            <a:spLocks noGrp="1"/>
          </p:cNvSpPr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/>
          </a:p>
        </p:txBody>
      </p:sp>
      <p:sp>
        <p:nvSpPr>
          <p:cNvPr id="72" name="Google Shape;72;g3e858c16184_0_15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e858c16184_0_1579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e858c16184_0_15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858c16184_0_15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858c16184_0_158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9" name="Google Shape;79;g3e858c16184_0_158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" name="Google Shape;80;g3e858c16184_0_15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58c16184_0_158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3" name="Google Shape;83;g3e858c16184_0_15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58c16184_0_15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e858c16184_0_15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g3e858c16184_0_15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858c16184_0_15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e858c16184_0_15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1" name="Google Shape;91;g3e858c16184_0_159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g3e858c16184_0_15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858c16184_0_15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e858c16184_0_15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858c16184_0_160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g3e858c16184_0_160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g3e858c16184_0_16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858c16184_0_160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2" name="Google Shape;102;g3e858c16184_0_160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58c16184_0_160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858c16184_0_160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6" name="Google Shape;106;g3e858c16184_0_160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7" name="Google Shape;107;g3e858c16184_0_160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g3e858c16184_0_16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858c16184_0_16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1" name="Google Shape;111;g3e858c16184_0_16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858c16184_0_16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g3e858c16184_0_16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g3e858c16184_0_16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858c16184_0_16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ca6f565c2_7_0)">
  <p:cSld name="Generated (g3eca6f565c2_7_0)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58c16184_0_15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e858c16184_0_15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e858c16184_0_15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t="189" b="199"/>
          <a:stretch/>
        </p:blipFill>
        <p:spPr>
          <a:xfrm>
            <a:off x="290036" y="251555"/>
            <a:ext cx="520200" cy="6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099" y="3279839"/>
            <a:ext cx="776400" cy="1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/>
        </p:nvSpPr>
        <p:spPr>
          <a:xfrm>
            <a:off x="762000" y="2000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ja" sz="36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APIを理解する</a:t>
            </a:r>
            <a:endParaRPr sz="36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3810000" y="36195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" sz="11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長野 椋太</a:t>
            </a:r>
            <a:endParaRPr sz="11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55D23F-C309-0209-C205-C93DA333DBA7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eca76c1784_0_1289"/>
          <p:cNvGrpSpPr/>
          <p:nvPr/>
        </p:nvGrpSpPr>
        <p:grpSpPr>
          <a:xfrm>
            <a:off x="494377" y="1454451"/>
            <a:ext cx="8462071" cy="2234598"/>
            <a:chOff x="523875" y="997793"/>
            <a:chExt cx="8156195" cy="4646700"/>
          </a:xfrm>
        </p:grpSpPr>
        <p:sp>
          <p:nvSpPr>
            <p:cNvPr id="134" name="Google Shape;134;g3eca76c1784_0_1289"/>
            <p:cNvSpPr/>
            <p:nvPr/>
          </p:nvSpPr>
          <p:spPr>
            <a:xfrm>
              <a:off x="523875" y="997793"/>
              <a:ext cx="8096400" cy="4646700"/>
            </a:xfrm>
            <a:prstGeom prst="roundRect">
              <a:avLst>
                <a:gd name="adj" fmla="val 2049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" name="Google Shape;135;g3eca76c1784_0_1289"/>
            <p:cNvGrpSpPr/>
            <p:nvPr/>
          </p:nvGrpSpPr>
          <p:grpSpPr>
            <a:xfrm>
              <a:off x="761999" y="1288207"/>
              <a:ext cx="3940705" cy="4065900"/>
              <a:chOff x="761999" y="1288207"/>
              <a:chExt cx="3940705" cy="4065900"/>
            </a:xfrm>
          </p:grpSpPr>
          <p:sp>
            <p:nvSpPr>
              <p:cNvPr id="136" name="Google Shape;136;g3eca76c1784_0_1289"/>
              <p:cNvSpPr/>
              <p:nvPr/>
            </p:nvSpPr>
            <p:spPr>
              <a:xfrm>
                <a:off x="7620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g3eca76c1784_0_1289"/>
              <p:cNvSpPr txBox="1"/>
              <p:nvPr/>
            </p:nvSpPr>
            <p:spPr>
              <a:xfrm>
                <a:off x="761999" y="1288207"/>
                <a:ext cx="3940705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前半：Stream APIの基本を理解する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87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01</a:t>
                </a:r>
                <a:r>
                  <a:rPr lang="ja" sz="1800" b="0" i="0" u="none" strike="noStrike" cap="none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APIとは何か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02</a:t>
                </a:r>
                <a:r>
                  <a:rPr lang="ja" sz="1800" b="0" i="0" u="none" strike="noStrike" cap="none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APIの特徴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03</a:t>
                </a:r>
                <a:r>
                  <a:rPr lang="ja" sz="1800" b="0" i="0" u="none" strike="noStrike" cap="none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APIの書き方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138" name="Google Shape;138;g3eca76c1784_0_1289"/>
            <p:cNvGrpSpPr/>
            <p:nvPr/>
          </p:nvGrpSpPr>
          <p:grpSpPr>
            <a:xfrm>
              <a:off x="4762499" y="1288207"/>
              <a:ext cx="3917571" cy="4065900"/>
              <a:chOff x="4762499" y="1288207"/>
              <a:chExt cx="3917571" cy="4065900"/>
            </a:xfrm>
          </p:grpSpPr>
          <p:sp>
            <p:nvSpPr>
              <p:cNvPr id="139" name="Google Shape;139;g3eca76c1784_0_1289"/>
              <p:cNvSpPr/>
              <p:nvPr/>
            </p:nvSpPr>
            <p:spPr>
              <a:xfrm>
                <a:off x="4762500" y="1288207"/>
                <a:ext cx="3619500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g3eca76c1784_0_1289"/>
              <p:cNvSpPr txBox="1"/>
              <p:nvPr/>
            </p:nvSpPr>
            <p:spPr>
              <a:xfrm>
                <a:off x="4762499" y="1288207"/>
                <a:ext cx="3917571" cy="406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後半：Stream APIを使う場面を考える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87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04</a:t>
                </a:r>
                <a:r>
                  <a:rPr lang="ja" sz="1800" b="0" i="0" u="none" strike="noStrike" cap="none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利点・欠点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ja" sz="1800" b="1" i="0" u="none" strike="noStrike" cap="none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05</a:t>
                </a:r>
                <a:r>
                  <a:rPr lang="ja" sz="1800" b="0" i="0" u="none" strike="noStrike" cap="none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 Stream APIが向いている用途</a:t>
                </a:r>
                <a:endParaRPr sz="18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sp>
        <p:nvSpPr>
          <p:cNvPr id="141" name="Google Shape;141;g3eca76c1784_0_128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ca76c1784_0_1289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43" name="Google Shape;143;g3eca76c1784_0_1289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eca76c1784_0_128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g3eca76c1784_0_1289"/>
          <p:cNvSpPr txBox="1"/>
          <p:nvPr/>
        </p:nvSpPr>
        <p:spPr>
          <a:xfrm>
            <a:off x="2408394" y="4270368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APIを読んで理解できる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44C357-99BF-523C-E4F9-146B80C74ED0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eca76c1784_0_113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ca76c1784_0_11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ca76c1784_0_113"/>
          <p:cNvSpPr txBox="1"/>
          <p:nvPr/>
        </p:nvSpPr>
        <p:spPr>
          <a:xfrm>
            <a:off x="7286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</a:t>
            </a:r>
            <a:endParaRPr sz="2200" b="1" i="0" u="none" strike="noStrike" cap="non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4" name="Google Shape;154;g3eca76c1784_0_113"/>
          <p:cNvSpPr txBox="1"/>
          <p:nvPr/>
        </p:nvSpPr>
        <p:spPr>
          <a:xfrm>
            <a:off x="540127" y="1670755"/>
            <a:ext cx="83133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190500" tIns="190500" rIns="190500" bIns="190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2400" b="1" i="0" u="none" strike="noStrike" cap="none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拡張for文で書いたような配列やListの処理を</a:t>
            </a:r>
            <a:endParaRPr sz="2400" b="1" i="0" u="none" strike="noStrike" cap="none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2400" b="1" i="0" u="none" strike="noStrike" cap="none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段階に分けて書ける仕組み</a:t>
            </a:r>
            <a:endParaRPr sz="2400" b="1" i="0" u="none" strike="noStrike" cap="none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6" name="Google Shape;156;g3eca76c1784_0_113"/>
          <p:cNvSpPr txBox="1"/>
          <p:nvPr/>
        </p:nvSpPr>
        <p:spPr>
          <a:xfrm>
            <a:off x="2830872" y="4240535"/>
            <a:ext cx="530253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b="1" i="0" u="none" strike="noStrike" cap="non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拡張for文の別の書き方なんだな～～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D443176-598A-089A-DC61-8A34387E7779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eca76c1784_0_87"/>
          <p:cNvPicPr preferRelativeResize="0"/>
          <p:nvPr/>
        </p:nvPicPr>
        <p:blipFill rotWithShape="1">
          <a:blip r:embed="rId3">
            <a:alphaModFix/>
          </a:blip>
          <a:srcRect t="199" b="199"/>
          <a:stretch/>
        </p:blipFill>
        <p:spPr>
          <a:xfrm>
            <a:off x="8480965" y="302419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eca76c1784_0_87"/>
          <p:cNvSpPr/>
          <p:nvPr/>
        </p:nvSpPr>
        <p:spPr>
          <a:xfrm>
            <a:off x="448627" y="367379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a76c1784_0_87"/>
          <p:cNvSpPr/>
          <p:nvPr/>
        </p:nvSpPr>
        <p:spPr>
          <a:xfrm>
            <a:off x="381000" y="1162050"/>
            <a:ext cx="4095900" cy="3600450"/>
          </a:xfrm>
          <a:prstGeom prst="roundRect">
            <a:avLst>
              <a:gd name="adj" fmla="val 3076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ca76c1784_0_87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 dirty="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拡張for文</a:t>
            </a:r>
            <a:endParaRPr sz="2200" b="1" i="0" u="none" strike="noStrike" cap="none" dirty="0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69" name="Google Shape;169;g3eca76c1784_0_87"/>
          <p:cNvGrpSpPr/>
          <p:nvPr/>
        </p:nvGrpSpPr>
        <p:grpSpPr>
          <a:xfrm>
            <a:off x="4176713" y="2847975"/>
            <a:ext cx="443062" cy="95400"/>
            <a:chOff x="4176713" y="2847975"/>
            <a:chExt cx="443062" cy="95400"/>
          </a:xfrm>
        </p:grpSpPr>
        <p:pic>
          <p:nvPicPr>
            <p:cNvPr id="170" name="Google Shape;170;g3eca76c1784_0_87"/>
            <p:cNvPicPr preferRelativeResize="0"/>
            <p:nvPr/>
          </p:nvPicPr>
          <p:blipFill rotWithShape="1">
            <a:blip r:embed="rId4">
              <a:alphaModFix/>
            </a:blip>
            <a:srcRect t="150" b="160"/>
            <a:stretch/>
          </p:blipFill>
          <p:spPr>
            <a:xfrm>
              <a:off x="4176713" y="2881313"/>
              <a:ext cx="362100" cy="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g3eca76c1784_0_8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24375" y="2847975"/>
              <a:ext cx="95400" cy="95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g3eca76c1784_0_87"/>
          <p:cNvSpPr txBox="1"/>
          <p:nvPr/>
        </p:nvSpPr>
        <p:spPr>
          <a:xfrm>
            <a:off x="448625" y="1395662"/>
            <a:ext cx="4095900" cy="31953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1. 配列を定義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lang="ja" sz="105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05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05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05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"fig"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2. 結果を格納するリスト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ja" sz="1050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3. 配列を1つずつ取り出して処理する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4. 文字列の長さが 4文字以上かを判定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&gt;= </a:t>
            </a:r>
            <a:r>
              <a:rPr lang="ja" sz="1050" b="0" i="0" u="none" strike="noStrike" cap="none" dirty="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5. 大文字に変換してリストに追加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ja" sz="1050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105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ja" sz="105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g3eca76c1784_0_87"/>
          <p:cNvSpPr txBox="1"/>
          <p:nvPr/>
        </p:nvSpPr>
        <p:spPr>
          <a:xfrm>
            <a:off x="5095874" y="1509092"/>
            <a:ext cx="31908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記述の特徴</a:t>
            </a:r>
            <a:endParaRPr sz="14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手順（HOW）にフォーカスして記述</a:t>
            </a:r>
            <a:endParaRPr sz="14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74" name="Google Shape;174;g3eca76c1784_0_87"/>
          <p:cNvSpPr txBox="1"/>
          <p:nvPr/>
        </p:nvSpPr>
        <p:spPr>
          <a:xfrm>
            <a:off x="478875" y="735462"/>
            <a:ext cx="8091000" cy="2769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0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例: 4文字以上の果物名を大文字にして、リストにまとめる</a:t>
            </a:r>
            <a:endParaRPr sz="1800" b="0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175" name="Google Shape;175;g3eca76c1784_0_87"/>
          <p:cNvCxnSpPr/>
          <p:nvPr/>
        </p:nvCxnSpPr>
        <p:spPr>
          <a:xfrm>
            <a:off x="0" y="2589781"/>
            <a:ext cx="3810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g3eca76c1784_0_87"/>
          <p:cNvCxnSpPr/>
          <p:nvPr/>
        </p:nvCxnSpPr>
        <p:spPr>
          <a:xfrm>
            <a:off x="0" y="3018406"/>
            <a:ext cx="3810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772319-FACC-E4AB-7718-F755295BC0FF}"/>
              </a:ext>
            </a:extLst>
          </p:cNvPr>
          <p:cNvSpPr txBox="1"/>
          <p:nvPr/>
        </p:nvSpPr>
        <p:spPr>
          <a:xfrm>
            <a:off x="5164815" y="3498430"/>
            <a:ext cx="3052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i="0" u="none" strike="noStrike" cap="none" dirty="0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処理の目的を強調して</a:t>
            </a:r>
            <a:endParaRPr lang="en-US" altLang="ja-JP" sz="1400" b="1" i="0" u="none" strike="noStrike" cap="none" dirty="0">
              <a:solidFill>
                <a:srgbClr val="FF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algn="ctr"/>
            <a:r>
              <a:rPr lang="ja-JP" altLang="en-US" sz="1400" b="1" i="0" u="none" strike="noStrike" cap="none" dirty="0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書きたい場合は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39105A-3E11-292B-3F07-A6651A8C2EC9}"/>
              </a:ext>
            </a:extLst>
          </p:cNvPr>
          <p:cNvSpPr txBox="1"/>
          <p:nvPr/>
        </p:nvSpPr>
        <p:spPr>
          <a:xfrm>
            <a:off x="4959927" y="274167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" altLang="ja-JP" sz="1400" b="1" i="0" u="none" strike="noStrike" cap="none" dirty="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変数の定義やループの手順が強調されやすい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B651C5-1191-5C25-6A88-0BF1F3CB1E34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eca76c1784_0_100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eca76c1784_0_100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ca76c1784_0_100"/>
          <p:cNvSpPr txBox="1"/>
          <p:nvPr/>
        </p:nvSpPr>
        <p:spPr>
          <a:xfrm>
            <a:off x="644307" y="317560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ja" sz="2200" b="1" i="0" u="none" strike="noStrike" cap="none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同じ処理をStream APIで書くと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5" name="Google Shape;185;g3eca76c1784_0_100"/>
          <p:cNvSpPr/>
          <p:nvPr/>
        </p:nvSpPr>
        <p:spPr>
          <a:xfrm>
            <a:off x="526725" y="889362"/>
            <a:ext cx="8090400" cy="1619400"/>
          </a:xfrm>
          <a:prstGeom prst="roundRect">
            <a:avLst>
              <a:gd name="adj" fmla="val 3478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eca76c1784_0_100"/>
          <p:cNvSpPr/>
          <p:nvPr/>
        </p:nvSpPr>
        <p:spPr>
          <a:xfrm>
            <a:off x="526732" y="3245155"/>
            <a:ext cx="8090400" cy="9525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9525" cap="flat" cmpd="sng">
            <a:solidFill>
              <a:srgbClr val="F08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eca76c1784_0_100"/>
          <p:cNvSpPr txBox="1"/>
          <p:nvPr/>
        </p:nvSpPr>
        <p:spPr>
          <a:xfrm>
            <a:off x="762000" y="1127487"/>
            <a:ext cx="7620000" cy="13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t" anchorCtr="0">
            <a:noAutofit/>
          </a:bodyPr>
          <a:lstStyle/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fruits = {</a:t>
            </a:r>
            <a:r>
              <a:rPr lang="ja" sz="130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“fig"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00" b="0" i="0" u="none" strike="noStrike" cap="none" dirty="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lvl="0">
              <a:buSzPts val="1300"/>
            </a:pPr>
            <a:r>
              <a:rPr lang="ja" sz="130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ja" sz="130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result = </a:t>
            </a:r>
            <a:r>
              <a:rPr lang="ja" sz="1300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.stream(fruits)</a:t>
            </a:r>
            <a:r>
              <a:rPr lang="ja" altLang="ja-JP" sz="13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// </a:t>
            </a:r>
            <a:r>
              <a:rPr lang="ja-JP" altLang="en-US" sz="13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要素を</a:t>
            </a:r>
            <a:r>
              <a:rPr lang="en-US" altLang="ja-JP" sz="13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ja-JP" altLang="en-US" sz="13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つずつ取得</a:t>
            </a:r>
            <a:endParaRPr sz="1300" b="0" i="0" u="none" strike="noStrike" cap="none" dirty="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.filter(s -&gt; s.length() &gt;= </a:t>
            </a:r>
            <a:r>
              <a:rPr lang="ja" sz="1300" b="0" i="0" u="none" strike="noStrike" cap="none" dirty="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4文字以上で絞り込む</a:t>
            </a:r>
            <a:endParaRPr sz="1300" b="0" i="0" u="none" strike="noStrike" cap="none" dirty="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.map(s -&gt; s.toUpperCase())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大文字に変換する</a:t>
            </a:r>
            <a:endParaRPr sz="1300" b="0" i="0" u="none" strike="noStrike" cap="none" dirty="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toList();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リストに格納する</a:t>
            </a:r>
            <a:endParaRPr sz="1300" b="0" i="0" u="none" strike="noStrike" cap="none" dirty="0">
              <a:solidFill>
                <a:srgbClr val="61AFE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g3eca76c1784_0_100"/>
          <p:cNvSpPr txBox="1"/>
          <p:nvPr/>
        </p:nvSpPr>
        <p:spPr>
          <a:xfrm>
            <a:off x="1055700" y="3273647"/>
            <a:ext cx="7032450" cy="841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ja-JP" altLang="en-US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拡張</a:t>
            </a:r>
            <a:r>
              <a:rPr lang="en-US" altLang="ja-JP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for</a:t>
            </a:r>
            <a:r>
              <a:rPr lang="ja-JP" altLang="en-US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文と同じ処理を</a:t>
            </a:r>
            <a:endParaRPr lang="en-US" altLang="ja-JP" sz="18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ja-JP" altLang="en-US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処理の役割ごとに上から順に並べて書ける</a:t>
            </a:r>
            <a:endParaRPr sz="18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Google Shape;190;g3eca76c1784_0_100">
            <a:extLst>
              <a:ext uri="{FF2B5EF4-FFF2-40B4-BE49-F238E27FC236}">
                <a16:creationId xmlns:a16="http://schemas.microsoft.com/office/drawing/2014/main" id="{D67379F6-8234-158F-02A4-ADCEF687BDAE}"/>
              </a:ext>
            </a:extLst>
          </p:cNvPr>
          <p:cNvSpPr txBox="1"/>
          <p:nvPr/>
        </p:nvSpPr>
        <p:spPr>
          <a:xfrm>
            <a:off x="1100955" y="2634739"/>
            <a:ext cx="703245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ja-JP" altLang="en-US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ここで理解してもらいたいこと！</a:t>
            </a:r>
            <a:endParaRPr sz="18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" name="Google Shape;190;g3eca76c1784_0_100">
            <a:extLst>
              <a:ext uri="{FF2B5EF4-FFF2-40B4-BE49-F238E27FC236}">
                <a16:creationId xmlns:a16="http://schemas.microsoft.com/office/drawing/2014/main" id="{261881E6-A2AE-B3E7-9EBF-FFC26F276E7F}"/>
              </a:ext>
            </a:extLst>
          </p:cNvPr>
          <p:cNvSpPr txBox="1"/>
          <p:nvPr/>
        </p:nvSpPr>
        <p:spPr>
          <a:xfrm>
            <a:off x="964890" y="4403785"/>
            <a:ext cx="751617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375"/>
              </a:spcBef>
            </a:pPr>
            <a:r>
              <a:rPr lang="en-US" altLang="ja-JP" sz="1800" b="1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r>
              <a:rPr lang="ja-JP" altLang="en-US" sz="1800" b="1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つの利点：処理の目的が理解しやすい記述となっている</a:t>
            </a:r>
            <a:endParaRPr sz="1200" b="1" i="0" u="none" strike="noStrike" cap="none" dirty="0">
              <a:solidFill>
                <a:schemeClr val="tx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71E253-63D1-A8DB-AB97-C145DE2FEED4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e858c16184_0_295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77250" y="295275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e858c16184_0_295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858c16184_0_295"/>
          <p:cNvSpPr txBox="1"/>
          <p:nvPr/>
        </p:nvSpPr>
        <p:spPr>
          <a:xfrm>
            <a:off x="628650" y="314325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APIの主な特徴</a:t>
            </a:r>
            <a:endParaRPr sz="22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0" name="Google Shape;200;g3e858c16184_0_295"/>
          <p:cNvSpPr txBox="1"/>
          <p:nvPr/>
        </p:nvSpPr>
        <p:spPr>
          <a:xfrm>
            <a:off x="571500" y="809625"/>
            <a:ext cx="4762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b="1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3段階の「型」で記述する</a:t>
            </a:r>
            <a:endParaRPr sz="1800" b="1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1" name="Google Shape;201;g3e858c16184_0_295"/>
          <p:cNvSpPr/>
          <p:nvPr/>
        </p:nvSpPr>
        <p:spPr>
          <a:xfrm>
            <a:off x="571500" y="1333500"/>
            <a:ext cx="8001000" cy="17145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e858c16184_0_295"/>
          <p:cNvSpPr/>
          <p:nvPr/>
        </p:nvSpPr>
        <p:spPr>
          <a:xfrm>
            <a:off x="1809750" y="1905000"/>
            <a:ext cx="381000" cy="381000"/>
          </a:xfrm>
          <a:prstGeom prst="ellipse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e858c16184_0_295"/>
          <p:cNvSpPr/>
          <p:nvPr/>
        </p:nvSpPr>
        <p:spPr>
          <a:xfrm>
            <a:off x="4381500" y="1905000"/>
            <a:ext cx="381000" cy="381000"/>
          </a:xfrm>
          <a:prstGeom prst="ellipse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e858c16184_0_295"/>
          <p:cNvSpPr/>
          <p:nvPr/>
        </p:nvSpPr>
        <p:spPr>
          <a:xfrm>
            <a:off x="6953250" y="1905000"/>
            <a:ext cx="381000" cy="381000"/>
          </a:xfrm>
          <a:prstGeom prst="ellipse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g3e858c16184_0_2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2076450"/>
            <a:ext cx="4762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e858c16184_0_2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6725" y="2028825"/>
            <a:ext cx="27195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e858c16184_0_295"/>
          <p:cNvSpPr txBox="1"/>
          <p:nvPr/>
        </p:nvSpPr>
        <p:spPr>
          <a:xfrm>
            <a:off x="1428750" y="2381250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生成</a:t>
            </a:r>
            <a:endParaRPr sz="14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データの準備</a:t>
            </a:r>
            <a:endParaRPr sz="12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8" name="Google Shape;208;g3e858c16184_0_295"/>
          <p:cNvSpPr txBox="1"/>
          <p:nvPr/>
        </p:nvSpPr>
        <p:spPr>
          <a:xfrm>
            <a:off x="4000500" y="2381250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中間操作</a:t>
            </a:r>
            <a:endParaRPr sz="14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データを処理</a:t>
            </a:r>
            <a:endParaRPr sz="12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9" name="Google Shape;209;g3e858c16184_0_295"/>
          <p:cNvSpPr txBox="1"/>
          <p:nvPr/>
        </p:nvSpPr>
        <p:spPr>
          <a:xfrm>
            <a:off x="6572250" y="2381250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終端操作</a:t>
            </a:r>
            <a:endParaRPr sz="14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データを集約</a:t>
            </a:r>
            <a:endParaRPr sz="1200" b="1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0" name="Google Shape;210;g3e858c16184_0_295"/>
          <p:cNvSpPr/>
          <p:nvPr/>
        </p:nvSpPr>
        <p:spPr>
          <a:xfrm>
            <a:off x="1143000" y="3238500"/>
            <a:ext cx="1714500" cy="1428900"/>
          </a:xfrm>
          <a:prstGeom prst="roundRect">
            <a:avLst>
              <a:gd name="adj" fmla="val 5333"/>
            </a:avLst>
          </a:prstGeom>
          <a:solidFill>
            <a:srgbClr val="2D2D2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858c16184_0_295"/>
          <p:cNvSpPr txBox="1"/>
          <p:nvPr/>
        </p:nvSpPr>
        <p:spPr>
          <a:xfrm>
            <a:off x="1143000" y="3238500"/>
            <a:ext cx="1714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Array</a:t>
            </a:r>
            <a:endParaRPr sz="1100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100" dirty="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endParaRPr sz="1100" dirty="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ja" sz="1100" dirty="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endParaRPr sz="1100" dirty="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12" name="Google Shape;212;g3e858c16184_0_295"/>
          <p:cNvGrpSpPr/>
          <p:nvPr/>
        </p:nvGrpSpPr>
        <p:grpSpPr>
          <a:xfrm>
            <a:off x="3571875" y="3286125"/>
            <a:ext cx="2190900" cy="1333575"/>
            <a:chOff x="3571875" y="3286125"/>
            <a:chExt cx="2190900" cy="1333575"/>
          </a:xfrm>
        </p:grpSpPr>
        <p:sp>
          <p:nvSpPr>
            <p:cNvPr id="213" name="Google Shape;213;g3e858c16184_0_295"/>
            <p:cNvSpPr/>
            <p:nvPr/>
          </p:nvSpPr>
          <p:spPr>
            <a:xfrm>
              <a:off x="3571875" y="3286125"/>
              <a:ext cx="1047900" cy="619200"/>
            </a:xfrm>
            <a:prstGeom prst="roundRect">
              <a:avLst>
                <a:gd name="adj" fmla="val 9230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g3e858c16184_0_295"/>
            <p:cNvSpPr/>
            <p:nvPr/>
          </p:nvSpPr>
          <p:spPr>
            <a:xfrm>
              <a:off x="4714875" y="3286125"/>
              <a:ext cx="1047900" cy="619200"/>
            </a:xfrm>
            <a:prstGeom prst="roundRect">
              <a:avLst>
                <a:gd name="adj" fmla="val 9230"/>
              </a:avLst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g3e858c16184_0_295"/>
            <p:cNvSpPr/>
            <p:nvPr/>
          </p:nvSpPr>
          <p:spPr>
            <a:xfrm>
              <a:off x="3571875" y="4000500"/>
              <a:ext cx="1047900" cy="619200"/>
            </a:xfrm>
            <a:prstGeom prst="roundRect">
              <a:avLst>
                <a:gd name="adj" fmla="val 9230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g3e858c16184_0_295"/>
            <p:cNvSpPr/>
            <p:nvPr/>
          </p:nvSpPr>
          <p:spPr>
            <a:xfrm>
              <a:off x="4714875" y="4000500"/>
              <a:ext cx="1047900" cy="619200"/>
            </a:xfrm>
            <a:prstGeom prst="roundRect">
              <a:avLst>
                <a:gd name="adj" fmla="val 923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g3e858c16184_0_295"/>
          <p:cNvSpPr txBox="1"/>
          <p:nvPr/>
        </p:nvSpPr>
        <p:spPr>
          <a:xfrm>
            <a:off x="3571875" y="3286125"/>
            <a:ext cx="10479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endParaRPr sz="10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g3e858c16184_0_295"/>
          <p:cNvSpPr txBox="1"/>
          <p:nvPr/>
        </p:nvSpPr>
        <p:spPr>
          <a:xfrm>
            <a:off x="4714875" y="3286125"/>
            <a:ext cx="10479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endParaRPr sz="1000" b="1">
              <a:solidFill>
                <a:srgbClr val="2E7D3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g3e858c16184_0_295"/>
          <p:cNvSpPr txBox="1"/>
          <p:nvPr/>
        </p:nvSpPr>
        <p:spPr>
          <a:xfrm>
            <a:off x="3571875" y="4000500"/>
            <a:ext cx="10479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ja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r>
              <a:rPr lang="ja" sz="10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0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g3e858c16184_0_295"/>
          <p:cNvSpPr txBox="1"/>
          <p:nvPr/>
        </p:nvSpPr>
        <p:spPr>
          <a:xfrm>
            <a:off x="4714875" y="4000500"/>
            <a:ext cx="10479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>
                <a:solidFill>
                  <a:srgbClr val="2E7D32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endParaRPr sz="1000" b="1">
              <a:solidFill>
                <a:srgbClr val="2E7D3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g3e858c16184_0_295"/>
          <p:cNvSpPr/>
          <p:nvPr/>
        </p:nvSpPr>
        <p:spPr>
          <a:xfrm>
            <a:off x="6286500" y="3238500"/>
            <a:ext cx="1905000" cy="1428900"/>
          </a:xfrm>
          <a:prstGeom prst="roundRect">
            <a:avLst>
              <a:gd name="adj" fmla="val 5333"/>
            </a:avLst>
          </a:prstGeom>
          <a:solidFill>
            <a:srgbClr val="E1F5FE"/>
          </a:solidFill>
          <a:ln w="19050" cap="flat" cmpd="sng">
            <a:solidFill>
              <a:srgbClr val="0288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e858c16184_0_295"/>
          <p:cNvSpPr txBox="1"/>
          <p:nvPr/>
        </p:nvSpPr>
        <p:spPr>
          <a:xfrm>
            <a:off x="6286500" y="3238500"/>
            <a:ext cx="1905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>
                <a:solidFill>
                  <a:srgbClr val="0288D1"/>
                </a:solidFill>
                <a:latin typeface="Consolas"/>
                <a:ea typeface="Consolas"/>
                <a:cs typeface="Consolas"/>
                <a:sym typeface="Consolas"/>
              </a:rPr>
              <a:t>// List (Result)</a:t>
            </a:r>
            <a:endParaRPr sz="1100" b="1">
              <a:solidFill>
                <a:srgbClr val="0288D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ja" sz="1100">
                <a:solidFill>
                  <a:srgbClr val="01579B"/>
                </a:solidFill>
                <a:latin typeface="Consolas"/>
                <a:ea typeface="Consolas"/>
                <a:cs typeface="Consolas"/>
                <a:sym typeface="Consolas"/>
              </a:rPr>
              <a:t>["APPLE",</a:t>
            </a:r>
            <a:endParaRPr sz="1100">
              <a:solidFill>
                <a:srgbClr val="01579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ja" sz="1100">
                <a:solidFill>
                  <a:srgbClr val="01579B"/>
                </a:solidFill>
                <a:latin typeface="Consolas"/>
                <a:ea typeface="Consolas"/>
                <a:cs typeface="Consolas"/>
                <a:sym typeface="Consolas"/>
              </a:rPr>
              <a:t>"BANANA"]</a:t>
            </a:r>
            <a:endParaRPr sz="1100">
              <a:solidFill>
                <a:srgbClr val="01579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4" name="Google Shape;224;g3e858c16184_0_295"/>
          <p:cNvGrpSpPr/>
          <p:nvPr/>
        </p:nvGrpSpPr>
        <p:grpSpPr>
          <a:xfrm>
            <a:off x="4619625" y="3533775"/>
            <a:ext cx="104700" cy="828675"/>
            <a:chOff x="4619625" y="3533775"/>
            <a:chExt cx="104700" cy="828675"/>
          </a:xfrm>
        </p:grpSpPr>
        <p:pic>
          <p:nvPicPr>
            <p:cNvPr id="225" name="Google Shape;225;g3e858c16184_0_29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19625" y="3581400"/>
              <a:ext cx="954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g3e858c16184_0_29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57725" y="3533775"/>
              <a:ext cx="666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g3e858c16184_0_29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19625" y="4295775"/>
              <a:ext cx="954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g3e858c16184_0_29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57725" y="4248150"/>
              <a:ext cx="666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45BE27-9555-99D0-2483-F3252CF6A8C7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34" name="Google Shape;234;p7"/>
            <p:cNvPicPr preferRelativeResize="0"/>
            <p:nvPr/>
          </p:nvPicPr>
          <p:blipFill rotWithShape="1">
            <a:blip r:embed="rId3">
              <a:alphaModFix/>
            </a:blip>
            <a:srcRect t="150" b="140"/>
            <a:stretch/>
          </p:blipFill>
          <p:spPr>
            <a:xfrm>
              <a:off x="8481060" y="301943"/>
              <a:ext cx="359100" cy="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7"/>
            <p:cNvSpPr/>
            <p:nvPr/>
          </p:nvSpPr>
          <p:spPr>
            <a:xfrm>
              <a:off x="448627" y="367665"/>
              <a:ext cx="91500" cy="285900"/>
            </a:xfrm>
            <a:prstGeom prst="rect">
              <a:avLst/>
            </a:prstGeom>
            <a:solidFill>
              <a:srgbClr val="F08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ja" sz="4800" b="1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APIの書き方</a:t>
              </a:r>
              <a:endParaRPr sz="4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5671D3-D420-F963-D0E9-F443B133A4CA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476250" y="809625"/>
            <a:ext cx="8191500" cy="3571800"/>
          </a:xfrm>
          <a:prstGeom prst="roundRect">
            <a:avLst>
              <a:gd name="adj" fmla="val 2666"/>
            </a:avLst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94373" y="319493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APIの書き方</a:t>
            </a:r>
            <a:endParaRPr sz="2200" b="1" i="0" u="none" strike="noStrike" cap="non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48" name="Google Shape;248;p8"/>
          <p:cNvGrpSpPr/>
          <p:nvPr/>
        </p:nvGrpSpPr>
        <p:grpSpPr>
          <a:xfrm>
            <a:off x="666750" y="1000125"/>
            <a:ext cx="8001000" cy="2190820"/>
            <a:chOff x="743873" y="999302"/>
            <a:chExt cx="7810500" cy="3036900"/>
          </a:xfrm>
        </p:grpSpPr>
        <p:sp>
          <p:nvSpPr>
            <p:cNvPr id="249" name="Google Shape;249;p8"/>
            <p:cNvSpPr/>
            <p:nvPr/>
          </p:nvSpPr>
          <p:spPr>
            <a:xfrm>
              <a:off x="743873" y="999302"/>
              <a:ext cx="7810500" cy="3036900"/>
            </a:xfrm>
            <a:prstGeom prst="roundRect">
              <a:avLst>
                <a:gd name="adj" fmla="val 3478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743873" y="999302"/>
              <a:ext cx="7810500" cy="303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ja" sz="15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5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“apple”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5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“banana”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5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“cherry”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5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“fig”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lang="ja" sz="1500" b="0" i="0" u="none" strike="noStrike" cap="non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配列宣言</a:t>
              </a:r>
              <a:endParaRPr sz="15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ja" sz="15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5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5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lang="ja" sz="1500" b="0" i="0" u="none" strike="noStrike" cap="non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sz="15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500" b="0" i="0" u="none" strike="noStrike" cap="non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lang="ja" sz="1500" b="0" i="0" u="none" strike="noStrike" cap="non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5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 -&gt; s.toUpperCase()) </a:t>
              </a:r>
              <a:r>
                <a:rPr lang="ja" sz="1500" b="0" i="0" u="none" strike="noStrike" cap="non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5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ja" sz="15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lang="ja" sz="1500" b="0" i="0" u="none" strike="noStrike" cap="none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sz="15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1" name="Google Shape;251;p8"/>
          <p:cNvGrpSpPr/>
          <p:nvPr/>
        </p:nvGrpSpPr>
        <p:grpSpPr>
          <a:xfrm>
            <a:off x="666750" y="3676725"/>
            <a:ext cx="7810500" cy="762000"/>
            <a:chOff x="666750" y="3333750"/>
            <a:chExt cx="7810500" cy="762000"/>
          </a:xfrm>
        </p:grpSpPr>
        <p:sp>
          <p:nvSpPr>
            <p:cNvPr id="252" name="Google Shape;252;p8"/>
            <p:cNvSpPr/>
            <p:nvPr/>
          </p:nvSpPr>
          <p:spPr>
            <a:xfrm>
              <a:off x="666750" y="3333750"/>
              <a:ext cx="2476500" cy="762000"/>
            </a:xfrm>
            <a:prstGeom prst="roundRect">
              <a:avLst>
                <a:gd name="adj" fmla="val 7500"/>
              </a:avLst>
            </a:prstGeom>
            <a:solidFill>
              <a:srgbClr val="E1F5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666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 dirty="0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100" b="1" i="0" u="none" strike="noStrike" cap="none" dirty="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3333750" y="3333750"/>
              <a:ext cx="2476500" cy="762000"/>
            </a:xfrm>
            <a:prstGeom prst="roundRect">
              <a:avLst>
                <a:gd name="adj" fmla="val 7500"/>
              </a:avLst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"/>
            <p:cNvSpPr txBox="1"/>
            <p:nvPr/>
          </p:nvSpPr>
          <p:spPr>
            <a:xfrm>
              <a:off x="3333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 dirty="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100" b="1" i="0" u="none" strike="noStrike" cap="none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6000750" y="3333750"/>
              <a:ext cx="2476500" cy="762000"/>
            </a:xfrm>
            <a:prstGeom prst="roundRect">
              <a:avLst>
                <a:gd name="adj" fmla="val 7500"/>
              </a:avLst>
            </a:prstGeom>
            <a:solidFill>
              <a:srgbClr val="FBE9E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8"/>
            <p:cNvSpPr txBox="1"/>
            <p:nvPr/>
          </p:nvSpPr>
          <p:spPr>
            <a:xfrm>
              <a:off x="6000750" y="3333750"/>
              <a:ext cx="2476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 dirty="0">
                  <a:solidFill>
                    <a:srgbClr val="D8431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100" b="1" i="0" u="none" strike="noStrike" cap="none" dirty="0">
                <a:solidFill>
                  <a:srgbClr val="D8431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3E80BB-F460-27CE-C3A8-18C8BB7CFB11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e597baf9a4_0_1711"/>
          <p:cNvPicPr preferRelativeResize="0"/>
          <p:nvPr/>
        </p:nvPicPr>
        <p:blipFill rotWithShape="1">
          <a:blip r:embed="rId3">
            <a:alphaModFix/>
          </a:blip>
          <a:srcRect t="30" b="487"/>
          <a:stretch/>
        </p:blipFill>
        <p:spPr>
          <a:xfrm>
            <a:off x="8481060" y="301943"/>
            <a:ext cx="359100" cy="41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e597baf9a4_0_171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597baf9a4_0_1711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生成：データをStreamとして流し始める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5" name="Google Shape;265;g3e597baf9a4_0_1711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name="adj" fmla="val 10000"/>
            </a:avLst>
          </a:prstGeom>
          <a:solidFill>
            <a:srgbClr val="E1F5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597baf9a4_0_1711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sz="1400" b="1" i="0" u="none" strike="noStrike" cap="none">
              <a:solidFill>
                <a:srgbClr val="4FC3F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7" name="Google Shape;267;g3e597baf9a4_0_1711"/>
          <p:cNvSpPr/>
          <p:nvPr/>
        </p:nvSpPr>
        <p:spPr>
          <a:xfrm>
            <a:off x="3333750" y="4524375"/>
            <a:ext cx="2476500" cy="381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597baf9a4_0_1711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sz="1400" b="1" i="0" u="none" strike="noStrike" cap="non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9" name="Google Shape;269;g3e597baf9a4_0_1711"/>
          <p:cNvSpPr/>
          <p:nvPr/>
        </p:nvSpPr>
        <p:spPr>
          <a:xfrm>
            <a:off x="6096000" y="4524375"/>
            <a:ext cx="2476500" cy="381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597baf9a4_0_1711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sz="1400" b="1" i="0" u="none" strike="noStrike" cap="non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1" name="Google Shape;271;g3e597baf9a4_0_1711"/>
          <p:cNvSpPr/>
          <p:nvPr/>
        </p:nvSpPr>
        <p:spPr>
          <a:xfrm>
            <a:off x="571500" y="2714625"/>
            <a:ext cx="3810000" cy="1428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300" cap="flat" cmpd="sng">
            <a:solidFill>
              <a:srgbClr val="AED5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e597baf9a4_0_1711"/>
          <p:cNvSpPr txBox="1"/>
          <p:nvPr/>
        </p:nvSpPr>
        <p:spPr>
          <a:xfrm>
            <a:off x="762000" y="2857500"/>
            <a:ext cx="3429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1" i="0" u="none" strike="noStrike" cap="none">
                <a:solidFill>
                  <a:srgbClr val="558B2F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配列から生成する場合</a:t>
            </a:r>
            <a:endParaRPr sz="1300" b="1" i="0" u="none" strike="noStrike" cap="none">
              <a:solidFill>
                <a:srgbClr val="558B2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3" name="Google Shape;273;g3e597baf9a4_0_1711"/>
          <p:cNvSpPr/>
          <p:nvPr/>
        </p:nvSpPr>
        <p:spPr>
          <a:xfrm>
            <a:off x="762000" y="3286125"/>
            <a:ext cx="3429000" cy="66690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597baf9a4_0_1711"/>
          <p:cNvSpPr txBox="1"/>
          <p:nvPr/>
        </p:nvSpPr>
        <p:spPr>
          <a:xfrm>
            <a:off x="857250" y="3381375"/>
            <a:ext cx="323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ja" sz="1300" b="0" i="0" u="none" strike="noStrike" cap="non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.stream(配列名)</a:t>
            </a:r>
            <a:endParaRPr sz="1300" b="0" i="0" u="none" strike="noStrike" cap="none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g3e597baf9a4_0_1711"/>
          <p:cNvSpPr/>
          <p:nvPr/>
        </p:nvSpPr>
        <p:spPr>
          <a:xfrm>
            <a:off x="4762500" y="2714625"/>
            <a:ext cx="3810000" cy="1428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300" cap="flat" cmpd="sng">
            <a:solidFill>
              <a:srgbClr val="90CA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597baf9a4_0_1711"/>
          <p:cNvSpPr txBox="1"/>
          <p:nvPr/>
        </p:nvSpPr>
        <p:spPr>
          <a:xfrm>
            <a:off x="4953000" y="2857500"/>
            <a:ext cx="3429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1" i="0" u="none" strike="noStrike" cap="none">
                <a:solidFill>
                  <a:srgbClr val="1565C0"/>
                </a:solidFill>
                <a:latin typeface="Noto Sans JP"/>
                <a:ea typeface="Noto Sans JP"/>
                <a:cs typeface="Noto Sans JP"/>
                <a:sym typeface="Noto Sans JP"/>
              </a:rPr>
              <a:t>Listから生成する場合</a:t>
            </a:r>
            <a:endParaRPr sz="1300" b="1" i="0" u="none" strike="noStrike" cap="none">
              <a:solidFill>
                <a:srgbClr val="1565C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7" name="Google Shape;277;g3e597baf9a4_0_1711"/>
          <p:cNvSpPr/>
          <p:nvPr/>
        </p:nvSpPr>
        <p:spPr>
          <a:xfrm>
            <a:off x="4953000" y="3286125"/>
            <a:ext cx="3429000" cy="666900"/>
          </a:xfrm>
          <a:prstGeom prst="roundRect">
            <a:avLst>
              <a:gd name="adj" fmla="val 8571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597baf9a4_0_1711"/>
          <p:cNvSpPr txBox="1"/>
          <p:nvPr/>
        </p:nvSpPr>
        <p:spPr>
          <a:xfrm>
            <a:off x="5048250" y="3381375"/>
            <a:ext cx="323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リスト名.stream()</a:t>
            </a:r>
            <a:endParaRPr sz="1300" b="0" i="0" u="none" strike="noStrike" cap="none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g3e597baf9a4_0_1711"/>
          <p:cNvSpPr/>
          <p:nvPr/>
        </p:nvSpPr>
        <p:spPr>
          <a:xfrm>
            <a:off x="571500" y="904875"/>
            <a:ext cx="8001000" cy="1047900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597baf9a4_0_1711"/>
          <p:cNvSpPr txBox="1"/>
          <p:nvPr/>
        </p:nvSpPr>
        <p:spPr>
          <a:xfrm>
            <a:off x="762000" y="1000125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役割：Stream APIを使うための入り口</a:t>
            </a:r>
            <a:endParaRPr sz="1400" b="1" i="0" u="none" strike="noStrike" cap="non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イメージ: </a:t>
            </a:r>
            <a:r>
              <a:rPr lang="ja" sz="13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配列やコレクション（List, Setなど）</a:t>
            </a:r>
            <a:r>
              <a:rPr lang="ja" sz="130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の要素を一つずつ取得する準備</a:t>
            </a:r>
            <a:endParaRPr sz="1300" b="0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2" name="Google Shape;282;g3e597baf9a4_0_1711"/>
          <p:cNvSpPr txBox="1"/>
          <p:nvPr/>
        </p:nvSpPr>
        <p:spPr>
          <a:xfrm>
            <a:off x="571500" y="214312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sz="18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BA25A5-6BDE-DB2F-BDA9-FEDF70F274C2}"/>
              </a:ext>
            </a:extLst>
          </p:cNvPr>
          <p:cNvSpPr txBox="1"/>
          <p:nvPr/>
        </p:nvSpPr>
        <p:spPr>
          <a:xfrm>
            <a:off x="8665473" y="476282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9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3e597baf9a4_0_1929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e597baf9a4_0_192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597baf9a4_0_1929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1" name="Google Shape;291;g3e597baf9a4_0_1929"/>
          <p:cNvSpPr/>
          <p:nvPr/>
        </p:nvSpPr>
        <p:spPr>
          <a:xfrm>
            <a:off x="571500" y="809625"/>
            <a:ext cx="8001000" cy="1047900"/>
          </a:xfrm>
          <a:prstGeom prst="roundRect">
            <a:avLst>
              <a:gd name="adj" fmla="val 7272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597baf9a4_0_1929"/>
          <p:cNvSpPr txBox="1"/>
          <p:nvPr/>
        </p:nvSpPr>
        <p:spPr>
          <a:xfrm>
            <a:off x="762000" y="904875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役割：配列/リストの中身を操作</a:t>
            </a:r>
            <a:endParaRPr sz="14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イメージ: </a:t>
            </a:r>
            <a:r>
              <a:rPr lang="ja" sz="13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絞り込みや</a:t>
            </a:r>
            <a:r>
              <a:rPr lang="ja-JP" altLang="en-US" sz="13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加工</a:t>
            </a:r>
            <a:r>
              <a:rPr lang="ja" sz="13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などの処理をメソッドをつなげて記述し、出力結果を準備</a:t>
            </a:r>
            <a:endParaRPr sz="13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3" name="Google Shape;293;g3e597baf9a4_0_1929"/>
          <p:cNvSpPr txBox="1"/>
          <p:nvPr/>
        </p:nvSpPr>
        <p:spPr>
          <a:xfrm>
            <a:off x="571500" y="1965388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sz="18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94" name="Google Shape;294;g3e597baf9a4_0_1929"/>
          <p:cNvGrpSpPr/>
          <p:nvPr/>
        </p:nvGrpSpPr>
        <p:grpSpPr>
          <a:xfrm>
            <a:off x="590550" y="2381163"/>
            <a:ext cx="3810000" cy="1714500"/>
            <a:chOff x="662940" y="1047900"/>
            <a:chExt cx="3810000" cy="1714500"/>
          </a:xfrm>
        </p:grpSpPr>
        <p:sp>
          <p:nvSpPr>
            <p:cNvPr id="295" name="Google Shape;295;g3e597baf9a4_0_1929"/>
            <p:cNvSpPr/>
            <p:nvPr/>
          </p:nvSpPr>
          <p:spPr>
            <a:xfrm>
              <a:off x="662940" y="1047900"/>
              <a:ext cx="3810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14300" cap="flat" cmpd="sng">
              <a:solidFill>
                <a:srgbClr val="81C7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g3e597baf9a4_0_1929"/>
            <p:cNvSpPr txBox="1"/>
            <p:nvPr/>
          </p:nvSpPr>
          <p:spPr>
            <a:xfrm>
              <a:off x="853440" y="1152788"/>
              <a:ext cx="3429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300" b="1" i="0" dirty="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filter：条件で絞り込む</a:t>
              </a:r>
              <a:endParaRPr sz="1300" b="1" i="0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7" name="Google Shape;297;g3e597baf9a4_0_1929"/>
            <p:cNvSpPr/>
            <p:nvPr/>
          </p:nvSpPr>
          <p:spPr>
            <a:xfrm>
              <a:off x="853440" y="1571775"/>
              <a:ext cx="3429000" cy="571500"/>
            </a:xfrm>
            <a:prstGeom prst="roundRect">
              <a:avLst>
                <a:gd name="adj" fmla="val 10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g3e597baf9a4_0_1929"/>
            <p:cNvSpPr txBox="1"/>
            <p:nvPr/>
          </p:nvSpPr>
          <p:spPr>
            <a:xfrm>
              <a:off x="948690" y="166702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200" b="0" i="0" dirty="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.filter(s -&gt; s.length() &gt;= 4)</a:t>
              </a:r>
              <a:endParaRPr sz="1200" b="0" i="0" dirty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99" name="Google Shape;299;g3e597baf9a4_0_1929"/>
          <p:cNvGrpSpPr/>
          <p:nvPr/>
        </p:nvGrpSpPr>
        <p:grpSpPr>
          <a:xfrm>
            <a:off x="4743450" y="2381163"/>
            <a:ext cx="3810000" cy="1714500"/>
            <a:chOff x="4853940" y="1047900"/>
            <a:chExt cx="3810000" cy="1714500"/>
          </a:xfrm>
        </p:grpSpPr>
        <p:sp>
          <p:nvSpPr>
            <p:cNvPr id="300" name="Google Shape;300;g3e597baf9a4_0_1929"/>
            <p:cNvSpPr/>
            <p:nvPr/>
          </p:nvSpPr>
          <p:spPr>
            <a:xfrm>
              <a:off x="4853940" y="1047900"/>
              <a:ext cx="3810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14300" cap="flat" cmpd="sng">
              <a:solidFill>
                <a:srgbClr val="81C7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g3e597baf9a4_0_1929"/>
            <p:cNvSpPr txBox="1"/>
            <p:nvPr/>
          </p:nvSpPr>
          <p:spPr>
            <a:xfrm>
              <a:off x="5044440" y="1190775"/>
              <a:ext cx="3429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300" b="1" i="0" dirty="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map：別の形に</a:t>
              </a:r>
              <a:r>
                <a:rPr lang="ja-JP" altLang="en-US" sz="1300" b="1" i="0" dirty="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加工</a:t>
              </a:r>
              <a:r>
                <a:rPr lang="ja" sz="1300" b="1" i="0" dirty="0">
                  <a:solidFill>
                    <a:srgbClr val="2E7D32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する</a:t>
              </a:r>
              <a:endParaRPr sz="1300" b="1" i="0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02" name="Google Shape;302;g3e597baf9a4_0_1929"/>
            <p:cNvSpPr/>
            <p:nvPr/>
          </p:nvSpPr>
          <p:spPr>
            <a:xfrm>
              <a:off x="5044440" y="1571775"/>
              <a:ext cx="3429000" cy="571500"/>
            </a:xfrm>
            <a:prstGeom prst="roundRect">
              <a:avLst>
                <a:gd name="adj" fmla="val 10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g3e597baf9a4_0_1929"/>
            <p:cNvSpPr txBox="1"/>
            <p:nvPr/>
          </p:nvSpPr>
          <p:spPr>
            <a:xfrm>
              <a:off x="5139690" y="1667025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200" b="0" i="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.map(s -&gt; s.toUpperCase())</a:t>
              </a:r>
              <a:endParaRPr sz="1200" b="0" i="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04" name="Google Shape;304;g3e597baf9a4_0_1929"/>
          <p:cNvSpPr txBox="1"/>
          <p:nvPr/>
        </p:nvSpPr>
        <p:spPr>
          <a:xfrm>
            <a:off x="742950" y="3505113"/>
            <a:ext cx="3429000" cy="455253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 i="0" dirty="0">
                <a:solidFill>
                  <a:srgbClr val="1B5E20"/>
                </a:solidFill>
                <a:latin typeface="Noto Sans JP"/>
                <a:ea typeface="Noto Sans JP"/>
                <a:cs typeface="Noto Sans JP"/>
                <a:sym typeface="Noto Sans JP"/>
              </a:rPr>
              <a:t>例: 引数sは</a:t>
            </a:r>
            <a:r>
              <a:rPr lang="ja" sz="1000" b="0" i="0" dirty="0">
                <a:solidFill>
                  <a:srgbClr val="2E7D32"/>
                </a:solidFill>
                <a:highlight>
                  <a:srgbClr val="E8F5E9"/>
                </a:highlight>
                <a:latin typeface="Consolas"/>
                <a:ea typeface="Consolas"/>
                <a:cs typeface="Consolas"/>
                <a:sym typeface="Consolas"/>
              </a:rPr>
              <a:t>"apple"</a:t>
            </a:r>
            <a:endParaRPr sz="1000" b="1" i="0" dirty="0">
              <a:solidFill>
                <a:srgbClr val="1B5E2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ja" sz="1000" b="0" i="0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rPr>
              <a:t>appleは4文字以上なので </a:t>
            </a:r>
            <a:r>
              <a:rPr lang="ja" sz="1000" b="1" i="0" dirty="0">
                <a:solidFill>
                  <a:srgbClr val="C62828"/>
                </a:solidFill>
                <a:latin typeface="Noto Sans JP"/>
                <a:ea typeface="Noto Sans JP"/>
                <a:cs typeface="Noto Sans JP"/>
                <a:sym typeface="Noto Sans JP"/>
              </a:rPr>
              <a:t>trueが出力され</a:t>
            </a:r>
            <a:r>
              <a:rPr lang="ja-JP" altLang="en-US" sz="1000" b="1" i="0" dirty="0">
                <a:solidFill>
                  <a:srgbClr val="C62828"/>
                </a:solidFill>
                <a:latin typeface="Noto Sans JP"/>
                <a:ea typeface="Noto Sans JP"/>
                <a:cs typeface="Noto Sans JP"/>
                <a:sym typeface="Noto Sans JP"/>
              </a:rPr>
              <a:t>次の操作へ</a:t>
            </a:r>
            <a:endParaRPr sz="1000" b="1" i="0" dirty="0">
              <a:solidFill>
                <a:srgbClr val="1B5E2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5" name="Google Shape;305;g3e597baf9a4_0_1929"/>
          <p:cNvSpPr txBox="1"/>
          <p:nvPr/>
        </p:nvSpPr>
        <p:spPr>
          <a:xfrm>
            <a:off x="4933950" y="3505113"/>
            <a:ext cx="3429000" cy="4296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b="1" i="0" dirty="0">
                <a:solidFill>
                  <a:srgbClr val="1B5E20"/>
                </a:solidFill>
                <a:latin typeface="Noto Sans JP"/>
                <a:ea typeface="Noto Sans JP"/>
                <a:cs typeface="Noto Sans JP"/>
                <a:sym typeface="Noto Sans JP"/>
              </a:rPr>
              <a:t>例: 引数sは</a:t>
            </a:r>
            <a:r>
              <a:rPr lang="ja" sz="1000" b="0" i="0" dirty="0">
                <a:solidFill>
                  <a:srgbClr val="2E7D32"/>
                </a:solidFill>
                <a:highlight>
                  <a:srgbClr val="E8F5E9"/>
                </a:highlight>
                <a:latin typeface="Consolas"/>
                <a:ea typeface="Consolas"/>
                <a:cs typeface="Consolas"/>
                <a:sym typeface="Consolas"/>
              </a:rPr>
              <a:t>"apple"</a:t>
            </a:r>
            <a:endParaRPr sz="1000" b="1" i="0" dirty="0">
              <a:solidFill>
                <a:srgbClr val="1B5E2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ja" sz="1000" b="0" i="0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rPr>
              <a:t>toUpperCase() により </a:t>
            </a:r>
            <a:r>
              <a:rPr lang="ja" sz="1000" b="1" i="0" dirty="0">
                <a:solidFill>
                  <a:srgbClr val="2E7D32"/>
                </a:solidFill>
                <a:highlight>
                  <a:srgbClr val="E8F5E9"/>
                </a:highlight>
                <a:latin typeface="Consolas"/>
                <a:ea typeface="Consolas"/>
                <a:cs typeface="Consolas"/>
                <a:sym typeface="Consolas"/>
              </a:rPr>
              <a:t>APPLEが出力される</a:t>
            </a:r>
            <a:endParaRPr sz="1000" b="1" i="0" dirty="0">
              <a:solidFill>
                <a:srgbClr val="1B5E2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6" name="Google Shape;306;g3e597baf9a4_0_1929"/>
          <p:cNvSpPr txBox="1"/>
          <p:nvPr/>
        </p:nvSpPr>
        <p:spPr>
          <a:xfrm>
            <a:off x="3477125" y="4167063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b="1" i="0" dirty="0">
                <a:solidFill>
                  <a:srgbClr val="2E7D32"/>
                </a:solidFill>
                <a:latin typeface="Noto Sans JP"/>
                <a:ea typeface="Noto Sans JP"/>
                <a:cs typeface="Noto Sans JP"/>
                <a:sym typeface="Noto Sans JP"/>
              </a:rPr>
              <a:t>※sは配列の一要素</a:t>
            </a:r>
            <a:endParaRPr sz="1100" b="1" i="0" dirty="0">
              <a:solidFill>
                <a:srgbClr val="2E7D3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07" name="Google Shape;307;g3e597baf9a4_0_1929"/>
          <p:cNvGrpSpPr/>
          <p:nvPr/>
        </p:nvGrpSpPr>
        <p:grpSpPr>
          <a:xfrm>
            <a:off x="571500" y="4524375"/>
            <a:ext cx="8001000" cy="381000"/>
            <a:chOff x="571500" y="4505325"/>
            <a:chExt cx="8001000" cy="381000"/>
          </a:xfrm>
        </p:grpSpPr>
        <p:sp>
          <p:nvSpPr>
            <p:cNvPr id="308" name="Google Shape;308;g3e597baf9a4_0_1929"/>
            <p:cNvSpPr/>
            <p:nvPr/>
          </p:nvSpPr>
          <p:spPr>
            <a:xfrm>
              <a:off x="571500" y="4505325"/>
              <a:ext cx="80010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g3e597baf9a4_0_1929"/>
            <p:cNvSpPr/>
            <p:nvPr/>
          </p:nvSpPr>
          <p:spPr>
            <a:xfrm>
              <a:off x="571500" y="450532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g3e597baf9a4_0_1929"/>
            <p:cNvSpPr txBox="1"/>
            <p:nvPr/>
          </p:nvSpPr>
          <p:spPr>
            <a:xfrm>
              <a:off x="571500" y="4505325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00" b="1" i="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400" b="1" i="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11" name="Google Shape;311;g3e597baf9a4_0_1929"/>
            <p:cNvSpPr/>
            <p:nvPr/>
          </p:nvSpPr>
          <p:spPr>
            <a:xfrm>
              <a:off x="3333750" y="450532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g3e597baf9a4_0_1929"/>
            <p:cNvSpPr txBox="1"/>
            <p:nvPr/>
          </p:nvSpPr>
          <p:spPr>
            <a:xfrm>
              <a:off x="3333750" y="4505325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00" b="1" i="0">
                  <a:solidFill>
                    <a:srgbClr val="4CAF5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400" b="1" i="0">
                <a:solidFill>
                  <a:srgbClr val="4CAF5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13" name="Google Shape;313;g3e597baf9a4_0_1929"/>
            <p:cNvSpPr/>
            <p:nvPr/>
          </p:nvSpPr>
          <p:spPr>
            <a:xfrm>
              <a:off x="6096000" y="450532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g3e597baf9a4_0_1929"/>
            <p:cNvSpPr txBox="1"/>
            <p:nvPr/>
          </p:nvSpPr>
          <p:spPr>
            <a:xfrm>
              <a:off x="6096000" y="4505325"/>
              <a:ext cx="247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00" b="1" i="0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400" b="1" i="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C67961-CCDE-B3E5-52E9-7089912B33C4}"/>
              </a:ext>
            </a:extLst>
          </p:cNvPr>
          <p:cNvSpPr txBox="1"/>
          <p:nvPr/>
        </p:nvSpPr>
        <p:spPr>
          <a:xfrm>
            <a:off x="8665473" y="47628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22" name="Google Shape;322;p3"/>
          <p:cNvGrpSpPr/>
          <p:nvPr/>
        </p:nvGrpSpPr>
        <p:grpSpPr>
          <a:xfrm>
            <a:off x="547687" y="1607296"/>
            <a:ext cx="8048625" cy="2473897"/>
            <a:chOff x="571500" y="952499"/>
            <a:chExt cx="8048625" cy="3429300"/>
          </a:xfrm>
        </p:grpSpPr>
        <p:sp>
          <p:nvSpPr>
            <p:cNvPr id="323" name="Google Shape;323;p3"/>
            <p:cNvSpPr/>
            <p:nvPr/>
          </p:nvSpPr>
          <p:spPr>
            <a:xfrm>
              <a:off x="571500" y="952499"/>
              <a:ext cx="8001000" cy="3429300"/>
            </a:xfrm>
            <a:prstGeom prst="roundRect">
              <a:avLst>
                <a:gd name="adj" fmla="val 2776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"/>
            <p:cNvSpPr txBox="1"/>
            <p:nvPr/>
          </p:nvSpPr>
          <p:spPr>
            <a:xfrm>
              <a:off x="619125" y="1047736"/>
              <a:ext cx="8001000" cy="3238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“fig"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400" b="0" i="0" u="none" strike="noStrike" cap="none" dirty="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 -&gt; s.toUpperCase())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25" name="Google Shape;325;p3"/>
          <p:cNvCxnSpPr/>
          <p:nvPr/>
        </p:nvCxnSpPr>
        <p:spPr>
          <a:xfrm>
            <a:off x="1944079" y="2824474"/>
            <a:ext cx="794700" cy="0"/>
          </a:xfrm>
          <a:prstGeom prst="straightConnector1">
            <a:avLst/>
          </a:prstGeom>
          <a:noFill/>
          <a:ln w="5715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p3"/>
          <p:cNvCxnSpPr/>
          <p:nvPr/>
        </p:nvCxnSpPr>
        <p:spPr>
          <a:xfrm>
            <a:off x="1944079" y="3061086"/>
            <a:ext cx="794700" cy="0"/>
          </a:xfrm>
          <a:prstGeom prst="straightConnector1">
            <a:avLst/>
          </a:prstGeom>
          <a:noFill/>
          <a:ln w="5715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7" name="Google Shape;327;p3"/>
          <p:cNvSpPr txBox="1"/>
          <p:nvPr/>
        </p:nvSpPr>
        <p:spPr>
          <a:xfrm>
            <a:off x="349596" y="2357157"/>
            <a:ext cx="18402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1600" b="1" i="0" u="none" strike="noStrike" cap="none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複数宣言可能</a:t>
            </a:r>
            <a:endParaRPr sz="1600" b="1" i="0" u="none" strike="noStrike" cap="none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59633E-0254-6CAC-74B2-A58A77207157}"/>
              </a:ext>
            </a:extLst>
          </p:cNvPr>
          <p:cNvSpPr txBox="1"/>
          <p:nvPr/>
        </p:nvSpPr>
        <p:spPr>
          <a:xfrm>
            <a:off x="8665473" y="47628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11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597baf9a4_0_2152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597baf9a4_0_2152"/>
          <p:cNvSpPr/>
          <p:nvPr/>
        </p:nvSpPr>
        <p:spPr>
          <a:xfrm>
            <a:off x="571500" y="781050"/>
            <a:ext cx="8001000" cy="1143000"/>
          </a:xfrm>
          <a:prstGeom prst="roundRect">
            <a:avLst>
              <a:gd name="adj" fmla="val 6666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e597baf9a4_0_21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終端操作：最終的な結果を得る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35" name="Google Shape;335;g3e597baf9a4_0_2152"/>
          <p:cNvPicPr preferRelativeResize="0"/>
          <p:nvPr/>
        </p:nvPicPr>
        <p:blipFill rotWithShape="1">
          <a:blip r:embed="rId3">
            <a:alphaModFix/>
          </a:blip>
          <a:srcRect t="199" b="199"/>
          <a:stretch/>
        </p:blipFill>
        <p:spPr>
          <a:xfrm>
            <a:off x="8477250" y="295275"/>
            <a:ext cx="3621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g3e597baf9a4_0_2152"/>
          <p:cNvGrpSpPr/>
          <p:nvPr/>
        </p:nvGrpSpPr>
        <p:grpSpPr>
          <a:xfrm>
            <a:off x="571500" y="2305200"/>
            <a:ext cx="3905400" cy="2000100"/>
            <a:chOff x="451858" y="476250"/>
            <a:chExt cx="3905400" cy="2000100"/>
          </a:xfrm>
        </p:grpSpPr>
        <p:sp>
          <p:nvSpPr>
            <p:cNvPr id="337" name="Google Shape;337;g3e597baf9a4_0_2152"/>
            <p:cNvSpPr/>
            <p:nvPr/>
          </p:nvSpPr>
          <p:spPr>
            <a:xfrm>
              <a:off x="451858" y="476250"/>
              <a:ext cx="39054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300" cap="flat" cmpd="sng">
              <a:solidFill>
                <a:srgbClr val="FFAB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e597baf9a4_0_2152"/>
            <p:cNvSpPr txBox="1"/>
            <p:nvPr/>
          </p:nvSpPr>
          <p:spPr>
            <a:xfrm>
              <a:off x="642358" y="619125"/>
              <a:ext cx="35244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toList：結果をListとして取得</a:t>
              </a:r>
              <a:endParaRPr sz="1400" b="1" i="0" u="none" strike="noStrike" cap="none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39" name="Google Shape;339;g3e597baf9a4_0_2152"/>
            <p:cNvSpPr/>
            <p:nvPr/>
          </p:nvSpPr>
          <p:spPr>
            <a:xfrm>
              <a:off x="642358" y="1000125"/>
              <a:ext cx="3524400" cy="476400"/>
            </a:xfrm>
            <a:prstGeom prst="roundRect">
              <a:avLst>
                <a:gd name="adj" fmla="val 12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e597baf9a4_0_2152"/>
            <p:cNvSpPr txBox="1"/>
            <p:nvPr/>
          </p:nvSpPr>
          <p:spPr>
            <a:xfrm>
              <a:off x="737608" y="1095375"/>
              <a:ext cx="3333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.toList()</a:t>
              </a:r>
              <a:endParaRPr sz="1300" b="0" i="0" u="none" strike="noStrike" cap="non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1" name="Google Shape;341;g3e597baf9a4_0_2152"/>
            <p:cNvSpPr txBox="1"/>
            <p:nvPr/>
          </p:nvSpPr>
          <p:spPr>
            <a:xfrm>
              <a:off x="737600" y="1643063"/>
              <a:ext cx="3524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出力例：</a:t>
              </a:r>
              <a:r>
                <a:rPr lang="ja" sz="1000" b="0" i="0" u="none" strike="noStrike" cap="none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(戻り値: List)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616161"/>
                  </a:solidFill>
                  <a:highlight>
                    <a:srgbClr val="F5F5F5"/>
                  </a:highlight>
                  <a:latin typeface="Consolas"/>
                  <a:ea typeface="Consolas"/>
                  <a:cs typeface="Consolas"/>
                  <a:sym typeface="Consolas"/>
                </a:rPr>
                <a:t>["APPLE", "BANANA", "CHERRY"]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加工後のデータをリストに格納する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42" name="Google Shape;342;g3e597baf9a4_0_2152"/>
          <p:cNvGrpSpPr/>
          <p:nvPr/>
        </p:nvGrpSpPr>
        <p:grpSpPr>
          <a:xfrm>
            <a:off x="4667250" y="2305200"/>
            <a:ext cx="3905400" cy="2000100"/>
            <a:chOff x="4547608" y="476250"/>
            <a:chExt cx="3905400" cy="2000100"/>
          </a:xfrm>
        </p:grpSpPr>
        <p:sp>
          <p:nvSpPr>
            <p:cNvPr id="343" name="Google Shape;343;g3e597baf9a4_0_2152"/>
            <p:cNvSpPr/>
            <p:nvPr/>
          </p:nvSpPr>
          <p:spPr>
            <a:xfrm>
              <a:off x="4547608" y="476250"/>
              <a:ext cx="3905400" cy="20001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300" cap="flat" cmpd="sng">
              <a:solidFill>
                <a:srgbClr val="FFAB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e597baf9a4_0_2152"/>
            <p:cNvSpPr txBox="1"/>
            <p:nvPr/>
          </p:nvSpPr>
          <p:spPr>
            <a:xfrm>
              <a:off x="4738108" y="619125"/>
              <a:ext cx="35244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count：要素の件数を取得</a:t>
              </a:r>
              <a:endParaRPr sz="1400" b="1" i="0" u="none" strike="noStrike" cap="none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45" name="Google Shape;345;g3e597baf9a4_0_2152"/>
            <p:cNvSpPr/>
            <p:nvPr/>
          </p:nvSpPr>
          <p:spPr>
            <a:xfrm>
              <a:off x="4738108" y="1000125"/>
              <a:ext cx="3524400" cy="476400"/>
            </a:xfrm>
            <a:prstGeom prst="roundRect">
              <a:avLst>
                <a:gd name="adj" fmla="val 12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e597baf9a4_0_2152"/>
            <p:cNvSpPr txBox="1"/>
            <p:nvPr/>
          </p:nvSpPr>
          <p:spPr>
            <a:xfrm>
              <a:off x="4833358" y="1095375"/>
              <a:ext cx="3333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.count()</a:t>
              </a:r>
              <a:endParaRPr sz="1300" b="0" i="0" u="none" strike="noStrike" cap="non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7" name="Google Shape;347;g3e597baf9a4_0_2152"/>
            <p:cNvSpPr txBox="1"/>
            <p:nvPr/>
          </p:nvSpPr>
          <p:spPr>
            <a:xfrm>
              <a:off x="4833348" y="1690688"/>
              <a:ext cx="3524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出力例：</a:t>
              </a:r>
              <a:r>
                <a:rPr lang="ja" sz="1000" b="0" i="0" u="none" strike="noStrike" cap="none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(戻り値: long)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616161"/>
                  </a:solidFill>
                  <a:highlight>
                    <a:srgbClr val="F5F5F5"/>
                  </a:highlight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最終的に残ったデータの件数を返す</a:t>
              </a:r>
              <a:endParaRPr sz="11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48" name="Google Shape;348;g3e597baf9a4_0_2152"/>
          <p:cNvGrpSpPr/>
          <p:nvPr/>
        </p:nvGrpSpPr>
        <p:grpSpPr>
          <a:xfrm>
            <a:off x="609600" y="4462525"/>
            <a:ext cx="8001000" cy="381000"/>
            <a:chOff x="571500" y="4524375"/>
            <a:chExt cx="8001000" cy="381000"/>
          </a:xfrm>
        </p:grpSpPr>
        <p:sp>
          <p:nvSpPr>
            <p:cNvPr id="349" name="Google Shape;349;g3e597baf9a4_0_2152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name="adj" fmla="val 10000"/>
              </a:avLst>
            </a:prstGeom>
            <a:solidFill>
              <a:srgbClr val="FBE9E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e597baf9a4_0_2152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e597baf9a4_0_2152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52" name="Google Shape;352;g3e597baf9a4_0_2152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e597baf9a4_0_2152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54" name="Google Shape;354;g3e597baf9a4_0_2152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e597baf9a4_0_2152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400" b="1" i="0" u="none" strike="noStrike" cap="non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57" name="Google Shape;357;g3e597baf9a4_0_2152"/>
          <p:cNvSpPr txBox="1"/>
          <p:nvPr/>
        </p:nvSpPr>
        <p:spPr>
          <a:xfrm>
            <a:off x="571500" y="921600"/>
            <a:ext cx="8001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役割：操作した配列/リストの集約</a:t>
            </a:r>
            <a:endParaRPr sz="1400" b="1" i="0" u="none" strike="noStrike" cap="non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イメージ:中間操作の出力を集約</a:t>
            </a:r>
            <a:endParaRPr sz="1400" b="0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309A56-E627-1CAD-F759-515600BA4A0E}"/>
              </a:ext>
            </a:extLst>
          </p:cNvPr>
          <p:cNvSpPr txBox="1"/>
          <p:nvPr/>
        </p:nvSpPr>
        <p:spPr>
          <a:xfrm>
            <a:off x="8665473" y="47628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12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597baf9a4_0_236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597baf9a4_0_236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全体像と実行結果のイメージ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69" name="Google Shape;369;g3e597baf9a4_0_2363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e597baf9a4_0_2363"/>
          <p:cNvSpPr/>
          <p:nvPr/>
        </p:nvSpPr>
        <p:spPr>
          <a:xfrm>
            <a:off x="571500" y="952500"/>
            <a:ext cx="8001000" cy="1524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e597baf9a4_0_2363"/>
          <p:cNvSpPr txBox="1"/>
          <p:nvPr/>
        </p:nvSpPr>
        <p:spPr>
          <a:xfrm>
            <a:off x="762000" y="10953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String[] fruits = {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"banana"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"cherry"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“fig"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result = Arrays.stream(fruits)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① 生成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.filter(s -&gt; s.length() &gt;= 4)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lvl="0">
              <a:spcBef>
                <a:spcPts val="300"/>
              </a:spcBef>
              <a:buSzPts val="1300"/>
            </a:pPr>
            <a:r>
              <a:rPr lang="ja" altLang="ja-JP" sz="1200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.map(s -&gt; s.toUpperCase()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.toList();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③ 終端操作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2" name="Google Shape;372;g3e597baf9a4_0_23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2475" y="257175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3e597baf9a4_0_23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4375" y="2857650"/>
            <a:ext cx="954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e597baf9a4_0_2363"/>
          <p:cNvSpPr/>
          <p:nvPr/>
        </p:nvSpPr>
        <p:spPr>
          <a:xfrm>
            <a:off x="561825" y="328620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e597baf9a4_0_2363"/>
          <p:cNvSpPr txBox="1"/>
          <p:nvPr/>
        </p:nvSpPr>
        <p:spPr>
          <a:xfrm>
            <a:off x="1327386" y="3688400"/>
            <a:ext cx="2499900" cy="52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実際の出力結果 (resultの中身)</a:t>
            </a:r>
            <a:endParaRPr sz="1400" b="1" i="0" u="none" strike="noStrike" cap="non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>
                <a:solidFill>
                  <a:srgbClr val="404040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[APPLE, BANANA, CHERRY]</a:t>
            </a:r>
            <a:endParaRPr sz="1200" b="1" i="0" u="none" strike="noStrike" cap="none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6" name="Google Shape;376;g3e597baf9a4_0_2363"/>
          <p:cNvSpPr/>
          <p:nvPr/>
        </p:nvSpPr>
        <p:spPr>
          <a:xfrm>
            <a:off x="4752825" y="328620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9525" cap="flat" cmpd="sng">
            <a:solidFill>
              <a:srgbClr val="90CA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e597baf9a4_0_2363"/>
          <p:cNvSpPr txBox="1"/>
          <p:nvPr/>
        </p:nvSpPr>
        <p:spPr>
          <a:xfrm>
            <a:off x="4943325" y="3429075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処理のイメージ</a:t>
            </a:r>
            <a:endParaRPr sz="1400" b="1" i="0" u="none" strike="noStrike" cap="none" dirty="0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1. </a:t>
            </a:r>
            <a:r>
              <a:rPr lang="ja" sz="12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配列の要素を一つずつ取得する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2. </a:t>
            </a:r>
            <a:r>
              <a:rPr lang="ja" sz="12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4文字以上の要素だけ次の処理へ通す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ja" sz="12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. 大文字</a:t>
            </a:r>
            <a:r>
              <a:rPr lang="ja" sz="12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にする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ja" sz="1200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. リストとして回収する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BED9B1-B53A-57F5-838C-B285C8DF92CE}"/>
              </a:ext>
            </a:extLst>
          </p:cNvPr>
          <p:cNvSpPr txBox="1"/>
          <p:nvPr/>
        </p:nvSpPr>
        <p:spPr>
          <a:xfrm>
            <a:off x="8665473" y="47628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13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597baf9a4_0_2752"/>
          <p:cNvSpPr/>
          <p:nvPr/>
        </p:nvSpPr>
        <p:spPr>
          <a:xfrm>
            <a:off x="447675" y="361950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e597baf9a4_0_27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まとめ：Stream APIの正体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85" name="Google Shape;385;g3e597baf9a4_0_2752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e597baf9a4_0_2752"/>
          <p:cNvSpPr/>
          <p:nvPr/>
        </p:nvSpPr>
        <p:spPr>
          <a:xfrm>
            <a:off x="571500" y="783884"/>
            <a:ext cx="8001000" cy="829016"/>
          </a:xfrm>
          <a:prstGeom prst="roundRect">
            <a:avLst>
              <a:gd name="adj" fmla="val 11428"/>
            </a:avLst>
          </a:prstGeom>
          <a:solidFill>
            <a:srgbClr val="FFF3E0"/>
          </a:solidFill>
          <a:ln w="9525" cap="flat" cmpd="sng">
            <a:solidFill>
              <a:srgbClr val="F08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e597baf9a4_0_2752"/>
          <p:cNvSpPr txBox="1"/>
          <p:nvPr/>
        </p:nvSpPr>
        <p:spPr>
          <a:xfrm>
            <a:off x="666750" y="888075"/>
            <a:ext cx="7810500" cy="90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ja" sz="2100" b="1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拡張for文で書いたような配列やListの処理を</a:t>
            </a:r>
            <a:endParaRPr sz="2100" b="1" dirty="0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ja" sz="2100" b="1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段階に分けて書ける仕組み</a:t>
            </a:r>
            <a:endParaRPr sz="2100" b="1" dirty="0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E64A1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90" name="Google Shape;390;g3e597baf9a4_0_2752"/>
          <p:cNvGrpSpPr/>
          <p:nvPr/>
        </p:nvGrpSpPr>
        <p:grpSpPr>
          <a:xfrm>
            <a:off x="571500" y="1714438"/>
            <a:ext cx="3905400" cy="2476305"/>
            <a:chOff x="571500" y="1714500"/>
            <a:chExt cx="3905400" cy="3809700"/>
          </a:xfrm>
        </p:grpSpPr>
        <p:sp>
          <p:nvSpPr>
            <p:cNvPr id="391" name="Google Shape;391;g3e597baf9a4_0_2752"/>
            <p:cNvSpPr/>
            <p:nvPr/>
          </p:nvSpPr>
          <p:spPr>
            <a:xfrm>
              <a:off x="571500" y="1714500"/>
              <a:ext cx="3905400" cy="38097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300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e597baf9a4_0_2752"/>
            <p:cNvSpPr txBox="1"/>
            <p:nvPr/>
          </p:nvSpPr>
          <p:spPr>
            <a:xfrm>
              <a:off x="762000" y="2437211"/>
              <a:ext cx="3524400" cy="236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 b="1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記述の特徴：3段階の「型」</a:t>
              </a:r>
              <a:endParaRPr sz="1600" b="1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ja" sz="1300" b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「手順」を細かく指示するのではなく</a:t>
              </a:r>
              <a:endParaRPr sz="1300" b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00" b="1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「やりたいこと」を並べて記述</a:t>
              </a:r>
              <a:endParaRPr sz="14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ja" sz="1300" b="0">
                  <a:solidFill>
                    <a:srgbClr val="616161"/>
                  </a:solidFill>
                  <a:highlight>
                    <a:srgbClr val="FAFAFA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💡 コードの目的が直感的に理解しやすい</a:t>
              </a:r>
              <a:endParaRPr sz="1300" b="0">
                <a:solidFill>
                  <a:srgbClr val="616161"/>
                </a:solidFill>
                <a:highlight>
                  <a:srgbClr val="FAFAFA"/>
                </a:highlight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00" b="1">
                  <a:solidFill>
                    <a:srgbClr val="F08300"/>
                  </a:solidFill>
                  <a:highlight>
                    <a:srgbClr val="FAFAFA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可読性向上！</a:t>
              </a:r>
              <a:endParaRPr sz="1400" b="1">
                <a:solidFill>
                  <a:srgbClr val="F08300"/>
                </a:solidFill>
                <a:highlight>
                  <a:srgbClr val="FAFAFA"/>
                </a:highlight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93" name="Google Shape;393;g3e597baf9a4_0_2752"/>
          <p:cNvGrpSpPr/>
          <p:nvPr/>
        </p:nvGrpSpPr>
        <p:grpSpPr>
          <a:xfrm>
            <a:off x="4667250" y="1714433"/>
            <a:ext cx="3905400" cy="2476110"/>
            <a:chOff x="4667250" y="1714493"/>
            <a:chExt cx="3905400" cy="3809400"/>
          </a:xfrm>
        </p:grpSpPr>
        <p:sp>
          <p:nvSpPr>
            <p:cNvPr id="394" name="Google Shape;394;g3e597baf9a4_0_2752"/>
            <p:cNvSpPr/>
            <p:nvPr/>
          </p:nvSpPr>
          <p:spPr>
            <a:xfrm>
              <a:off x="4667250" y="1714493"/>
              <a:ext cx="3905400" cy="38094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300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g3e597baf9a4_0_2752"/>
            <p:cNvSpPr txBox="1"/>
            <p:nvPr/>
          </p:nvSpPr>
          <p:spPr>
            <a:xfrm>
              <a:off x="4857750" y="2475307"/>
              <a:ext cx="3524400" cy="2288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600" b="1" i="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書き方の基本構成</a:t>
              </a:r>
              <a:endParaRPr sz="1600" b="1" i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ja" sz="1300" b="1" i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 → 中間操作 → 終端操作</a:t>
              </a:r>
              <a:endParaRPr sz="1300" b="1" i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ja" sz="1100" b="1" i="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</a:t>
              </a:r>
              <a:r>
                <a:rPr lang="ja" sz="1100" b="0" i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で要素を一つずつ取り</a:t>
              </a:r>
              <a:endParaRPr sz="1100" b="0" i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ja" sz="1100" b="1" i="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中間操作</a:t>
              </a:r>
              <a:r>
                <a:rPr lang="ja" sz="1100" b="0" i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で絞り込みや加工を行い</a:t>
              </a:r>
              <a:endParaRPr sz="1100" b="0" i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ja" sz="1100" b="1" i="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終端操作</a:t>
              </a:r>
              <a:r>
                <a:rPr lang="ja" sz="1100" b="0" i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で結果を集約する</a:t>
              </a:r>
              <a:endParaRPr sz="1100" b="0" i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87C1ED-3AAC-0758-1CD1-15AAF5E90BF4}"/>
              </a:ext>
            </a:extLst>
          </p:cNvPr>
          <p:cNvSpPr txBox="1"/>
          <p:nvPr/>
        </p:nvSpPr>
        <p:spPr>
          <a:xfrm>
            <a:off x="8665473" y="47628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"/>
          <p:cNvPicPr preferRelativeResize="0"/>
          <p:nvPr/>
        </p:nvPicPr>
        <p:blipFill rotWithShape="1">
          <a:blip r:embed="rId3">
            <a:alphaModFix/>
          </a:blip>
          <a:srcRect t="30" b="259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"/>
          <p:cNvSpPr txBox="1"/>
          <p:nvPr/>
        </p:nvSpPr>
        <p:spPr>
          <a:xfrm>
            <a:off x="609600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特徴①：連続した「1つの流れ」で記述できる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4" name="Google Shape;404;p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コードを順を追って理解が可能</a:t>
            </a:r>
            <a:endParaRPr sz="18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571500" y="1524000"/>
            <a:ext cx="8001000" cy="285750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5"/>
          <p:cNvGrpSpPr/>
          <p:nvPr/>
        </p:nvGrpSpPr>
        <p:grpSpPr>
          <a:xfrm>
            <a:off x="952500" y="2457450"/>
            <a:ext cx="1333500" cy="876300"/>
            <a:chOff x="952500" y="2457450"/>
            <a:chExt cx="1333500" cy="876300"/>
          </a:xfrm>
        </p:grpSpPr>
        <p:sp>
          <p:nvSpPr>
            <p:cNvPr id="407" name="Google Shape;407;p5"/>
            <p:cNvSpPr/>
            <p:nvPr/>
          </p:nvSpPr>
          <p:spPr>
            <a:xfrm>
              <a:off x="952500" y="2571750"/>
              <a:ext cx="1333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"/>
            <p:cNvSpPr txBox="1"/>
            <p:nvPr/>
          </p:nvSpPr>
          <p:spPr>
            <a:xfrm>
              <a:off x="952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952500" y="2457450"/>
              <a:ext cx="1333500" cy="228600"/>
            </a:xfrm>
            <a:prstGeom prst="roundRect">
              <a:avLst>
                <a:gd name="adj" fmla="val 16666"/>
              </a:avLst>
            </a:prstGeom>
            <a:solidFill>
              <a:srgbClr val="6C757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"/>
            <p:cNvSpPr txBox="1"/>
            <p:nvPr/>
          </p:nvSpPr>
          <p:spPr>
            <a:xfrm>
              <a:off x="952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1" i="0" u="none" strike="noStrike" cap="non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START</a:t>
              </a:r>
              <a:endParaRPr sz="1200" b="1" i="0" u="none" strike="noStrike" cap="non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pic>
        <p:nvPicPr>
          <p:cNvPr id="411" name="Google Shape;41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3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4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5"/>
          <p:cNvGrpSpPr/>
          <p:nvPr/>
        </p:nvGrpSpPr>
        <p:grpSpPr>
          <a:xfrm>
            <a:off x="2857500" y="2571750"/>
            <a:ext cx="1524000" cy="762000"/>
            <a:chOff x="2857500" y="2571750"/>
            <a:chExt cx="1524000" cy="762000"/>
          </a:xfrm>
        </p:grpSpPr>
        <p:sp>
          <p:nvSpPr>
            <p:cNvPr id="414" name="Google Shape;414;p5"/>
            <p:cNvSpPr/>
            <p:nvPr/>
          </p:nvSpPr>
          <p:spPr>
            <a:xfrm>
              <a:off x="2857500" y="257175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"/>
            <p:cNvSpPr txBox="1"/>
            <p:nvPr/>
          </p:nvSpPr>
          <p:spPr>
            <a:xfrm>
              <a:off x="28575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絞り込み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.filter()</a:t>
              </a:r>
              <a:endParaRPr sz="1400" b="1" i="0" u="none" strike="noStrike" cap="non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416" name="Google Shape;4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01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5"/>
          <p:cNvGrpSpPr/>
          <p:nvPr/>
        </p:nvGrpSpPr>
        <p:grpSpPr>
          <a:xfrm>
            <a:off x="4953000" y="2571750"/>
            <a:ext cx="1524000" cy="762000"/>
            <a:chOff x="4953000" y="2571750"/>
            <a:chExt cx="1524000" cy="762000"/>
          </a:xfrm>
        </p:grpSpPr>
        <p:sp>
          <p:nvSpPr>
            <p:cNvPr id="419" name="Google Shape;419;p5"/>
            <p:cNvSpPr/>
            <p:nvPr/>
          </p:nvSpPr>
          <p:spPr>
            <a:xfrm>
              <a:off x="4953000" y="257175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 txBox="1"/>
            <p:nvPr/>
          </p:nvSpPr>
          <p:spPr>
            <a:xfrm>
              <a:off x="49530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変換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.map()</a:t>
              </a:r>
              <a:endParaRPr sz="1400" b="1" i="0" u="none" strike="noStrike" cap="non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421" name="Google Shape;42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05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5"/>
          <p:cNvGrpSpPr/>
          <p:nvPr/>
        </p:nvGrpSpPr>
        <p:grpSpPr>
          <a:xfrm>
            <a:off x="7048500" y="2457450"/>
            <a:ext cx="1333500" cy="876300"/>
            <a:chOff x="7048500" y="2457450"/>
            <a:chExt cx="1333500" cy="876300"/>
          </a:xfrm>
        </p:grpSpPr>
        <p:sp>
          <p:nvSpPr>
            <p:cNvPr id="424" name="Google Shape;424;p5"/>
            <p:cNvSpPr/>
            <p:nvPr/>
          </p:nvSpPr>
          <p:spPr>
            <a:xfrm>
              <a:off x="7048500" y="2571750"/>
              <a:ext cx="1333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 txBox="1"/>
            <p:nvPr/>
          </p:nvSpPr>
          <p:spPr>
            <a:xfrm>
              <a:off x="7048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結果の収集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7048500" y="2457450"/>
              <a:ext cx="1333500" cy="228600"/>
            </a:xfrm>
            <a:prstGeom prst="roundRect">
              <a:avLst>
                <a:gd name="adj" fmla="val 16666"/>
              </a:avLst>
            </a:prstGeom>
            <a:solidFill>
              <a:srgbClr val="E539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 txBox="1"/>
            <p:nvPr/>
          </p:nvSpPr>
          <p:spPr>
            <a:xfrm>
              <a:off x="7048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1" i="0" u="none" strike="noStrike" cap="non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GOAL</a:t>
              </a:r>
              <a:endParaRPr sz="1200" b="1" i="0" u="none" strike="noStrike" cap="non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428" name="Google Shape;428;p5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5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"/>
          <p:cNvPicPr preferRelativeResize="0"/>
          <p:nvPr/>
        </p:nvPicPr>
        <p:blipFill rotWithShape="1">
          <a:blip r:embed="rId3">
            <a:alphaModFix/>
          </a:blip>
          <a:srcRect t="30" b="259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"/>
          <p:cNvSpPr txBox="1"/>
          <p:nvPr/>
        </p:nvSpPr>
        <p:spPr>
          <a:xfrm>
            <a:off x="609600" y="318125"/>
            <a:ext cx="772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特徴②：メソッドを使用することで処理内容がわかりやすい 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7" name="Google Shape;437;p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「何をしたいか」で記述する</a:t>
            </a:r>
            <a:endParaRPr sz="18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8" name="Google Shape;438;p6"/>
          <p:cNvSpPr/>
          <p:nvPr/>
        </p:nvSpPr>
        <p:spPr>
          <a:xfrm>
            <a:off x="571500" y="4000500"/>
            <a:ext cx="8001000" cy="571500"/>
          </a:xfrm>
          <a:prstGeom prst="roundRect">
            <a:avLst>
              <a:gd name="adj" fmla="val 50000"/>
            </a:avLst>
          </a:prstGeom>
          <a:solidFill>
            <a:srgbClr val="FEEBEE"/>
          </a:solidFill>
          <a:ln w="9525" cap="flat" cmpd="sng">
            <a:solidFill>
              <a:srgbClr val="EF9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6"/>
          <p:cNvSpPr txBox="1"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" sz="1600" b="1" i="0" u="none" strike="noStrike" cap="non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処理の内容が直感的に理解しやすい</a:t>
            </a:r>
            <a:endParaRPr sz="1600" b="1" i="0" u="none" strike="noStrike" cap="none">
              <a:solidFill>
                <a:srgbClr val="E5393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0" name="Google Shape;440;p6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6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42" name="Google Shape;442;p6"/>
          <p:cNvGrpSpPr/>
          <p:nvPr/>
        </p:nvGrpSpPr>
        <p:grpSpPr>
          <a:xfrm>
            <a:off x="5967450" y="1909047"/>
            <a:ext cx="2667000" cy="1265700"/>
            <a:chOff x="5905500" y="1655997"/>
            <a:chExt cx="2667000" cy="1265700"/>
          </a:xfrm>
        </p:grpSpPr>
        <p:sp>
          <p:nvSpPr>
            <p:cNvPr id="443" name="Google Shape;443;p6"/>
            <p:cNvSpPr/>
            <p:nvPr/>
          </p:nvSpPr>
          <p:spPr>
            <a:xfrm>
              <a:off x="5905500" y="1655997"/>
              <a:ext cx="2667000" cy="1265700"/>
            </a:xfrm>
            <a:prstGeom prst="roundRect">
              <a:avLst>
                <a:gd name="adj" fmla="val 6020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"/>
            <p:cNvSpPr txBox="1"/>
            <p:nvPr/>
          </p:nvSpPr>
          <p:spPr>
            <a:xfrm>
              <a:off x="6048375" y="1655997"/>
              <a:ext cx="2381400" cy="12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.stream()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データを流し始める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.filter()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条件で絞り込む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.map()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別の形に変換する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.toList()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結果をリストに集める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45" name="Google Shape;445;p6"/>
          <p:cNvGrpSpPr/>
          <p:nvPr/>
        </p:nvGrpSpPr>
        <p:grpSpPr>
          <a:xfrm>
            <a:off x="784775" y="1281826"/>
            <a:ext cx="4952899" cy="2499798"/>
            <a:chOff x="854627" y="1047755"/>
            <a:chExt cx="6561000" cy="3238500"/>
          </a:xfrm>
        </p:grpSpPr>
        <p:sp>
          <p:nvSpPr>
            <p:cNvPr id="446" name="Google Shape;446;p6"/>
            <p:cNvSpPr/>
            <p:nvPr/>
          </p:nvSpPr>
          <p:spPr>
            <a:xfrm>
              <a:off x="854627" y="1860323"/>
              <a:ext cx="6561000" cy="1639800"/>
            </a:xfrm>
            <a:prstGeom prst="roundRect">
              <a:avLst>
                <a:gd name="adj" fmla="val 2777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6"/>
            <p:cNvSpPr txBox="1"/>
            <p:nvPr/>
          </p:nvSpPr>
          <p:spPr>
            <a:xfrm>
              <a:off x="951363" y="1047755"/>
              <a:ext cx="6182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1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...};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100" b="0" i="0" u="none" strike="noStrike" cap="non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1413</Words>
  <Application>Microsoft Office PowerPoint</Application>
  <PresentationFormat>画面に合わせる (16:9)</PresentationFormat>
  <Paragraphs>189</Paragraphs>
  <Slides>16</Slides>
  <Notes>16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16</vt:i4>
      </vt:variant>
    </vt:vector>
  </HeadingPairs>
  <TitlesOfParts>
    <vt:vector size="24" baseType="lpstr">
      <vt:lpstr>Consolas</vt:lpstr>
      <vt:lpstr>Noto Sans</vt:lpstr>
      <vt:lpstr>Courier New</vt:lpstr>
      <vt:lpstr>Calibri</vt:lpstr>
      <vt:lpstr>Arial</vt:lpstr>
      <vt:lpstr>Noto Sans JP</vt:lpstr>
      <vt:lpstr>Simple Light</vt:lpstr>
      <vt:lpstr>Simple Light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Ryota Nagano RQ</dc:creator>
  <cp:lastModifiedBy>長野　椋太</cp:lastModifiedBy>
  <cp:revision>19</cp:revision>
  <dcterms:modified xsi:type="dcterms:W3CDTF">2026-06-04T14:50:55Z</dcterms:modified>
</cp:coreProperties>
</file>