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oto Sans"/>
      <p:regular r:id="rId21"/>
      <p:bold r:id="rId22"/>
      <p:italic r:id="rId23"/>
      <p:boldItalic r:id="rId24"/>
    </p:embeddedFont>
    <p:embeddedFont>
      <p:font typeface="Noto Sans JP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Hx9oVCGO2JJUWt+A2HGgehArc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otoSans-bold.fntdata"/><Relationship Id="rId21" Type="http://schemas.openxmlformats.org/officeDocument/2006/relationships/font" Target="fonts/NotoSans-regular.fntdata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otoSansJP-bold.fntdata"/><Relationship Id="rId25" Type="http://schemas.openxmlformats.org/officeDocument/2006/relationships/font" Target="fonts/NotoSansJP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全体が決まってから作る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597baf9a4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e597baf9a4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このスライドで伝えること:</a:t>
            </a:r>
            <a:r>
              <a:rPr b="1" lang="ja" sz="165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配列やListなどの中身をfor文を書かずに加工・抽出・集計できる仕組み</a:t>
            </a:r>
            <a:endParaRPr b="1" sz="165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597baf9a4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597baf9a4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597baf9a4_0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e597baf9a4_0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597baf9a4_0_2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e597baf9a4_0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597baf9a4_0_2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e597baf9a4_0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597baf9a4_0_2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e597baf9a4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5cd1e1e3_10_0)">
  <p:cSld name="Generated (g3e55cd1e1e3_10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個別ページ">
  <p:cSld name="CUSTOM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9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9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9"/>
          <p:cNvSpPr txBox="1"/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0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5cd1e1e3_10_0)">
  <p:cSld name="Generated (g3e55cd1e1e3_10_0)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個別ページ">
  <p:cSld name="CUSTOM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eb7efcb44e_0_132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eb7efcb44e_0_132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b7efcb44e_0_132"/>
          <p:cNvSpPr txBox="1"/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69" name="Google Shape;69;g3eb7efcb44e_0_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CUS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eb7efcb44e_0_137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eb7efcb44e_0_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eb7efcb44e_0_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7efcb44e_0_1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g3eb7efcb44e_0_1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g3eb7efcb44e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b7efcb44e_0_1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g3eb7efcb44e_0_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b7efcb44e_0_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g3eb7efcb44e_0_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g3eb7efcb44e_0_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b7efcb44e_0_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3eb7efcb44e_0_1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3eb7efcb44e_0_1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g3eb7efcb44e_0_1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b7efcb44e_0_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g3eb7efcb44e_0_1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b7efcb44e_0_1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g3eb7efcb44e_0_1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g3eb7efcb44e_0_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7efcb44e_0_16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g3eb7efcb44e_0_1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b7efcb44e_0_16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eb7efcb44e_0_1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3" name="Google Shape;103;g3eb7efcb44e_0_1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" name="Google Shape;104;g3eb7efcb44e_0_1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g3eb7efcb44e_0_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b7efcb44e_0_1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8" name="Google Shape;108;g3eb7efcb44e_0_1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7efcb44e_0_1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" name="Google Shape;111;g3eb7efcb44e_0_1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g3eb7efcb44e_0_1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b7efcb44e_0_1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b7efcb44e_0_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eb7efcb44e_0_1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eb7efcb44e_0_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"/>
          <p:cNvPicPr preferRelativeResize="0"/>
          <p:nvPr/>
        </p:nvPicPr>
        <p:blipFill rotWithShape="1">
          <a:blip r:embed="rId3">
            <a:alphaModFix/>
          </a:blip>
          <a:srcRect b="199" l="0" r="0" t="189"/>
          <a:stretch/>
        </p:blipFill>
        <p:spPr>
          <a:xfrm>
            <a:off x="290036" y="251555"/>
            <a:ext cx="520200" cy="6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099" y="3279839"/>
            <a:ext cx="776400" cy="1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"/>
          <p:cNvSpPr txBox="1"/>
          <p:nvPr/>
        </p:nvSpPr>
        <p:spPr>
          <a:xfrm>
            <a:off x="762000" y="2000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APIを理解する</a:t>
            </a:r>
            <a:endParaRPr b="1" i="0" sz="36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3810000" y="36195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ja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長野 椋太</a:t>
            </a:r>
            <a:endParaRPr b="1" i="0" sz="11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782955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ja" sz="8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8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目次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32" name="Google Shape;132;p2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"/>
          <p:cNvGrpSpPr/>
          <p:nvPr/>
        </p:nvGrpSpPr>
        <p:grpSpPr>
          <a:xfrm>
            <a:off x="1143000" y="1333500"/>
            <a:ext cx="6858000" cy="571500"/>
            <a:chOff x="0" y="0"/>
            <a:chExt cx="6858000" cy="57150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01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本日のゴール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143000" y="2095500"/>
            <a:ext cx="6858000" cy="571500"/>
            <a:chOff x="0" y="0"/>
            <a:chExt cx="6858000" cy="571500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APIとは何か？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143000" y="2907425"/>
            <a:ext cx="6858000" cy="571500"/>
            <a:chOff x="0" y="0"/>
            <a:chExt cx="6858000" cy="571500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  <a:r>
                <a:rPr b="1" lang="ja" sz="18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1143000" y="3619500"/>
            <a:ext cx="6858000" cy="571500"/>
            <a:chOff x="0" y="0"/>
            <a:chExt cx="6858000" cy="571500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まとめ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45" name="Google Shape;145;p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12457" y="317560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本日のゴール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1136350" y="1939650"/>
            <a:ext cx="6858000" cy="1143000"/>
          </a:xfrm>
          <a:prstGeom prst="roundRect">
            <a:avLst>
              <a:gd fmla="val 8333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993600" y="193965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APIを自分の言葉で説明できるようになること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824805" y="362557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4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72675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APIとは何か？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902700" y="1060300"/>
            <a:ext cx="7860300" cy="96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Arial"/>
              <a:buNone/>
            </a:pPr>
            <a:r>
              <a:rPr b="1" lang="ja" sz="165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APIは、for文なしでデータの抽出・加工・集計を、一連の『流れ』として実現する仕組み</a:t>
            </a:r>
            <a:endParaRPr b="1" sz="166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829550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67" name="Google Shape;167;p4"/>
          <p:cNvGrpSpPr/>
          <p:nvPr/>
        </p:nvGrpSpPr>
        <p:grpSpPr>
          <a:xfrm>
            <a:off x="6286500" y="2286000"/>
            <a:ext cx="2476500" cy="2252100"/>
            <a:chOff x="6286500" y="2286000"/>
            <a:chExt cx="2476500" cy="2252100"/>
          </a:xfrm>
        </p:grpSpPr>
        <p:sp>
          <p:nvSpPr>
            <p:cNvPr id="168" name="Google Shape;168;p4"/>
            <p:cNvSpPr/>
            <p:nvPr/>
          </p:nvSpPr>
          <p:spPr>
            <a:xfrm>
              <a:off x="6286500" y="2286000"/>
              <a:ext cx="2476500" cy="2252100"/>
            </a:xfrm>
            <a:prstGeom prst="roundRect">
              <a:avLst>
                <a:gd fmla="val 338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6429375" y="2428875"/>
              <a:ext cx="2190900" cy="19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処理の内容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1. 生成:</a:t>
              </a:r>
              <a:b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配列fruitsからデータを流し始める</a:t>
              </a:r>
              <a:endParaRPr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2. 抽出 (filter):</a:t>
              </a:r>
              <a:b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4文字以上の単語のみに絞り込む</a:t>
              </a:r>
              <a:endParaRPr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3. 加工 (map):</a:t>
              </a:r>
              <a:b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すべての文字を大文字に変換する</a:t>
              </a:r>
              <a:endParaRPr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4. 収集 (toList):</a:t>
              </a:r>
              <a:b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結果をListとして取得する</a:t>
              </a:r>
              <a:endParaRPr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70" name="Google Shape;170;p4"/>
          <p:cNvGrpSpPr/>
          <p:nvPr/>
        </p:nvGrpSpPr>
        <p:grpSpPr>
          <a:xfrm>
            <a:off x="190500" y="2083870"/>
            <a:ext cx="6001002" cy="2646845"/>
            <a:chOff x="762099" y="952495"/>
            <a:chExt cx="7949400" cy="3429000"/>
          </a:xfrm>
        </p:grpSpPr>
        <p:sp>
          <p:nvSpPr>
            <p:cNvPr id="171" name="Google Shape;171;p4"/>
            <p:cNvSpPr/>
            <p:nvPr/>
          </p:nvSpPr>
          <p:spPr>
            <a:xfrm>
              <a:off x="762099" y="952495"/>
              <a:ext cx="7949400" cy="34290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951363" y="1047758"/>
              <a:ext cx="7570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16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String[] fruits = { ... };</a:t>
              </a:r>
              <a:endParaRPr b="1" i="0" sz="16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i="0" lang="ja" sz="20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b="1" i="0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152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2000">
                  <a:solidFill>
                    <a:srgbClr val="DCDCDC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.抽出 (filter)</a:t>
              </a:r>
              <a:endParaRPr b="1" i="0" sz="2000">
                <a:solidFill>
                  <a:srgbClr val="DCDCDC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152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2000">
                  <a:solidFill>
                    <a:srgbClr val="DCDCDC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.加工 (map)</a:t>
              </a:r>
              <a:endParaRPr b="1" i="0" sz="2000">
                <a:solidFill>
                  <a:srgbClr val="DCDCDC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152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2000">
                  <a:solidFill>
                    <a:srgbClr val="DCDCDC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.収集 (toList);</a:t>
              </a:r>
              <a:endParaRPr b="1" i="0" sz="2000">
                <a:solidFill>
                  <a:srgbClr val="DCDCDC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e597baf9a4_0_591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e597baf9a4_0_59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597baf9a4_0_591"/>
          <p:cNvSpPr/>
          <p:nvPr/>
        </p:nvSpPr>
        <p:spPr>
          <a:xfrm>
            <a:off x="476250" y="1143000"/>
            <a:ext cx="8191500" cy="3238500"/>
          </a:xfrm>
          <a:prstGeom prst="roundRect">
            <a:avLst>
              <a:gd fmla="val 4411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597baf9a4_0_591"/>
          <p:cNvSpPr txBox="1"/>
          <p:nvPr/>
        </p:nvSpPr>
        <p:spPr>
          <a:xfrm>
            <a:off x="7829550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81" name="Google Shape;181;g3e597baf9a4_0_591"/>
          <p:cNvGrpSpPr/>
          <p:nvPr/>
        </p:nvGrpSpPr>
        <p:grpSpPr>
          <a:xfrm>
            <a:off x="666750" y="1285875"/>
            <a:ext cx="7715250" cy="333300"/>
            <a:chOff x="666750" y="1285875"/>
            <a:chExt cx="7715250" cy="333300"/>
          </a:xfrm>
        </p:grpSpPr>
        <p:sp>
          <p:nvSpPr>
            <p:cNvPr id="182" name="Google Shape;182;g3e597baf9a4_0_591"/>
            <p:cNvSpPr/>
            <p:nvPr/>
          </p:nvSpPr>
          <p:spPr>
            <a:xfrm>
              <a:off x="66675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6C75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e597baf9a4_0_591"/>
            <p:cNvSpPr txBox="1"/>
            <p:nvPr/>
          </p:nvSpPr>
          <p:spPr>
            <a:xfrm>
              <a:off x="66675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元データ</a:t>
              </a:r>
              <a:endParaRPr b="1" sz="11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184" name="Google Shape;184;g3e597baf9a4_0_591"/>
            <p:cNvSpPr/>
            <p:nvPr/>
          </p:nvSpPr>
          <p:spPr>
            <a:xfrm>
              <a:off x="266700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007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g3e597baf9a4_0_591"/>
            <p:cNvSpPr txBox="1"/>
            <p:nvPr/>
          </p:nvSpPr>
          <p:spPr>
            <a:xfrm>
              <a:off x="266700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抽出</a:t>
              </a:r>
              <a:endParaRPr b="1" sz="11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186" name="Google Shape;186;g3e597baf9a4_0_591"/>
            <p:cNvSpPr/>
            <p:nvPr/>
          </p:nvSpPr>
          <p:spPr>
            <a:xfrm>
              <a:off x="466725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007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g3e597baf9a4_0_591"/>
            <p:cNvSpPr txBox="1"/>
            <p:nvPr/>
          </p:nvSpPr>
          <p:spPr>
            <a:xfrm>
              <a:off x="466725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加</a:t>
              </a:r>
              <a:r>
                <a:rPr b="1" lang="ja" sz="11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工</a:t>
              </a:r>
              <a:endParaRPr b="1" sz="11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188" name="Google Shape;188;g3e597baf9a4_0_591"/>
            <p:cNvSpPr/>
            <p:nvPr/>
          </p:nvSpPr>
          <p:spPr>
            <a:xfrm>
              <a:off x="666750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E539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e597baf9a4_0_591"/>
            <p:cNvSpPr txBox="1"/>
            <p:nvPr/>
          </p:nvSpPr>
          <p:spPr>
            <a:xfrm>
              <a:off x="666750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集計・取得</a:t>
              </a:r>
              <a:endParaRPr b="1" sz="11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90" name="Google Shape;190;g3e597baf9a4_0_591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91" name="Google Shape;191;g3e597baf9a4_0_591"/>
          <p:cNvGrpSpPr/>
          <p:nvPr/>
        </p:nvGrpSpPr>
        <p:grpSpPr>
          <a:xfrm>
            <a:off x="762000" y="1762125"/>
            <a:ext cx="5872125" cy="381000"/>
            <a:chOff x="762000" y="1762125"/>
            <a:chExt cx="5872125" cy="381000"/>
          </a:xfrm>
        </p:grpSpPr>
        <p:sp>
          <p:nvSpPr>
            <p:cNvPr id="192" name="Google Shape;192;g3e597baf9a4_0_591"/>
            <p:cNvSpPr/>
            <p:nvPr/>
          </p:nvSpPr>
          <p:spPr>
            <a:xfrm>
              <a:off x="762000" y="17621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g3e597baf9a4_0_591"/>
            <p:cNvSpPr txBox="1"/>
            <p:nvPr/>
          </p:nvSpPr>
          <p:spPr>
            <a:xfrm>
              <a:off x="762000" y="1762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194" name="Google Shape;19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18954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g3e597baf9a4_0_591"/>
            <p:cNvSpPr/>
            <p:nvPr/>
          </p:nvSpPr>
          <p:spPr>
            <a:xfrm>
              <a:off x="2762250" y="17621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g3e597baf9a4_0_591"/>
            <p:cNvSpPr txBox="1"/>
            <p:nvPr/>
          </p:nvSpPr>
          <p:spPr>
            <a:xfrm>
              <a:off x="2762250" y="1762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197" name="Google Shape;197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3875" y="18954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g3e597baf9a4_0_591"/>
            <p:cNvSpPr/>
            <p:nvPr/>
          </p:nvSpPr>
          <p:spPr>
            <a:xfrm>
              <a:off x="4762500" y="17621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3e597baf9a4_0_591"/>
            <p:cNvSpPr txBox="1"/>
            <p:nvPr/>
          </p:nvSpPr>
          <p:spPr>
            <a:xfrm>
              <a:off x="4762500" y="1762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00" name="Google Shape;200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4125" y="18954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g3e597baf9a4_0_591"/>
          <p:cNvGrpSpPr/>
          <p:nvPr/>
        </p:nvGrpSpPr>
        <p:grpSpPr>
          <a:xfrm>
            <a:off x="762000" y="2238375"/>
            <a:ext cx="5872125" cy="381000"/>
            <a:chOff x="762000" y="2238375"/>
            <a:chExt cx="5872125" cy="381000"/>
          </a:xfrm>
        </p:grpSpPr>
        <p:sp>
          <p:nvSpPr>
            <p:cNvPr id="202" name="Google Shape;202;g3e597baf9a4_0_591"/>
            <p:cNvSpPr/>
            <p:nvPr/>
          </p:nvSpPr>
          <p:spPr>
            <a:xfrm>
              <a:off x="762000" y="2238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g3e597baf9a4_0_591"/>
            <p:cNvSpPr txBox="1"/>
            <p:nvPr/>
          </p:nvSpPr>
          <p:spPr>
            <a:xfrm>
              <a:off x="762000" y="2238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04" name="Google Shape;20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2371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g3e597baf9a4_0_591"/>
            <p:cNvSpPr/>
            <p:nvPr/>
          </p:nvSpPr>
          <p:spPr>
            <a:xfrm>
              <a:off x="2762250" y="2238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g3e597baf9a4_0_591"/>
            <p:cNvSpPr txBox="1"/>
            <p:nvPr/>
          </p:nvSpPr>
          <p:spPr>
            <a:xfrm>
              <a:off x="2762250" y="2238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07" name="Google Shape;207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3875" y="2371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g3e597baf9a4_0_591"/>
            <p:cNvSpPr/>
            <p:nvPr/>
          </p:nvSpPr>
          <p:spPr>
            <a:xfrm>
              <a:off x="4762500" y="2238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g3e597baf9a4_0_591"/>
            <p:cNvSpPr txBox="1"/>
            <p:nvPr/>
          </p:nvSpPr>
          <p:spPr>
            <a:xfrm>
              <a:off x="4762500" y="2238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10" name="Google Shape;210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4125" y="2371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g3e597baf9a4_0_591"/>
          <p:cNvGrpSpPr/>
          <p:nvPr/>
        </p:nvGrpSpPr>
        <p:grpSpPr>
          <a:xfrm>
            <a:off x="762000" y="2705100"/>
            <a:ext cx="3533925" cy="581025"/>
            <a:chOff x="762000" y="2705100"/>
            <a:chExt cx="3533925" cy="581025"/>
          </a:xfrm>
        </p:grpSpPr>
        <p:sp>
          <p:nvSpPr>
            <p:cNvPr id="212" name="Google Shape;212;g3e597baf9a4_0_591"/>
            <p:cNvSpPr/>
            <p:nvPr/>
          </p:nvSpPr>
          <p:spPr>
            <a:xfrm>
              <a:off x="762000" y="27146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g3e597baf9a4_0_591"/>
            <p:cNvSpPr txBox="1"/>
            <p:nvPr/>
          </p:nvSpPr>
          <p:spPr>
            <a:xfrm>
              <a:off x="762000" y="27146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"fig"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14" name="Google Shape;21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28479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g3e597baf9a4_0_5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2725" y="2705100"/>
              <a:ext cx="15432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g3e597baf9a4_0_591"/>
            <p:cNvSpPr txBox="1"/>
            <p:nvPr/>
          </p:nvSpPr>
          <p:spPr>
            <a:xfrm>
              <a:off x="2762250" y="27146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 u="none" strike="sngStrike">
                  <a:solidFill>
                    <a:srgbClr val="E5393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"fig"</a:t>
              </a:r>
              <a:endParaRPr b="1" sz="1100" u="none" strike="sngStrike">
                <a:solidFill>
                  <a:srgbClr val="E5393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7" name="Google Shape;217;g3e597baf9a4_0_591"/>
            <p:cNvSpPr txBox="1"/>
            <p:nvPr/>
          </p:nvSpPr>
          <p:spPr>
            <a:xfrm>
              <a:off x="2762250" y="3095625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00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除外 (4文字未満)</a:t>
              </a:r>
              <a:endParaRPr b="1" sz="800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18" name="Google Shape;218;g3e597baf9a4_0_591"/>
          <p:cNvGrpSpPr/>
          <p:nvPr/>
        </p:nvGrpSpPr>
        <p:grpSpPr>
          <a:xfrm>
            <a:off x="762000" y="3381375"/>
            <a:ext cx="5872125" cy="381000"/>
            <a:chOff x="762000" y="3381375"/>
            <a:chExt cx="5872125" cy="381000"/>
          </a:xfrm>
        </p:grpSpPr>
        <p:sp>
          <p:nvSpPr>
            <p:cNvPr id="219" name="Google Shape;219;g3e597baf9a4_0_591"/>
            <p:cNvSpPr/>
            <p:nvPr/>
          </p:nvSpPr>
          <p:spPr>
            <a:xfrm>
              <a:off x="762000" y="3381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g3e597baf9a4_0_591"/>
            <p:cNvSpPr txBox="1"/>
            <p:nvPr/>
          </p:nvSpPr>
          <p:spPr>
            <a:xfrm>
              <a:off x="762000" y="3381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21" name="Google Shape;221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3514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g3e597baf9a4_0_591"/>
            <p:cNvSpPr/>
            <p:nvPr/>
          </p:nvSpPr>
          <p:spPr>
            <a:xfrm>
              <a:off x="2762250" y="3381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g3e597baf9a4_0_591"/>
            <p:cNvSpPr txBox="1"/>
            <p:nvPr/>
          </p:nvSpPr>
          <p:spPr>
            <a:xfrm>
              <a:off x="2762250" y="3381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24" name="Google Shape;22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3875" y="3514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g3e597baf9a4_0_591"/>
            <p:cNvSpPr/>
            <p:nvPr/>
          </p:nvSpPr>
          <p:spPr>
            <a:xfrm>
              <a:off x="4762500" y="3381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g3e597baf9a4_0_591"/>
            <p:cNvSpPr txBox="1"/>
            <p:nvPr/>
          </p:nvSpPr>
          <p:spPr>
            <a:xfrm>
              <a:off x="4762500" y="3381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endParaRPr b="1" sz="11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27" name="Google Shape;227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4125" y="3514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g3e597baf9a4_0_591"/>
          <p:cNvGrpSpPr/>
          <p:nvPr/>
        </p:nvGrpSpPr>
        <p:grpSpPr>
          <a:xfrm>
            <a:off x="6667500" y="1762125"/>
            <a:ext cx="1714500" cy="2000100"/>
            <a:chOff x="6667500" y="1762125"/>
            <a:chExt cx="1714500" cy="2000100"/>
          </a:xfrm>
        </p:grpSpPr>
        <p:sp>
          <p:nvSpPr>
            <p:cNvPr id="229" name="Google Shape;229;g3e597baf9a4_0_591"/>
            <p:cNvSpPr/>
            <p:nvPr/>
          </p:nvSpPr>
          <p:spPr>
            <a:xfrm>
              <a:off x="6667500" y="1762125"/>
              <a:ext cx="1714500" cy="2000100"/>
            </a:xfrm>
            <a:prstGeom prst="roundRect">
              <a:avLst>
                <a:gd fmla="val 5555" name="adj"/>
              </a:avLst>
            </a:prstGeom>
            <a:solidFill>
              <a:srgbClr val="FEEBEE"/>
            </a:solidFill>
            <a:ln cap="flat" cmpd="sng" w="9525">
              <a:solidFill>
                <a:srgbClr val="EF9A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g3e597baf9a4_0_591"/>
            <p:cNvSpPr txBox="1"/>
            <p:nvPr/>
          </p:nvSpPr>
          <p:spPr>
            <a:xfrm>
              <a:off x="6762750" y="1857375"/>
              <a:ext cx="1524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625" lIns="47625" spcFirstLastPara="1" rIns="47625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000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Listとして取得</a:t>
              </a:r>
              <a:endParaRPr b="1" sz="1000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ja" sz="10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["APPLE",</a:t>
              </a:r>
              <a:endParaRPr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ja" sz="10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"BANANA",</a:t>
              </a:r>
              <a:endParaRPr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ja" sz="10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"GRAPE"]</a:t>
              </a:r>
              <a:endParaRPr sz="1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ja" sz="1000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件数：3件</a:t>
              </a:r>
              <a:endParaRPr b="1" sz="1000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31" name="Google Shape;231;g3e597baf9a4_0_591"/>
          <p:cNvSpPr txBox="1"/>
          <p:nvPr/>
        </p:nvSpPr>
        <p:spPr>
          <a:xfrm>
            <a:off x="726757" y="318185"/>
            <a:ext cx="71028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APIの具体的な処理の流れ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2" name="Google Shape;232;g3e597baf9a4_0_591"/>
          <p:cNvSpPr txBox="1"/>
          <p:nvPr/>
        </p:nvSpPr>
        <p:spPr>
          <a:xfrm>
            <a:off x="476250" y="7620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例：4文字以上の単語を抽出して大文字に変換する</a:t>
            </a:r>
            <a:endParaRPr b="1" sz="16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3" name="Google Shape;233;g3e597baf9a4_0_591"/>
          <p:cNvSpPr txBox="1"/>
          <p:nvPr/>
        </p:nvSpPr>
        <p:spPr>
          <a:xfrm>
            <a:off x="476250" y="4429125"/>
            <a:ext cx="81915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000">
                <a:solidFill>
                  <a:srgbClr val="444444"/>
                </a:solidFill>
                <a:latin typeface="Noto Sans JP"/>
                <a:ea typeface="Noto Sans JP"/>
                <a:cs typeface="Noto Sans JP"/>
                <a:sym typeface="Noto Sans JP"/>
              </a:rPr>
              <a:t>※これは一例です。Stream APIには様々なメソッドがあり、目的（ソート、計算、検索など）に合わせて</a:t>
            </a:r>
            <a:br>
              <a:rPr b="0" lang="ja" sz="1000">
                <a:solidFill>
                  <a:srgbClr val="444444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lang="ja" sz="1000">
                <a:solidFill>
                  <a:srgbClr val="444444"/>
                </a:solidFill>
                <a:latin typeface="Noto Sans JP"/>
                <a:ea typeface="Noto Sans JP"/>
                <a:cs typeface="Noto Sans JP"/>
                <a:sym typeface="Noto Sans JP"/>
              </a:rPr>
              <a:t>自由自在に処理を組み合わせることができます。</a:t>
            </a:r>
            <a:endParaRPr b="0" sz="1000">
              <a:solidFill>
                <a:srgbClr val="444444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5"/>
          <p:cNvPicPr preferRelativeResize="0"/>
          <p:nvPr/>
        </p:nvPicPr>
        <p:blipFill rotWithShape="1">
          <a:blip r:embed="rId3">
            <a:alphaModFix/>
          </a:blip>
          <a:srcRect b="259" l="0" r="0" t="3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609600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特徴①：連続した「1つの流れ」で記述できる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コードを順を追って理解が可能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571500" y="1524000"/>
            <a:ext cx="8001000" cy="2857500"/>
          </a:xfrm>
          <a:prstGeom prst="roundRect">
            <a:avLst>
              <a:gd fmla="val 3333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5"/>
          <p:cNvGrpSpPr/>
          <p:nvPr/>
        </p:nvGrpSpPr>
        <p:grpSpPr>
          <a:xfrm>
            <a:off x="952500" y="2457450"/>
            <a:ext cx="1333500" cy="876300"/>
            <a:chOff x="952500" y="2457450"/>
            <a:chExt cx="1333500" cy="876300"/>
          </a:xfrm>
        </p:grpSpPr>
        <p:sp>
          <p:nvSpPr>
            <p:cNvPr id="245" name="Google Shape;245;p5"/>
            <p:cNvSpPr/>
            <p:nvPr/>
          </p:nvSpPr>
          <p:spPr>
            <a:xfrm>
              <a:off x="952500" y="2571750"/>
              <a:ext cx="13335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"/>
            <p:cNvSpPr txBox="1"/>
            <p:nvPr/>
          </p:nvSpPr>
          <p:spPr>
            <a:xfrm>
              <a:off x="952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952500" y="245745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6C75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5"/>
            <p:cNvSpPr txBox="1"/>
            <p:nvPr/>
          </p:nvSpPr>
          <p:spPr>
            <a:xfrm>
              <a:off x="952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START</a:t>
              </a:r>
              <a:endParaRPr b="1" i="0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pic>
        <p:nvPicPr>
          <p:cNvPr id="249" name="Google Shape;2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4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5"/>
          <p:cNvGrpSpPr/>
          <p:nvPr/>
        </p:nvGrpSpPr>
        <p:grpSpPr>
          <a:xfrm>
            <a:off x="2857500" y="2571750"/>
            <a:ext cx="1524000" cy="762000"/>
            <a:chOff x="2857500" y="2571750"/>
            <a:chExt cx="1524000" cy="762000"/>
          </a:xfrm>
        </p:grpSpPr>
        <p:sp>
          <p:nvSpPr>
            <p:cNvPr id="252" name="Google Shape;252;p5"/>
            <p:cNvSpPr/>
            <p:nvPr/>
          </p:nvSpPr>
          <p:spPr>
            <a:xfrm>
              <a:off x="2857500" y="257175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5"/>
            <p:cNvSpPr txBox="1"/>
            <p:nvPr/>
          </p:nvSpPr>
          <p:spPr>
            <a:xfrm>
              <a:off x="28575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絞り込み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.filter()</a:t>
              </a:r>
              <a:endParaRPr b="1" i="0" sz="1400" u="none" cap="none" strike="noStrik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54" name="Google Shape;2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1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5"/>
          <p:cNvGrpSpPr/>
          <p:nvPr/>
        </p:nvGrpSpPr>
        <p:grpSpPr>
          <a:xfrm>
            <a:off x="4953000" y="2571750"/>
            <a:ext cx="1524000" cy="762000"/>
            <a:chOff x="4953000" y="2571750"/>
            <a:chExt cx="1524000" cy="762000"/>
          </a:xfrm>
        </p:grpSpPr>
        <p:sp>
          <p:nvSpPr>
            <p:cNvPr id="257" name="Google Shape;257;p5"/>
            <p:cNvSpPr/>
            <p:nvPr/>
          </p:nvSpPr>
          <p:spPr>
            <a:xfrm>
              <a:off x="4953000" y="257175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5"/>
            <p:cNvSpPr txBox="1"/>
            <p:nvPr/>
          </p:nvSpPr>
          <p:spPr>
            <a:xfrm>
              <a:off x="49530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変換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.map()</a:t>
              </a:r>
              <a:endParaRPr b="1" i="0" sz="1400" u="none" cap="none" strike="noStrik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59" name="Google Shape;2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5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5"/>
          <p:cNvGrpSpPr/>
          <p:nvPr/>
        </p:nvGrpSpPr>
        <p:grpSpPr>
          <a:xfrm>
            <a:off x="7048500" y="2457450"/>
            <a:ext cx="1333500" cy="876300"/>
            <a:chOff x="7048500" y="2457450"/>
            <a:chExt cx="1333500" cy="876300"/>
          </a:xfrm>
        </p:grpSpPr>
        <p:sp>
          <p:nvSpPr>
            <p:cNvPr id="262" name="Google Shape;262;p5"/>
            <p:cNvSpPr/>
            <p:nvPr/>
          </p:nvSpPr>
          <p:spPr>
            <a:xfrm>
              <a:off x="7048500" y="2571750"/>
              <a:ext cx="13335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5"/>
            <p:cNvSpPr txBox="1"/>
            <p:nvPr/>
          </p:nvSpPr>
          <p:spPr>
            <a:xfrm>
              <a:off x="7048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結果の収集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7048500" y="245745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E539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"/>
            <p:cNvSpPr txBox="1"/>
            <p:nvPr/>
          </p:nvSpPr>
          <p:spPr>
            <a:xfrm>
              <a:off x="7048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GOAL</a:t>
              </a:r>
              <a:endParaRPr b="1" i="0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66" name="Google Shape;266;p5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6"/>
          <p:cNvPicPr preferRelativeResize="0"/>
          <p:nvPr/>
        </p:nvPicPr>
        <p:blipFill rotWithShape="1">
          <a:blip r:embed="rId3">
            <a:alphaModFix/>
          </a:blip>
          <a:srcRect b="259" l="0" r="0" t="3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6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609600" y="318125"/>
            <a:ext cx="772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特徴②：</a:t>
            </a: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メソッドを使用することで処理内容がわかりやすい 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「何をしたいか」で記述する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71500" y="4000500"/>
            <a:ext cx="8001000" cy="571500"/>
          </a:xfrm>
          <a:prstGeom prst="roundRect">
            <a:avLst>
              <a:gd fmla="val 50000" name="adj"/>
            </a:avLst>
          </a:prstGeom>
          <a:solidFill>
            <a:srgbClr val="FEEBEE"/>
          </a:solidFill>
          <a:ln cap="flat" cmpd="sng" w="9525">
            <a:solidFill>
              <a:srgbClr val="EF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571500" y="4000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1600" u="none" cap="none" strike="noStrik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処理の内容が直感的に理解しやすい</a:t>
            </a:r>
            <a:endParaRPr b="1" i="0" sz="1600" u="none" cap="none" strike="noStrike">
              <a:solidFill>
                <a:srgbClr val="E5393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80" name="Google Shape;280;p6"/>
          <p:cNvGrpSpPr/>
          <p:nvPr/>
        </p:nvGrpSpPr>
        <p:grpSpPr>
          <a:xfrm>
            <a:off x="5967450" y="1909047"/>
            <a:ext cx="2667000" cy="1265700"/>
            <a:chOff x="5905500" y="1655997"/>
            <a:chExt cx="2667000" cy="1265700"/>
          </a:xfrm>
        </p:grpSpPr>
        <p:sp>
          <p:nvSpPr>
            <p:cNvPr id="281" name="Google Shape;281;p6"/>
            <p:cNvSpPr/>
            <p:nvPr/>
          </p:nvSpPr>
          <p:spPr>
            <a:xfrm>
              <a:off x="5905500" y="1655997"/>
              <a:ext cx="2667000" cy="1265700"/>
            </a:xfrm>
            <a:prstGeom prst="roundRect">
              <a:avLst>
                <a:gd fmla="val 602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6048375" y="1655997"/>
              <a:ext cx="2381400" cy="12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.stream()</a:t>
              </a:r>
              <a:r>
                <a:rPr b="0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データを流し始める</a:t>
              </a:r>
              <a:endParaRPr b="0"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.filter()</a:t>
              </a:r>
              <a:r>
                <a:rPr b="0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条件で絞り込む</a:t>
              </a:r>
              <a:endParaRPr b="0"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.map()</a:t>
              </a:r>
              <a:r>
                <a:rPr b="0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別の形に変換する</a:t>
              </a:r>
              <a:endParaRPr b="0"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.toList()</a:t>
              </a:r>
              <a:r>
                <a:rPr b="0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結果をリストに集める</a:t>
              </a:r>
              <a:endParaRPr b="0"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784775" y="1281826"/>
            <a:ext cx="4952899" cy="2499798"/>
            <a:chOff x="854627" y="1047755"/>
            <a:chExt cx="6561000" cy="3238500"/>
          </a:xfrm>
        </p:grpSpPr>
        <p:sp>
          <p:nvSpPr>
            <p:cNvPr id="284" name="Google Shape;284;p6"/>
            <p:cNvSpPr/>
            <p:nvPr/>
          </p:nvSpPr>
          <p:spPr>
            <a:xfrm>
              <a:off x="854627" y="1860323"/>
              <a:ext cx="6561000" cy="16398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951363" y="1047755"/>
              <a:ext cx="6182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lang="ja" sz="11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...};</a:t>
              </a:r>
              <a:endParaRPr b="0" sz="11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lang="ja" sz="11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lang="ja" sz="11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</a:t>
              </a:r>
              <a:endParaRPr b="0" sz="11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lang="ja" sz="110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sz="11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b="0" lang="ja" sz="11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</a:t>
              </a:r>
              <a:endParaRPr b="0" sz="11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</a:t>
              </a:r>
              <a:endParaRPr b="0" sz="11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91" name="Google Shape;291;p7"/>
            <p:cNvPicPr preferRelativeResize="0"/>
            <p:nvPr/>
          </p:nvPicPr>
          <p:blipFill rotWithShape="1">
            <a:blip r:embed="rId3">
              <a:alphaModFix/>
            </a:blip>
            <a:srcRect b="140" l="0" r="0" t="150"/>
            <a:stretch/>
          </p:blipFill>
          <p:spPr>
            <a:xfrm>
              <a:off x="8481060" y="301943"/>
              <a:ext cx="359100" cy="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7"/>
            <p:cNvSpPr/>
            <p:nvPr/>
          </p:nvSpPr>
          <p:spPr>
            <a:xfrm>
              <a:off x="448627" y="367665"/>
              <a:ext cx="91500" cy="285900"/>
            </a:xfrm>
            <a:prstGeom prst="rect">
              <a:avLst/>
            </a:prstGeom>
            <a:solidFill>
              <a:srgbClr val="F08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7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ja" sz="4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APIの書き方</a:t>
              </a:r>
              <a:endParaRPr b="1" i="0" sz="4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94" name="Google Shape;294;p7"/>
            <p:cNvSpPr txBox="1"/>
            <p:nvPr/>
          </p:nvSpPr>
          <p:spPr>
            <a:xfrm>
              <a:off x="7829550" y="49244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ja" sz="600" u="none" cap="none" strike="noStrike">
                  <a:solidFill>
                    <a:srgbClr val="404040"/>
                  </a:solidFill>
                  <a:latin typeface="Noto Sans"/>
                  <a:ea typeface="Noto Sans"/>
                  <a:cs typeface="Noto Sans"/>
                  <a:sym typeface="Noto Sans"/>
                </a:rPr>
                <a:t>2026/05/29</a:t>
              </a:r>
              <a:endParaRPr b="1" i="0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8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実際のコードで確認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05" name="Google Shape;305;p8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306" name="Google Shape;306;p8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8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4FC3F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i="0" sz="1400" u="none" cap="none" strike="noStrike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81C784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i="0" sz="1400" u="none" cap="none" strike="noStrike">
                <a:solidFill>
                  <a:srgbClr val="81C784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8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i="0" sz="1400" u="none" cap="none" strike="noStrik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12" name="Google Shape;312;p8"/>
          <p:cNvGrpSpPr/>
          <p:nvPr/>
        </p:nvGrpSpPr>
        <p:grpSpPr>
          <a:xfrm>
            <a:off x="571500" y="896883"/>
            <a:ext cx="8048625" cy="2473681"/>
            <a:chOff x="571500" y="952500"/>
            <a:chExt cx="8048625" cy="3429000"/>
          </a:xfrm>
        </p:grpSpPr>
        <p:sp>
          <p:nvSpPr>
            <p:cNvPr id="313" name="Google Shape;313;p8"/>
            <p:cNvSpPr/>
            <p:nvPr/>
          </p:nvSpPr>
          <p:spPr>
            <a:xfrm>
              <a:off x="571500" y="952500"/>
              <a:ext cx="8001000" cy="34290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8"/>
            <p:cNvSpPr txBox="1"/>
            <p:nvPr/>
          </p:nvSpPr>
          <p:spPr>
            <a:xfrm>
              <a:off x="619125" y="1047739"/>
              <a:ext cx="800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"date"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i="0" lang="ja" sz="1400" u="none" cap="none" strike="noStrik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597baf9a4_0_17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g3e597baf9a4_0_1711"/>
          <p:cNvPicPr preferRelativeResize="0"/>
          <p:nvPr/>
        </p:nvPicPr>
        <p:blipFill rotWithShape="1">
          <a:blip r:embed="rId3">
            <a:alphaModFix/>
          </a:blip>
          <a:srcRect b="487" l="0" r="0" t="30"/>
          <a:stretch/>
        </p:blipFill>
        <p:spPr>
          <a:xfrm>
            <a:off x="8481060" y="301943"/>
            <a:ext cx="359100" cy="4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e597baf9a4_0_171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597baf9a4_0_1711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生成：データをStreamとして流し始める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3" name="Google Shape;323;g3e597baf9a4_0_1711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E1F5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597baf9a4_0_1711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b="1" sz="1400">
              <a:solidFill>
                <a:srgbClr val="4FC3F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5" name="Google Shape;325;g3e597baf9a4_0_1711"/>
          <p:cNvSpPr/>
          <p:nvPr/>
        </p:nvSpPr>
        <p:spPr>
          <a:xfrm>
            <a:off x="3333750" y="4524375"/>
            <a:ext cx="24765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597baf9a4_0_1711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b="1" sz="1400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7" name="Google Shape;327;g3e597baf9a4_0_1711"/>
          <p:cNvSpPr/>
          <p:nvPr/>
        </p:nvSpPr>
        <p:spPr>
          <a:xfrm>
            <a:off x="6096000" y="4524375"/>
            <a:ext cx="24765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597baf9a4_0_1711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b="1" sz="1400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9" name="Google Shape;329;g3e597baf9a4_0_1711"/>
          <p:cNvSpPr/>
          <p:nvPr/>
        </p:nvSpPr>
        <p:spPr>
          <a:xfrm>
            <a:off x="571500" y="952500"/>
            <a:ext cx="3810000" cy="1428900"/>
          </a:xfrm>
          <a:prstGeom prst="roundRect">
            <a:avLst>
              <a:gd fmla="val 5333" name="adj"/>
            </a:avLst>
          </a:prstGeom>
          <a:solidFill>
            <a:srgbClr val="F1F8E9"/>
          </a:solidFill>
          <a:ln cap="flat" cmpd="sng" w="9525">
            <a:solidFill>
              <a:srgbClr val="AED5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597baf9a4_0_1711"/>
          <p:cNvSpPr txBox="1"/>
          <p:nvPr/>
        </p:nvSpPr>
        <p:spPr>
          <a:xfrm>
            <a:off x="762000" y="10953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配列から生成する場合</a:t>
            </a:r>
            <a:endParaRPr b="1" sz="1300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1" name="Google Shape;331;g3e597baf9a4_0_1711"/>
          <p:cNvSpPr/>
          <p:nvPr/>
        </p:nvSpPr>
        <p:spPr>
          <a:xfrm>
            <a:off x="762000" y="1476375"/>
            <a:ext cx="3429000" cy="666900"/>
          </a:xfrm>
          <a:prstGeom prst="roundRect">
            <a:avLst>
              <a:gd fmla="val 5714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597baf9a4_0_1711"/>
          <p:cNvSpPr txBox="1"/>
          <p:nvPr/>
        </p:nvSpPr>
        <p:spPr>
          <a:xfrm>
            <a:off x="857250" y="1571625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Arrays.stream(配列名)</a:t>
            </a:r>
            <a:endParaRPr b="0"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g3e597baf9a4_0_1711"/>
          <p:cNvSpPr/>
          <p:nvPr/>
        </p:nvSpPr>
        <p:spPr>
          <a:xfrm>
            <a:off x="4762500" y="952500"/>
            <a:ext cx="3810000" cy="1428900"/>
          </a:xfrm>
          <a:prstGeom prst="roundRect">
            <a:avLst>
              <a:gd fmla="val 5333" name="adj"/>
            </a:avLst>
          </a:prstGeom>
          <a:solidFill>
            <a:srgbClr val="E3F2FD"/>
          </a:solidFill>
          <a:ln cap="flat" cmpd="sng" w="9525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597baf9a4_0_1711"/>
          <p:cNvSpPr txBox="1"/>
          <p:nvPr/>
        </p:nvSpPr>
        <p:spPr>
          <a:xfrm>
            <a:off x="4953000" y="10953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Listから生成する場合</a:t>
            </a:r>
            <a:endParaRPr b="1" sz="1300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5" name="Google Shape;335;g3e597baf9a4_0_1711"/>
          <p:cNvSpPr/>
          <p:nvPr/>
        </p:nvSpPr>
        <p:spPr>
          <a:xfrm>
            <a:off x="4953000" y="1476375"/>
            <a:ext cx="3429000" cy="666900"/>
          </a:xfrm>
          <a:prstGeom prst="roundRect">
            <a:avLst>
              <a:gd fmla="val 5714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e597baf9a4_0_1711"/>
          <p:cNvSpPr txBox="1"/>
          <p:nvPr/>
        </p:nvSpPr>
        <p:spPr>
          <a:xfrm>
            <a:off x="5048250" y="1571625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リスト名.stream()</a:t>
            </a:r>
            <a:endParaRPr b="0"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7" name="Google Shape;337;g3e597baf9a4_0_1711"/>
          <p:cNvSpPr/>
          <p:nvPr/>
        </p:nvSpPr>
        <p:spPr>
          <a:xfrm>
            <a:off x="571500" y="2667000"/>
            <a:ext cx="8001000" cy="1524000"/>
          </a:xfrm>
          <a:prstGeom prst="roundRect">
            <a:avLst>
              <a:gd fmla="val 5000" name="adj"/>
            </a:avLst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597baf9a4_0_1711"/>
          <p:cNvSpPr txBox="1"/>
          <p:nvPr/>
        </p:nvSpPr>
        <p:spPr>
          <a:xfrm>
            <a:off x="762000" y="28098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解説</a:t>
            </a:r>
            <a:endParaRPr b="1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・Stream APIを使うための「入り口」となるメソッドです。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・配列やコレクション（List, Setなど）をStreamという「データの流れ」に変換します。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・このメソッド単体では結果は得られず、中間操作・終端操作とセットで使います。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9" name="Google Shape;339;g3e597baf9a4_0_1711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sz="600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597baf9a4_0_19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g3e597baf9a4_0_192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e597baf9a4_0_192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597baf9a4_0_1929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48" name="Google Shape;348;g3e597baf9a4_0_1929"/>
          <p:cNvGrpSpPr/>
          <p:nvPr/>
        </p:nvGrpSpPr>
        <p:grpSpPr>
          <a:xfrm>
            <a:off x="571500" y="952500"/>
            <a:ext cx="3810000" cy="1428900"/>
            <a:chOff x="571500" y="952500"/>
            <a:chExt cx="3810000" cy="1428900"/>
          </a:xfrm>
        </p:grpSpPr>
        <p:sp>
          <p:nvSpPr>
            <p:cNvPr id="349" name="Google Shape;349;g3e597baf9a4_0_1929"/>
            <p:cNvSpPr/>
            <p:nvPr/>
          </p:nvSpPr>
          <p:spPr>
            <a:xfrm>
              <a:off x="571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E8F5E9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g3e597baf9a4_0_1929"/>
            <p:cNvSpPr txBox="1"/>
            <p:nvPr/>
          </p:nvSpPr>
          <p:spPr>
            <a:xfrm>
              <a:off x="762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300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filter：条件で絞り込む</a:t>
              </a:r>
              <a:endParaRPr b="1" sz="130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51" name="Google Shape;351;g3e597baf9a4_0_1929"/>
            <p:cNvSpPr/>
            <p:nvPr/>
          </p:nvSpPr>
          <p:spPr>
            <a:xfrm>
              <a:off x="762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e597baf9a4_0_1929"/>
            <p:cNvSpPr txBox="1"/>
            <p:nvPr/>
          </p:nvSpPr>
          <p:spPr>
            <a:xfrm>
              <a:off x="857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3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4)</a:t>
              </a:r>
              <a:endParaRPr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3" name="Google Shape;353;g3e597baf9a4_0_1929"/>
          <p:cNvGrpSpPr/>
          <p:nvPr/>
        </p:nvGrpSpPr>
        <p:grpSpPr>
          <a:xfrm>
            <a:off x="4762500" y="952500"/>
            <a:ext cx="3810000" cy="1428900"/>
            <a:chOff x="4762500" y="952500"/>
            <a:chExt cx="3810000" cy="1428900"/>
          </a:xfrm>
        </p:grpSpPr>
        <p:sp>
          <p:nvSpPr>
            <p:cNvPr id="354" name="Google Shape;354;g3e597baf9a4_0_1929"/>
            <p:cNvSpPr/>
            <p:nvPr/>
          </p:nvSpPr>
          <p:spPr>
            <a:xfrm>
              <a:off x="4762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E8F5E9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g3e597baf9a4_0_1929"/>
            <p:cNvSpPr txBox="1"/>
            <p:nvPr/>
          </p:nvSpPr>
          <p:spPr>
            <a:xfrm>
              <a:off x="4953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300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map：別の形に変換する</a:t>
              </a:r>
              <a:endParaRPr b="1" sz="130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56" name="Google Shape;356;g3e597baf9a4_0_1929"/>
            <p:cNvSpPr/>
            <p:nvPr/>
          </p:nvSpPr>
          <p:spPr>
            <a:xfrm>
              <a:off x="4953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e597baf9a4_0_1929"/>
            <p:cNvSpPr txBox="1"/>
            <p:nvPr/>
          </p:nvSpPr>
          <p:spPr>
            <a:xfrm>
              <a:off x="5048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3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.map(String::toUpperCase)</a:t>
              </a:r>
              <a:endParaRPr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8" name="Google Shape;358;g3e597baf9a4_0_1929"/>
          <p:cNvGrpSpPr/>
          <p:nvPr/>
        </p:nvGrpSpPr>
        <p:grpSpPr>
          <a:xfrm>
            <a:off x="571500" y="2667000"/>
            <a:ext cx="8001000" cy="1524000"/>
            <a:chOff x="571500" y="2667000"/>
            <a:chExt cx="8001000" cy="1524000"/>
          </a:xfrm>
        </p:grpSpPr>
        <p:sp>
          <p:nvSpPr>
            <p:cNvPr id="359" name="Google Shape;359;g3e597baf9a4_0_1929"/>
            <p:cNvSpPr/>
            <p:nvPr/>
          </p:nvSpPr>
          <p:spPr>
            <a:xfrm>
              <a:off x="571500" y="2667000"/>
              <a:ext cx="8001000" cy="1524000"/>
            </a:xfrm>
            <a:prstGeom prst="roundRect">
              <a:avLst>
                <a:gd fmla="val 5000" name="adj"/>
              </a:avLst>
            </a:prstGeom>
            <a:solidFill>
              <a:srgbClr val="F5F5F5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e597baf9a4_0_1929"/>
            <p:cNvSpPr txBox="1"/>
            <p:nvPr/>
          </p:nvSpPr>
          <p:spPr>
            <a:xfrm>
              <a:off x="762000" y="2809875"/>
              <a:ext cx="762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解説</a:t>
              </a:r>
              <a:endParaRPr b="1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・流れてきたデータに対して、特定の処理を行うメソッドです。</a:t>
              </a:r>
              <a:endParaRPr b="0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・戻り値もStreamであるため、複数の操作を数珠つなぎ（メソッドチェーン）にできます。</a:t>
              </a:r>
              <a:endParaRPr b="0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・中間操作だけでは処理は実行されず、終端操作が呼ばれた時に初めて動きます。</a:t>
              </a:r>
              <a:endParaRPr b="0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61" name="Google Shape;361;g3e597baf9a4_0_1929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362" name="Google Shape;362;g3e597baf9a4_0_1929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g3e597baf9a4_0_1929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g3e597baf9a4_0_1929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65" name="Google Shape;365;g3e597baf9a4_0_1929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3e597baf9a4_0_1929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81C784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sz="1400">
                <a:solidFill>
                  <a:srgbClr val="81C784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67" name="Google Shape;367;g3e597baf9a4_0_1929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g3e597baf9a4_0_1929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69" name="Google Shape;369;g3e597baf9a4_0_192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sz="600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597baf9a4_0_21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597baf9a4_0_2152"/>
          <p:cNvSpPr/>
          <p:nvPr/>
        </p:nvSpPr>
        <p:spPr>
          <a:xfrm>
            <a:off x="447675" y="361950"/>
            <a:ext cx="954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e597baf9a4_0_21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終端操作：最終的な結果を得る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77" name="Google Shape;377;g3e597baf9a4_0_2152"/>
          <p:cNvPicPr preferRelativeResize="0"/>
          <p:nvPr/>
        </p:nvPicPr>
        <p:blipFill rotWithShape="1">
          <a:blip r:embed="rId3">
            <a:alphaModFix/>
          </a:blip>
          <a:srcRect b="199" l="0" r="0" t="199"/>
          <a:stretch/>
        </p:blipFill>
        <p:spPr>
          <a:xfrm>
            <a:off x="8477250" y="295275"/>
            <a:ext cx="3621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g3e597baf9a4_0_2152"/>
          <p:cNvGrpSpPr/>
          <p:nvPr/>
        </p:nvGrpSpPr>
        <p:grpSpPr>
          <a:xfrm>
            <a:off x="571500" y="952500"/>
            <a:ext cx="3810000" cy="1428900"/>
            <a:chOff x="571500" y="952500"/>
            <a:chExt cx="3810000" cy="1428900"/>
          </a:xfrm>
        </p:grpSpPr>
        <p:sp>
          <p:nvSpPr>
            <p:cNvPr id="379" name="Google Shape;379;g3e597baf9a4_0_2152"/>
            <p:cNvSpPr/>
            <p:nvPr/>
          </p:nvSpPr>
          <p:spPr>
            <a:xfrm>
              <a:off x="571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FF3E0"/>
            </a:solidFill>
            <a:ln cap="flat" cmpd="sng" w="9525">
              <a:solidFill>
                <a:srgbClr val="FFA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g3e597baf9a4_0_2152"/>
            <p:cNvSpPr txBox="1"/>
            <p:nvPr/>
          </p:nvSpPr>
          <p:spPr>
            <a:xfrm>
              <a:off x="762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30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toList：結果をListとして取得する</a:t>
              </a:r>
              <a:endParaRPr b="1" sz="13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81" name="Google Shape;381;g3e597baf9a4_0_2152"/>
            <p:cNvSpPr/>
            <p:nvPr/>
          </p:nvSpPr>
          <p:spPr>
            <a:xfrm>
              <a:off x="762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3e597baf9a4_0_2152"/>
            <p:cNvSpPr txBox="1"/>
            <p:nvPr/>
          </p:nvSpPr>
          <p:spPr>
            <a:xfrm>
              <a:off x="857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3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</a:t>
              </a:r>
              <a:endParaRPr b="0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3" name="Google Shape;383;g3e597baf9a4_0_2152"/>
          <p:cNvGrpSpPr/>
          <p:nvPr/>
        </p:nvGrpSpPr>
        <p:grpSpPr>
          <a:xfrm>
            <a:off x="4762500" y="952500"/>
            <a:ext cx="3810000" cy="1428900"/>
            <a:chOff x="4762500" y="952500"/>
            <a:chExt cx="3810000" cy="1428900"/>
          </a:xfrm>
        </p:grpSpPr>
        <p:sp>
          <p:nvSpPr>
            <p:cNvPr id="384" name="Google Shape;384;g3e597baf9a4_0_2152"/>
            <p:cNvSpPr/>
            <p:nvPr/>
          </p:nvSpPr>
          <p:spPr>
            <a:xfrm>
              <a:off x="4762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FF3E0"/>
            </a:solidFill>
            <a:ln cap="flat" cmpd="sng" w="9525">
              <a:solidFill>
                <a:srgbClr val="FFA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e597baf9a4_0_2152"/>
            <p:cNvSpPr txBox="1"/>
            <p:nvPr/>
          </p:nvSpPr>
          <p:spPr>
            <a:xfrm>
              <a:off x="4953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30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count：要素の件数を取得する</a:t>
              </a:r>
              <a:endParaRPr b="1" sz="13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86" name="Google Shape;386;g3e597baf9a4_0_2152"/>
            <p:cNvSpPr/>
            <p:nvPr/>
          </p:nvSpPr>
          <p:spPr>
            <a:xfrm>
              <a:off x="4953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g3e597baf9a4_0_2152"/>
            <p:cNvSpPr txBox="1"/>
            <p:nvPr/>
          </p:nvSpPr>
          <p:spPr>
            <a:xfrm>
              <a:off x="5048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3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.count()</a:t>
              </a:r>
              <a:endParaRPr b="0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8" name="Google Shape;388;g3e597baf9a4_0_2152"/>
          <p:cNvGrpSpPr/>
          <p:nvPr/>
        </p:nvGrpSpPr>
        <p:grpSpPr>
          <a:xfrm>
            <a:off x="571500" y="2667000"/>
            <a:ext cx="8001000" cy="1524000"/>
            <a:chOff x="571500" y="2667000"/>
            <a:chExt cx="8001000" cy="1524000"/>
          </a:xfrm>
        </p:grpSpPr>
        <p:sp>
          <p:nvSpPr>
            <p:cNvPr id="389" name="Google Shape;389;g3e597baf9a4_0_2152"/>
            <p:cNvSpPr/>
            <p:nvPr/>
          </p:nvSpPr>
          <p:spPr>
            <a:xfrm>
              <a:off x="571500" y="2667000"/>
              <a:ext cx="8001000" cy="1524000"/>
            </a:xfrm>
            <a:prstGeom prst="roundRect">
              <a:avLst>
                <a:gd fmla="val 5000" name="adj"/>
              </a:avLst>
            </a:prstGeom>
            <a:solidFill>
              <a:srgbClr val="F5F5F5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g3e597baf9a4_0_2152"/>
            <p:cNvSpPr txBox="1"/>
            <p:nvPr/>
          </p:nvSpPr>
          <p:spPr>
            <a:xfrm>
              <a:off x="762000" y="2809875"/>
              <a:ext cx="762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解説</a:t>
              </a:r>
              <a:endParaRPr b="1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・Stream APIの「出口」となるメソッドです。</a:t>
              </a:r>
              <a:endParaRPr b="0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・このメソッドを呼び出すことで、中間操作で組み立てた処理が実際に実行されます。</a:t>
              </a:r>
              <a:endParaRPr b="0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・終端操作は1つのStreamに対して一度しか行えず、実行後はStreamが閉じられます。</a:t>
              </a:r>
              <a:endParaRPr b="0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91" name="Google Shape;391;g3e597baf9a4_0_2152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392" name="Google Shape;392;g3e597baf9a4_0_2152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g3e597baf9a4_0_2152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g3e597baf9a4_0_2152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95" name="Google Shape;395;g3e597baf9a4_0_2152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g3e597baf9a4_0_2152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97" name="Google Shape;397;g3e597baf9a4_0_2152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g3e597baf9a4_0_2152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sz="1400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99" name="Google Shape;399;g3e597baf9a4_0_21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sz="600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597baf9a4_0_23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e597baf9a4_0_236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597baf9a4_0_236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全体像と実行結果のイメージ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07" name="Google Shape;407;g3e597baf9a4_0_236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e597baf9a4_0_2363"/>
          <p:cNvSpPr/>
          <p:nvPr/>
        </p:nvSpPr>
        <p:spPr>
          <a:xfrm>
            <a:off x="571500" y="952500"/>
            <a:ext cx="8001000" cy="1524000"/>
          </a:xfrm>
          <a:prstGeom prst="roundRect">
            <a:avLst>
              <a:gd fmla="val 5000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597baf9a4_0_2363"/>
          <p:cNvSpPr txBox="1"/>
          <p:nvPr/>
        </p:nvSpPr>
        <p:spPr>
          <a:xfrm>
            <a:off x="762000" y="10953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String[] fruits = {</a:t>
            </a:r>
            <a:r>
              <a:rPr lang="ja" sz="13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"banana"</a:t>
            </a: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"cherry"</a:t>
            </a: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"date"</a:t>
            </a: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result = Arrays.stream(fruits) </a:t>
            </a:r>
            <a:r>
              <a:rPr lang="ja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① 生成</a:t>
            </a:r>
            <a:endParaRPr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.filter(s -&gt; s.length() &gt;= 4) </a:t>
            </a:r>
            <a:r>
              <a:rPr lang="ja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.map(String::toUpperCase) </a:t>
            </a:r>
            <a:r>
              <a:rPr lang="ja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.toList(); </a:t>
            </a:r>
            <a:r>
              <a:rPr lang="ja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③ 終端操作</a:t>
            </a:r>
            <a:endParaRPr sz="130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10" name="Google Shape;410;g3e597baf9a4_0_23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2571750"/>
            <a:ext cx="192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3e597baf9a4_0_23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75" y="2857500"/>
            <a:ext cx="954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e597baf9a4_0_2363"/>
          <p:cNvSpPr/>
          <p:nvPr/>
        </p:nvSpPr>
        <p:spPr>
          <a:xfrm>
            <a:off x="571500" y="3048000"/>
            <a:ext cx="3810000" cy="1333500"/>
          </a:xfrm>
          <a:prstGeom prst="roundRect">
            <a:avLst>
              <a:gd fmla="val 5714" name="adj"/>
            </a:avLst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597baf9a4_0_2363"/>
          <p:cNvSpPr txBox="1"/>
          <p:nvPr/>
        </p:nvSpPr>
        <p:spPr>
          <a:xfrm>
            <a:off x="762000" y="3190875"/>
            <a:ext cx="342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実際の出力結果 (resultの中身)</a:t>
            </a:r>
            <a:endParaRPr b="1" sz="14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[APPLE, BANANA, CHERRY, DATE]</a:t>
            </a:r>
            <a:endParaRPr b="1" sz="12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1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※"date"も4文字以上なので含まれます</a:t>
            </a:r>
            <a:endParaRPr b="1" sz="11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14" name="Google Shape;414;g3e597baf9a4_0_2363"/>
          <p:cNvSpPr/>
          <p:nvPr/>
        </p:nvSpPr>
        <p:spPr>
          <a:xfrm>
            <a:off x="4762500" y="3048000"/>
            <a:ext cx="3810000" cy="1333500"/>
          </a:xfrm>
          <a:prstGeom prst="roundRect">
            <a:avLst>
              <a:gd fmla="val 5714" name="adj"/>
            </a:avLst>
          </a:prstGeom>
          <a:solidFill>
            <a:srgbClr val="E3F2FD"/>
          </a:solidFill>
          <a:ln cap="flat" cmpd="sng" w="9525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597baf9a4_0_2363"/>
          <p:cNvSpPr txBox="1"/>
          <p:nvPr/>
        </p:nvSpPr>
        <p:spPr>
          <a:xfrm>
            <a:off x="4953000" y="3190875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処理のイメージ</a:t>
            </a:r>
            <a:endParaRPr b="1" sz="1400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1. データを流れ(Stream)にする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2. 条件に合うものだけ通す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3. 形を変える(大文字化)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4. 最後にリストとして回収する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16" name="Google Shape;416;g3e597baf9a4_0_2363"/>
          <p:cNvSpPr/>
          <p:nvPr/>
        </p:nvSpPr>
        <p:spPr>
          <a:xfrm>
            <a:off x="571500" y="4619625"/>
            <a:ext cx="8001000" cy="333300"/>
          </a:xfrm>
          <a:prstGeom prst="roundRect">
            <a:avLst>
              <a:gd fmla="val 11428" name="adj"/>
            </a:avLst>
          </a:prstGeom>
          <a:solidFill>
            <a:srgbClr val="F08300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e597baf9a4_0_2363"/>
          <p:cNvSpPr txBox="1"/>
          <p:nvPr/>
        </p:nvSpPr>
        <p:spPr>
          <a:xfrm>
            <a:off x="762000" y="4619625"/>
            <a:ext cx="762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「何を(WHAT)したいか」を繋げるだけで、複雑なデータ操作が完結します</a:t>
            </a:r>
            <a:endParaRPr b="1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597baf9a4_0_27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597baf9a4_0_2752"/>
          <p:cNvSpPr/>
          <p:nvPr/>
        </p:nvSpPr>
        <p:spPr>
          <a:xfrm>
            <a:off x="447675" y="361950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597baf9a4_0_27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まとめ：Stream APIの正体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25" name="Google Shape;425;g3e597baf9a4_0_2752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e597baf9a4_0_2752"/>
          <p:cNvSpPr/>
          <p:nvPr/>
        </p:nvSpPr>
        <p:spPr>
          <a:xfrm>
            <a:off x="571500" y="952500"/>
            <a:ext cx="8001000" cy="57150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e597baf9a4_0_2752"/>
          <p:cNvSpPr txBox="1"/>
          <p:nvPr/>
        </p:nvSpPr>
        <p:spPr>
          <a:xfrm>
            <a:off x="762000" y="952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5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データの集まりに対して「どう処理して、どんな結果がほしいか」を</a:t>
            </a:r>
            <a:br>
              <a:rPr b="1" lang="ja" sz="165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1" lang="ja" sz="165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流れとして書くための仕組み</a:t>
            </a:r>
            <a:endParaRPr b="1" sz="165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428" name="Google Shape;428;g3e597baf9a4_0_2752"/>
          <p:cNvGrpSpPr/>
          <p:nvPr/>
        </p:nvGrpSpPr>
        <p:grpSpPr>
          <a:xfrm>
            <a:off x="571500" y="1714500"/>
            <a:ext cx="3810000" cy="1238400"/>
            <a:chOff x="571500" y="1714500"/>
            <a:chExt cx="3810000" cy="1238400"/>
          </a:xfrm>
        </p:grpSpPr>
        <p:sp>
          <p:nvSpPr>
            <p:cNvPr id="429" name="Google Shape;429;g3e597baf9a4_0_2752"/>
            <p:cNvSpPr/>
            <p:nvPr/>
          </p:nvSpPr>
          <p:spPr>
            <a:xfrm>
              <a:off x="571500" y="1714500"/>
              <a:ext cx="3810000" cy="12384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g3e597baf9a4_0_2752"/>
            <p:cNvSpPr txBox="1"/>
            <p:nvPr/>
          </p:nvSpPr>
          <p:spPr>
            <a:xfrm>
              <a:off x="762000" y="1857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特徴①：連続した「1つの流れ」</a:t>
              </a:r>
              <a:endParaRPr b="1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書き方は </a:t>
              </a:r>
              <a:r>
                <a:rPr b="1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生成 → 中間操作 → 終端操作</a:t>
              </a:r>
              <a:endParaRPr b="0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Stream, filter, map, toListなどのメソッドを数珠つなぎ（メソッドチェーン）で記述可能</a:t>
              </a:r>
              <a:endParaRPr b="0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431" name="Google Shape;431;g3e597baf9a4_0_2752"/>
          <p:cNvGrpSpPr/>
          <p:nvPr/>
        </p:nvGrpSpPr>
        <p:grpSpPr>
          <a:xfrm>
            <a:off x="4762500" y="1714500"/>
            <a:ext cx="3810000" cy="1238400"/>
            <a:chOff x="4762500" y="1714500"/>
            <a:chExt cx="3810000" cy="1238400"/>
          </a:xfrm>
        </p:grpSpPr>
        <p:sp>
          <p:nvSpPr>
            <p:cNvPr id="432" name="Google Shape;432;g3e597baf9a4_0_2752"/>
            <p:cNvSpPr/>
            <p:nvPr/>
          </p:nvSpPr>
          <p:spPr>
            <a:xfrm>
              <a:off x="4762500" y="1714500"/>
              <a:ext cx="3810000" cy="12384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g3e597baf9a4_0_2752"/>
            <p:cNvSpPr txBox="1"/>
            <p:nvPr/>
          </p:nvSpPr>
          <p:spPr>
            <a:xfrm>
              <a:off x="4953000" y="1857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記述の特徴：宣言的な書き方</a:t>
              </a:r>
              <a:endParaRPr b="1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「手順（HOW）」ではなく、</a:t>
              </a:r>
              <a:r>
                <a:rPr b="0" lang="ja" sz="1200">
                  <a:solidFill>
                    <a:srgbClr val="1F1F1F"/>
                  </a:solidFill>
                  <a:highlight>
                    <a:srgbClr val="FFF9C4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「やりたいこと（WHAT）」</a:t>
              </a:r>
              <a:r>
                <a:rPr b="0" lang="ja" sz="1200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を並べることで、コードが直感的に理解しやすくなる</a:t>
              </a:r>
              <a:endParaRPr b="0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434" name="Google Shape;434;g3e597baf9a4_0_2752"/>
          <p:cNvSpPr/>
          <p:nvPr/>
        </p:nvSpPr>
        <p:spPr>
          <a:xfrm>
            <a:off x="571500" y="3095625"/>
            <a:ext cx="8001000" cy="1238400"/>
          </a:xfrm>
          <a:prstGeom prst="roundRect">
            <a:avLst>
              <a:gd fmla="val 6153" name="adj"/>
            </a:avLst>
          </a:prstGeom>
          <a:solidFill>
            <a:srgbClr val="FFF3E0"/>
          </a:solidFill>
          <a:ln cap="flat" cmpd="sng" w="9525">
            <a:solidFill>
              <a:srgbClr val="FFCC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e597baf9a4_0_2752"/>
          <p:cNvSpPr txBox="1"/>
          <p:nvPr/>
        </p:nvSpPr>
        <p:spPr>
          <a:xfrm>
            <a:off x="762000" y="32385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実行の仕組み</a:t>
            </a:r>
            <a:endParaRPr b="1" sz="12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rPr>
              <a:t>・中間操作だけでは処理は実行されず、終端操作が呼ばれた時に初めて動き出す</a:t>
            </a:r>
            <a:endParaRPr b="0" sz="1200">
              <a:solidFill>
                <a:srgbClr val="1F1F1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ja" sz="1200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rPr>
              <a:t>・終端操作は1つのStreamに対して一度しか行えず、実行後はStreamが閉じられる</a:t>
            </a:r>
            <a:endParaRPr b="0" sz="1200">
              <a:solidFill>
                <a:srgbClr val="1F1F1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6" name="Google Shape;436;g3e597baf9a4_0_2752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e597baf9a4_0_2752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b="1" sz="1400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8" name="Google Shape;438;g3e597baf9a4_0_2752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b="1" sz="1400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9" name="Google Shape;439;g3e597baf9a4_0_2752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b="1" sz="1400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0" name="Google Shape;440;g3e597baf9a4_0_27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sz="600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g3e597baf9a4_0_2752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1" sz="600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