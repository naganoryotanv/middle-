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oto Sans"/>
      <p:bold r:id="rId22"/>
      <p:boldItalic r:id="rId23"/>
    </p:embeddedFont>
    <p:embeddedFont>
      <p:font typeface="Noto Sans JP"/>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otoSans-bold.fntdata"/><Relationship Id="rId21" Type="http://schemas.openxmlformats.org/officeDocument/2006/relationships/slide" Target="slides/slide16.xml"/><Relationship Id="rId24" Type="http://schemas.openxmlformats.org/officeDocument/2006/relationships/font" Target="fonts/NotoSansJP-regular.fntdata"/><Relationship Id="rId23" Type="http://schemas.openxmlformats.org/officeDocument/2006/relationships/font" Target="fonts/Noto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NotoSansJP-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55cd1e1e3_18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55cd1e1e3_18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55cd1e1e3_18_2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55cd1e1e3_18_2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全体が決まってから作る</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55cd1e1e3_18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55cd1e1e3_18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55cd1e1e3_18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e55cd1e1e3_18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55cd1e1e3_18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55cd1e1e3_18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55cd1e1e3_18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55cd1e1e3_18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55cd1e1e3_18_2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55cd1e1e3_18_2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5cd1e1e3_18_2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55cd1e1e3_18_2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55cd1e1e3_18_1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e55cd1e1e3_18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55cd1e1e3_18_1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e55cd1e1e3_18_1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55cd1e1e3_18_1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55cd1e1e3_18_1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55cd1e1e3_18_20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e55cd1e1e3_18_20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55cd1e1e3_18_2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e55cd1e1e3_18_2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e55cd1e1e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e55cd1e1e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55cd1e1e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e55cd1e1e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55cd1e1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55cd1e1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cSld name="CUSTOM">
    <p:spTree>
      <p:nvGrpSpPr>
        <p:cNvPr id="50" name="Shape 50"/>
        <p:cNvGrpSpPr/>
        <p:nvPr/>
      </p:nvGrpSpPr>
      <p:grpSpPr>
        <a:xfrm>
          <a:off x="0" y="0"/>
          <a:ext cx="0" cy="0"/>
          <a:chOff x="0" y="0"/>
          <a:chExt cx="0" cy="0"/>
        </a:xfrm>
      </p:grpSpPr>
      <p:pic>
        <p:nvPicPr>
          <p:cNvPr id="51" name="Google Shape;51;p13" title="アセット 2@2x.png"/>
          <p:cNvPicPr preferRelativeResize="0"/>
          <p:nvPr/>
        </p:nvPicPr>
        <p:blipFill rotWithShape="1">
          <a:blip r:embed="rId2">
            <a:alphaModFix/>
          </a:blip>
          <a:srcRect b="0" l="0" r="0" t="0"/>
          <a:stretch/>
        </p:blipFill>
        <p:spPr>
          <a:xfrm>
            <a:off x="290068" y="251560"/>
            <a:ext cx="520176" cy="602321"/>
          </a:xfrm>
          <a:prstGeom prst="rect">
            <a:avLst/>
          </a:prstGeom>
          <a:noFill/>
          <a:ln>
            <a:noFill/>
          </a:ln>
        </p:spPr>
      </p:pic>
      <p:pic>
        <p:nvPicPr>
          <p:cNvPr id="52" name="Google Shape;52;p13"/>
          <p:cNvPicPr preferRelativeResize="0"/>
          <p:nvPr/>
        </p:nvPicPr>
        <p:blipFill>
          <a:blip r:embed="rId3">
            <a:alphaModFix/>
          </a:blip>
          <a:stretch>
            <a:fillRect/>
          </a:stretch>
        </p:blipFill>
        <p:spPr>
          <a:xfrm>
            <a:off x="8031071" y="3279874"/>
            <a:ext cx="776300" cy="1346334"/>
          </a:xfrm>
          <a:prstGeom prst="rect">
            <a:avLst/>
          </a:prstGeom>
          <a:noFill/>
          <a:ln>
            <a:noFill/>
          </a:ln>
        </p:spPr>
      </p:pic>
      <p:sp>
        <p:nvSpPr>
          <p:cNvPr id="53" name="Google Shape;53;p13"/>
          <p:cNvSpPr txBox="1"/>
          <p:nvPr>
            <p:ph idx="12" type="sldNum"/>
          </p:nvPr>
        </p:nvSpPr>
        <p:spPr>
          <a:xfrm>
            <a:off x="8556784" y="4749851"/>
            <a:ext cx="548700" cy="393600"/>
          </a:xfrm>
          <a:prstGeom prst="rect">
            <a:avLst/>
          </a:prstGeom>
          <a:noFill/>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個別ページ">
  <p:cSld name="CUSTOM_1">
    <p:spTree>
      <p:nvGrpSpPr>
        <p:cNvPr id="54" name="Shape 54"/>
        <p:cNvGrpSpPr/>
        <p:nvPr/>
      </p:nvGrpSpPr>
      <p:grpSpPr>
        <a:xfrm>
          <a:off x="0" y="0"/>
          <a:ext cx="0" cy="0"/>
          <a:chOff x="0" y="0"/>
          <a:chExt cx="0" cy="0"/>
        </a:xfrm>
      </p:grpSpPr>
      <p:pic>
        <p:nvPicPr>
          <p:cNvPr id="55" name="Google Shape;55;p14" title="アセット 2@2x.png"/>
          <p:cNvPicPr preferRelativeResize="0"/>
          <p:nvPr/>
        </p:nvPicPr>
        <p:blipFill rotWithShape="1">
          <a:blip r:embed="rId2">
            <a:alphaModFix/>
          </a:blip>
          <a:srcRect b="0" l="0" r="0" t="0"/>
          <a:stretch/>
        </p:blipFill>
        <p:spPr>
          <a:xfrm>
            <a:off x="8480975" y="302386"/>
            <a:ext cx="359250" cy="415968"/>
          </a:xfrm>
          <a:prstGeom prst="rect">
            <a:avLst/>
          </a:prstGeom>
          <a:noFill/>
          <a:ln>
            <a:noFill/>
          </a:ln>
        </p:spPr>
      </p:pic>
      <p:sp>
        <p:nvSpPr>
          <p:cNvPr id="56" name="Google Shape;56;p14"/>
          <p:cNvSpPr/>
          <p:nvPr/>
        </p:nvSpPr>
        <p:spPr>
          <a:xfrm>
            <a:off x="448607" y="367420"/>
            <a:ext cx="91800" cy="285900"/>
          </a:xfrm>
          <a:prstGeom prst="rect">
            <a:avLst/>
          </a:prstGeom>
          <a:solidFill>
            <a:srgbClr val="F083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7" name="Google Shape;57;p14"/>
          <p:cNvSpPr txBox="1"/>
          <p:nvPr>
            <p:ph type="title"/>
          </p:nvPr>
        </p:nvSpPr>
        <p:spPr>
          <a:xfrm>
            <a:off x="526563" y="317775"/>
            <a:ext cx="7103100" cy="3852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1pPr>
            <a:lvl2pPr lvl="1">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2pPr>
            <a:lvl3pPr lvl="2">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3pPr>
            <a:lvl4pPr lvl="3">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4pPr>
            <a:lvl5pPr lvl="4">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5pPr>
            <a:lvl6pPr lvl="5">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6pPr>
            <a:lvl7pPr lvl="6">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7pPr>
            <a:lvl8pPr lvl="7">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8pPr>
            <a:lvl9pPr lvl="8">
              <a:spcBef>
                <a:spcPts val="0"/>
              </a:spcBef>
              <a:spcAft>
                <a:spcPts val="0"/>
              </a:spcAft>
              <a:buClr>
                <a:srgbClr val="404040"/>
              </a:buClr>
              <a:buSzPts val="2200"/>
              <a:buFont typeface="Noto Sans JP"/>
              <a:buNone/>
              <a:defRPr b="1" sz="2200">
                <a:solidFill>
                  <a:srgbClr val="404040"/>
                </a:solidFill>
                <a:latin typeface="Noto Sans JP"/>
                <a:ea typeface="Noto Sans JP"/>
                <a:cs typeface="Noto Sans JP"/>
                <a:sym typeface="Noto Sans JP"/>
              </a:defRPr>
            </a:lvl9pPr>
          </a:lstStyle>
          <a:p/>
        </p:txBody>
      </p:sp>
      <p:sp>
        <p:nvSpPr>
          <p:cNvPr id="58" name="Google Shape;58;p14"/>
          <p:cNvSpPr txBox="1"/>
          <p:nvPr>
            <p:ph idx="12" type="sldNum"/>
          </p:nvPr>
        </p:nvSpPr>
        <p:spPr>
          <a:xfrm>
            <a:off x="8556784" y="4749851"/>
            <a:ext cx="548700" cy="393600"/>
          </a:xfrm>
          <a:prstGeom prst="rect">
            <a:avLst/>
          </a:prstGeom>
          <a:noFill/>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55cd1e1e3_10_0)">
  <p:cSld name="Generated (g3e55cd1e1e3_10_0)">
    <p:spTree>
      <p:nvGrpSpPr>
        <p:cNvPr id="59" name="Shape 5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5" name="Google Shape;65;p16"/>
          <p:cNvPicPr preferRelativeResize="0"/>
          <p:nvPr/>
        </p:nvPicPr>
        <p:blipFill rotWithShape="1">
          <a:blip r:embed="rId3">
            <a:alphaModFix/>
          </a:blip>
          <a:srcRect b="199" l="0" r="0" t="189"/>
          <a:stretch/>
        </p:blipFill>
        <p:spPr>
          <a:xfrm>
            <a:off x="290036" y="251555"/>
            <a:ext cx="520200" cy="602400"/>
          </a:xfrm>
          <a:prstGeom prst="rect">
            <a:avLst/>
          </a:prstGeom>
          <a:noFill/>
          <a:ln>
            <a:noFill/>
          </a:ln>
        </p:spPr>
      </p:pic>
      <p:pic>
        <p:nvPicPr>
          <p:cNvPr id="66" name="Google Shape;66;p16"/>
          <p:cNvPicPr preferRelativeResize="0"/>
          <p:nvPr/>
        </p:nvPicPr>
        <p:blipFill rotWithShape="1">
          <a:blip r:embed="rId4">
            <a:alphaModFix/>
          </a:blip>
          <a:srcRect b="0" l="0" r="0" t="0"/>
          <a:stretch/>
        </p:blipFill>
        <p:spPr>
          <a:xfrm>
            <a:off x="8031099" y="3279839"/>
            <a:ext cx="776400" cy="1346400"/>
          </a:xfrm>
          <a:prstGeom prst="rect">
            <a:avLst/>
          </a:prstGeom>
          <a:noFill/>
          <a:ln>
            <a:noFill/>
          </a:ln>
        </p:spPr>
      </p:pic>
      <p:sp>
        <p:nvSpPr>
          <p:cNvPr id="67" name="Google Shape;67;p16"/>
          <p:cNvSpPr txBox="1"/>
          <p:nvPr/>
        </p:nvSpPr>
        <p:spPr>
          <a:xfrm>
            <a:off x="762000" y="2000250"/>
            <a:ext cx="7620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3600">
                <a:solidFill>
                  <a:srgbClr val="404040"/>
                </a:solidFill>
                <a:latin typeface="Noto Sans JP"/>
                <a:ea typeface="Noto Sans JP"/>
                <a:cs typeface="Noto Sans JP"/>
                <a:sym typeface="Noto Sans JP"/>
              </a:rPr>
              <a:t>Stream APIを理解する</a:t>
            </a:r>
            <a:endParaRPr b="1" sz="3600">
              <a:solidFill>
                <a:srgbClr val="404040"/>
              </a:solidFill>
              <a:latin typeface="Noto Sans JP"/>
              <a:ea typeface="Noto Sans JP"/>
              <a:cs typeface="Noto Sans JP"/>
              <a:sym typeface="Noto Sans JP"/>
            </a:endParaRPr>
          </a:p>
        </p:txBody>
      </p:sp>
      <p:sp>
        <p:nvSpPr>
          <p:cNvPr id="68" name="Google Shape;68;p16"/>
          <p:cNvSpPr txBox="1"/>
          <p:nvPr/>
        </p:nvSpPr>
        <p:spPr>
          <a:xfrm>
            <a:off x="3810000" y="3619500"/>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100">
                <a:solidFill>
                  <a:srgbClr val="404040"/>
                </a:solidFill>
                <a:latin typeface="Noto Sans JP"/>
                <a:ea typeface="Noto Sans JP"/>
                <a:cs typeface="Noto Sans JP"/>
                <a:sym typeface="Noto Sans JP"/>
              </a:rPr>
              <a:t>長野 椋太</a:t>
            </a:r>
            <a:endParaRPr b="1" sz="1100">
              <a:solidFill>
                <a:srgbClr val="404040"/>
              </a:solidFill>
              <a:latin typeface="Noto Sans JP"/>
              <a:ea typeface="Noto Sans JP"/>
              <a:cs typeface="Noto Sans JP"/>
              <a:sym typeface="Noto Sans JP"/>
            </a:endParaRPr>
          </a:p>
        </p:txBody>
      </p:sp>
      <p:sp>
        <p:nvSpPr>
          <p:cNvPr id="69" name="Google Shape;69;p16"/>
          <p:cNvSpPr txBox="1"/>
          <p:nvPr/>
        </p:nvSpPr>
        <p:spPr>
          <a:xfrm>
            <a:off x="7829550" y="4857750"/>
            <a:ext cx="952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800">
                <a:solidFill>
                  <a:srgbClr val="404040"/>
                </a:solidFill>
                <a:latin typeface="Noto Sans"/>
                <a:ea typeface="Noto Sans"/>
                <a:cs typeface="Noto Sans"/>
                <a:sym typeface="Noto Sans"/>
              </a:rPr>
              <a:t>2026/05/29</a:t>
            </a:r>
            <a:endParaRPr b="1" sz="800">
              <a:solidFill>
                <a:srgbClr val="404040"/>
              </a:solidFill>
              <a:latin typeface="Noto Sans"/>
              <a:ea typeface="Noto Sans"/>
              <a:cs typeface="Noto Sans"/>
              <a:sym typeface="No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7"/>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7"/>
          <p:cNvSpPr txBox="1"/>
          <p:nvPr/>
        </p:nvSpPr>
        <p:spPr>
          <a:xfrm>
            <a:off x="726757" y="318135"/>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目次</a:t>
            </a:r>
            <a:endParaRPr b="1" sz="2200">
              <a:solidFill>
                <a:srgbClr val="404040"/>
              </a:solidFill>
              <a:latin typeface="Noto Sans JP"/>
              <a:ea typeface="Noto Sans JP"/>
              <a:cs typeface="Noto Sans JP"/>
              <a:sym typeface="Noto Sans JP"/>
            </a:endParaRPr>
          </a:p>
        </p:txBody>
      </p:sp>
      <p:pic>
        <p:nvPicPr>
          <p:cNvPr id="77" name="Google Shape;77;p17"/>
          <p:cNvPicPr preferRelativeResize="0"/>
          <p:nvPr/>
        </p:nvPicPr>
        <p:blipFill rotWithShape="1">
          <a:blip r:embed="rId3">
            <a:alphaModFix/>
          </a:blip>
          <a:srcRect b="30" l="0" r="0" t="30"/>
          <a:stretch/>
        </p:blipFill>
        <p:spPr>
          <a:xfrm>
            <a:off x="8481060" y="301943"/>
            <a:ext cx="359100" cy="417300"/>
          </a:xfrm>
          <a:prstGeom prst="rect">
            <a:avLst/>
          </a:prstGeom>
          <a:noFill/>
          <a:ln>
            <a:noFill/>
          </a:ln>
        </p:spPr>
      </p:pic>
      <p:grpSp>
        <p:nvGrpSpPr>
          <p:cNvPr id="78" name="Google Shape;78;p17"/>
          <p:cNvGrpSpPr/>
          <p:nvPr/>
        </p:nvGrpSpPr>
        <p:grpSpPr>
          <a:xfrm>
            <a:off x="1143000" y="1333500"/>
            <a:ext cx="6858000" cy="571500"/>
            <a:chOff x="0" y="0"/>
            <a:chExt cx="6858000" cy="571500"/>
          </a:xfrm>
        </p:grpSpPr>
        <p:sp>
          <p:nvSpPr>
            <p:cNvPr id="79" name="Google Shape;79;p17"/>
            <p:cNvSpPr/>
            <p:nvPr/>
          </p:nvSpPr>
          <p:spPr>
            <a:xfrm>
              <a:off x="0" y="0"/>
              <a:ext cx="6858000" cy="571500"/>
            </a:xfrm>
            <a:prstGeom prst="roundRect">
              <a:avLst>
                <a:gd fmla="val 16666"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7"/>
            <p:cNvSpPr txBox="1"/>
            <p:nvPr/>
          </p:nvSpPr>
          <p:spPr>
            <a:xfrm>
              <a:off x="190500" y="0"/>
              <a:ext cx="6477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400">
                  <a:solidFill>
                    <a:srgbClr val="FFFFFF"/>
                  </a:solidFill>
                  <a:latin typeface="Noto Sans"/>
                  <a:ea typeface="Noto Sans"/>
                  <a:cs typeface="Noto Sans"/>
                  <a:sym typeface="Noto Sans"/>
                </a:rPr>
                <a:t>01</a:t>
              </a:r>
              <a:r>
                <a:rPr b="1" lang="ja" sz="1800">
                  <a:solidFill>
                    <a:srgbClr val="404040"/>
                  </a:solidFill>
                  <a:latin typeface="Noto Sans JP"/>
                  <a:ea typeface="Noto Sans JP"/>
                  <a:cs typeface="Noto Sans JP"/>
                  <a:sym typeface="Noto Sans JP"/>
                </a:rPr>
                <a:t>本日のゴール</a:t>
              </a:r>
              <a:endParaRPr b="1" sz="1800">
                <a:solidFill>
                  <a:srgbClr val="404040"/>
                </a:solidFill>
                <a:latin typeface="Noto Sans JP"/>
                <a:ea typeface="Noto Sans JP"/>
                <a:cs typeface="Noto Sans JP"/>
                <a:sym typeface="Noto Sans JP"/>
              </a:endParaRPr>
            </a:p>
          </p:txBody>
        </p:sp>
      </p:grpSp>
      <p:grpSp>
        <p:nvGrpSpPr>
          <p:cNvPr id="81" name="Google Shape;81;p17"/>
          <p:cNvGrpSpPr/>
          <p:nvPr/>
        </p:nvGrpSpPr>
        <p:grpSpPr>
          <a:xfrm>
            <a:off x="1143000" y="2095500"/>
            <a:ext cx="6858000" cy="571500"/>
            <a:chOff x="0" y="0"/>
            <a:chExt cx="6858000" cy="571500"/>
          </a:xfrm>
        </p:grpSpPr>
        <p:sp>
          <p:nvSpPr>
            <p:cNvPr id="82" name="Google Shape;82;p17"/>
            <p:cNvSpPr/>
            <p:nvPr/>
          </p:nvSpPr>
          <p:spPr>
            <a:xfrm>
              <a:off x="0" y="0"/>
              <a:ext cx="6858000" cy="571500"/>
            </a:xfrm>
            <a:prstGeom prst="roundRect">
              <a:avLst>
                <a:gd fmla="val 16666"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7"/>
            <p:cNvSpPr txBox="1"/>
            <p:nvPr/>
          </p:nvSpPr>
          <p:spPr>
            <a:xfrm>
              <a:off x="190500" y="0"/>
              <a:ext cx="6477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400">
                  <a:solidFill>
                    <a:srgbClr val="FFFFFF"/>
                  </a:solidFill>
                  <a:latin typeface="Noto Sans"/>
                  <a:ea typeface="Noto Sans"/>
                  <a:cs typeface="Noto Sans"/>
                  <a:sym typeface="Noto Sans"/>
                </a:rPr>
                <a:t>02</a:t>
              </a:r>
              <a:r>
                <a:rPr b="1" lang="ja" sz="1800">
                  <a:solidFill>
                    <a:srgbClr val="404040"/>
                  </a:solidFill>
                  <a:latin typeface="Noto Sans JP"/>
                  <a:ea typeface="Noto Sans JP"/>
                  <a:cs typeface="Noto Sans JP"/>
                  <a:sym typeface="Noto Sans JP"/>
                </a:rPr>
                <a:t>Stream APIとは何か？</a:t>
              </a:r>
              <a:endParaRPr b="1" sz="1800">
                <a:solidFill>
                  <a:srgbClr val="404040"/>
                </a:solidFill>
                <a:latin typeface="Noto Sans JP"/>
                <a:ea typeface="Noto Sans JP"/>
                <a:cs typeface="Noto Sans JP"/>
                <a:sym typeface="Noto Sans JP"/>
              </a:endParaRPr>
            </a:p>
          </p:txBody>
        </p:sp>
      </p:grpSp>
      <p:grpSp>
        <p:nvGrpSpPr>
          <p:cNvPr id="84" name="Google Shape;84;p17"/>
          <p:cNvGrpSpPr/>
          <p:nvPr/>
        </p:nvGrpSpPr>
        <p:grpSpPr>
          <a:xfrm>
            <a:off x="1143000" y="2857500"/>
            <a:ext cx="6858000" cy="571500"/>
            <a:chOff x="0" y="0"/>
            <a:chExt cx="6858000" cy="571500"/>
          </a:xfrm>
        </p:grpSpPr>
        <p:sp>
          <p:nvSpPr>
            <p:cNvPr id="85" name="Google Shape;85;p17"/>
            <p:cNvSpPr/>
            <p:nvPr/>
          </p:nvSpPr>
          <p:spPr>
            <a:xfrm>
              <a:off x="0" y="0"/>
              <a:ext cx="6858000" cy="571500"/>
            </a:xfrm>
            <a:prstGeom prst="roundRect">
              <a:avLst>
                <a:gd fmla="val 16666"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7"/>
            <p:cNvSpPr txBox="1"/>
            <p:nvPr/>
          </p:nvSpPr>
          <p:spPr>
            <a:xfrm>
              <a:off x="190500" y="0"/>
              <a:ext cx="6477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400">
                  <a:solidFill>
                    <a:srgbClr val="FFFFFF"/>
                  </a:solidFill>
                  <a:latin typeface="Noto Sans"/>
                  <a:ea typeface="Noto Sans"/>
                  <a:cs typeface="Noto Sans"/>
                  <a:sym typeface="Noto Sans"/>
                </a:rPr>
                <a:t>03</a:t>
              </a:r>
              <a:r>
                <a:rPr b="1" lang="ja" sz="1800">
                  <a:solidFill>
                    <a:srgbClr val="404040"/>
                  </a:solidFill>
                  <a:latin typeface="Noto Sans JP"/>
                  <a:ea typeface="Noto Sans JP"/>
                  <a:cs typeface="Noto Sans JP"/>
                  <a:sym typeface="Noto Sans JP"/>
                </a:rPr>
                <a:t>特徴とメリット</a:t>
              </a:r>
              <a:endParaRPr b="1" sz="1800">
                <a:solidFill>
                  <a:srgbClr val="404040"/>
                </a:solidFill>
                <a:latin typeface="Noto Sans JP"/>
                <a:ea typeface="Noto Sans JP"/>
                <a:cs typeface="Noto Sans JP"/>
                <a:sym typeface="Noto Sans JP"/>
              </a:endParaRPr>
            </a:p>
          </p:txBody>
        </p:sp>
      </p:grpSp>
      <p:grpSp>
        <p:nvGrpSpPr>
          <p:cNvPr id="87" name="Google Shape;87;p17"/>
          <p:cNvGrpSpPr/>
          <p:nvPr/>
        </p:nvGrpSpPr>
        <p:grpSpPr>
          <a:xfrm>
            <a:off x="1143000" y="3619500"/>
            <a:ext cx="6858000" cy="571500"/>
            <a:chOff x="0" y="0"/>
            <a:chExt cx="6858000" cy="571500"/>
          </a:xfrm>
        </p:grpSpPr>
        <p:sp>
          <p:nvSpPr>
            <p:cNvPr id="88" name="Google Shape;88;p17"/>
            <p:cNvSpPr/>
            <p:nvPr/>
          </p:nvSpPr>
          <p:spPr>
            <a:xfrm>
              <a:off x="0" y="0"/>
              <a:ext cx="6858000" cy="571500"/>
            </a:xfrm>
            <a:prstGeom prst="roundRect">
              <a:avLst>
                <a:gd fmla="val 16666"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7"/>
            <p:cNvSpPr txBox="1"/>
            <p:nvPr/>
          </p:nvSpPr>
          <p:spPr>
            <a:xfrm>
              <a:off x="190500" y="0"/>
              <a:ext cx="6477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400">
                  <a:solidFill>
                    <a:srgbClr val="FFFFFF"/>
                  </a:solidFill>
                  <a:latin typeface="Noto Sans"/>
                  <a:ea typeface="Noto Sans"/>
                  <a:cs typeface="Noto Sans"/>
                  <a:sym typeface="Noto Sans"/>
                </a:rPr>
                <a:t>04</a:t>
              </a:r>
              <a:r>
                <a:rPr b="1" lang="ja" sz="1800">
                  <a:solidFill>
                    <a:srgbClr val="404040"/>
                  </a:solidFill>
                  <a:latin typeface="Noto Sans JP"/>
                  <a:ea typeface="Noto Sans JP"/>
                  <a:cs typeface="Noto Sans JP"/>
                  <a:sym typeface="Noto Sans JP"/>
                </a:rPr>
                <a:t>まとめ</a:t>
              </a:r>
              <a:endParaRPr b="1" sz="1800">
                <a:solidFill>
                  <a:srgbClr val="404040"/>
                </a:solidFill>
                <a:latin typeface="Noto Sans JP"/>
                <a:ea typeface="Noto Sans JP"/>
                <a:cs typeface="Noto Sans JP"/>
                <a:sym typeface="Noto Sans JP"/>
              </a:endParaRPr>
            </a:p>
          </p:txBody>
        </p:sp>
      </p:grpSp>
      <p:sp>
        <p:nvSpPr>
          <p:cNvPr id="90" name="Google Shape;90;p17"/>
          <p:cNvSpPr txBox="1"/>
          <p:nvPr/>
        </p:nvSpPr>
        <p:spPr>
          <a:xfrm>
            <a:off x="7829550" y="4924425"/>
            <a:ext cx="600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91" name="Google Shape;91;p17"/>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a:t>
            </a:r>
            <a:endParaRPr b="1" sz="600">
              <a:solidFill>
                <a:srgbClr val="404040"/>
              </a:solidFill>
              <a:latin typeface="Noto Sans"/>
              <a:ea typeface="Noto Sans"/>
              <a:cs typeface="Noto Sans"/>
              <a:sym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pic>
        <p:nvPicPr>
          <p:cNvPr id="96" name="Google Shape;96;p18"/>
          <p:cNvPicPr preferRelativeResize="0"/>
          <p:nvPr/>
        </p:nvPicPr>
        <p:blipFill rotWithShape="1">
          <a:blip r:embed="rId3">
            <a:alphaModFix/>
          </a:blip>
          <a:srcRect b="140" l="0" r="0" t="150"/>
          <a:stretch/>
        </p:blipFill>
        <p:spPr>
          <a:xfrm>
            <a:off x="8481060" y="301943"/>
            <a:ext cx="359100" cy="416100"/>
          </a:xfrm>
          <a:prstGeom prst="rect">
            <a:avLst/>
          </a:prstGeom>
          <a:noFill/>
          <a:ln>
            <a:noFill/>
          </a:ln>
        </p:spPr>
      </p:pic>
      <p:sp>
        <p:nvSpPr>
          <p:cNvPr id="97" name="Google Shape;97;p18"/>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8"/>
          <p:cNvSpPr txBox="1"/>
          <p:nvPr/>
        </p:nvSpPr>
        <p:spPr>
          <a:xfrm>
            <a:off x="612457" y="317560"/>
            <a:ext cx="7102800" cy="38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本日のゴール</a:t>
            </a:r>
            <a:endParaRPr b="1" sz="2200">
              <a:solidFill>
                <a:srgbClr val="404040"/>
              </a:solidFill>
              <a:latin typeface="Noto Sans JP"/>
              <a:ea typeface="Noto Sans JP"/>
              <a:cs typeface="Noto Sans JP"/>
              <a:sym typeface="Noto Sans JP"/>
            </a:endParaRPr>
          </a:p>
        </p:txBody>
      </p:sp>
      <p:sp>
        <p:nvSpPr>
          <p:cNvPr id="99" name="Google Shape;99;p18"/>
          <p:cNvSpPr/>
          <p:nvPr/>
        </p:nvSpPr>
        <p:spPr>
          <a:xfrm>
            <a:off x="1143000" y="1524000"/>
            <a:ext cx="6858000" cy="952500"/>
          </a:xfrm>
          <a:prstGeom prst="roundRect">
            <a:avLst>
              <a:gd fmla="val 10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8"/>
          <p:cNvSpPr txBox="1"/>
          <p:nvPr/>
        </p:nvSpPr>
        <p:spPr>
          <a:xfrm>
            <a:off x="1333500" y="1797177"/>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ja" sz="2400">
                <a:solidFill>
                  <a:srgbClr val="E53935"/>
                </a:solidFill>
                <a:latin typeface="Material Icons"/>
                <a:ea typeface="Material Icons"/>
                <a:cs typeface="Material Icons"/>
                <a:sym typeface="Material Icons"/>
              </a:rPr>
              <a:t>close</a:t>
            </a:r>
            <a:endParaRPr sz="2400">
              <a:solidFill>
                <a:srgbClr val="E53935"/>
              </a:solidFill>
              <a:latin typeface="Material Icons"/>
              <a:ea typeface="Material Icons"/>
              <a:cs typeface="Material Icons"/>
              <a:sym typeface="Material Icons"/>
            </a:endParaRPr>
          </a:p>
        </p:txBody>
      </p:sp>
      <p:sp>
        <p:nvSpPr>
          <p:cNvPr id="101" name="Google Shape;101;p18"/>
          <p:cNvSpPr txBox="1"/>
          <p:nvPr/>
        </p:nvSpPr>
        <p:spPr>
          <a:xfrm>
            <a:off x="2000250" y="1524000"/>
            <a:ext cx="5715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404040"/>
                </a:solidFill>
                <a:latin typeface="Noto Sans JP"/>
                <a:ea typeface="Noto Sans JP"/>
                <a:cs typeface="Noto Sans JP"/>
                <a:sym typeface="Noto Sans JP"/>
              </a:rPr>
              <a:t>Stream APIのメソッド（書き方）を丸暗記すること</a:t>
            </a:r>
            <a:endParaRPr b="1" sz="1800">
              <a:solidFill>
                <a:srgbClr val="404040"/>
              </a:solidFill>
              <a:latin typeface="Noto Sans JP"/>
              <a:ea typeface="Noto Sans JP"/>
              <a:cs typeface="Noto Sans JP"/>
              <a:sym typeface="Noto Sans JP"/>
            </a:endParaRPr>
          </a:p>
        </p:txBody>
      </p:sp>
      <p:pic>
        <p:nvPicPr>
          <p:cNvPr id="102" name="Google Shape;102;p18"/>
          <p:cNvPicPr preferRelativeResize="0"/>
          <p:nvPr/>
        </p:nvPicPr>
        <p:blipFill rotWithShape="1">
          <a:blip r:embed="rId4">
            <a:alphaModFix/>
          </a:blip>
          <a:srcRect b="0" l="0" r="0" t="0"/>
          <a:stretch/>
        </p:blipFill>
        <p:spPr>
          <a:xfrm>
            <a:off x="4562475" y="2667000"/>
            <a:ext cx="19200" cy="342900"/>
          </a:xfrm>
          <a:prstGeom prst="rect">
            <a:avLst/>
          </a:prstGeom>
          <a:noFill/>
          <a:ln>
            <a:noFill/>
          </a:ln>
        </p:spPr>
      </p:pic>
      <p:sp>
        <p:nvSpPr>
          <p:cNvPr id="103" name="Google Shape;103;p18"/>
          <p:cNvSpPr/>
          <p:nvPr/>
        </p:nvSpPr>
        <p:spPr>
          <a:xfrm>
            <a:off x="1143000" y="3238500"/>
            <a:ext cx="6858000" cy="1143000"/>
          </a:xfrm>
          <a:prstGeom prst="roundRect">
            <a:avLst>
              <a:gd fmla="val 8333"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8"/>
          <p:cNvSpPr txBox="1"/>
          <p:nvPr/>
        </p:nvSpPr>
        <p:spPr>
          <a:xfrm>
            <a:off x="1333500" y="3606927"/>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ja" sz="2400">
                <a:solidFill>
                  <a:srgbClr val="43A047"/>
                </a:solidFill>
                <a:latin typeface="Material Icons"/>
                <a:ea typeface="Material Icons"/>
                <a:cs typeface="Material Icons"/>
                <a:sym typeface="Material Icons"/>
              </a:rPr>
              <a:t>check_circle</a:t>
            </a:r>
            <a:endParaRPr sz="2400">
              <a:solidFill>
                <a:srgbClr val="43A047"/>
              </a:solidFill>
              <a:latin typeface="Material Icons"/>
              <a:ea typeface="Material Icons"/>
              <a:cs typeface="Material Icons"/>
              <a:sym typeface="Material Icons"/>
            </a:endParaRPr>
          </a:p>
        </p:txBody>
      </p:sp>
      <p:sp>
        <p:nvSpPr>
          <p:cNvPr id="105" name="Google Shape;105;p18"/>
          <p:cNvSpPr txBox="1"/>
          <p:nvPr/>
        </p:nvSpPr>
        <p:spPr>
          <a:xfrm>
            <a:off x="2000250" y="3238500"/>
            <a:ext cx="5715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404040"/>
                </a:solidFill>
                <a:latin typeface="Noto Sans JP"/>
                <a:ea typeface="Noto Sans JP"/>
                <a:cs typeface="Noto Sans JP"/>
                <a:sym typeface="Noto Sans JP"/>
              </a:rPr>
              <a:t>「Stream APIって結局何？」を</a:t>
            </a:r>
            <a:br>
              <a:rPr b="1" lang="ja" sz="1800">
                <a:solidFill>
                  <a:srgbClr val="404040"/>
                </a:solidFill>
                <a:latin typeface="Noto Sans JP"/>
                <a:ea typeface="Noto Sans JP"/>
                <a:cs typeface="Noto Sans JP"/>
                <a:sym typeface="Noto Sans JP"/>
              </a:rPr>
            </a:br>
            <a:r>
              <a:rPr b="1" lang="ja" sz="1800">
                <a:solidFill>
                  <a:srgbClr val="404040"/>
                </a:solidFill>
                <a:latin typeface="Noto Sans JP"/>
                <a:ea typeface="Noto Sans JP"/>
                <a:cs typeface="Noto Sans JP"/>
                <a:sym typeface="Noto Sans JP"/>
              </a:rPr>
              <a:t>自分の言葉で説明できるようになること</a:t>
            </a:r>
            <a:endParaRPr b="1" sz="1800">
              <a:solidFill>
                <a:srgbClr val="404040"/>
              </a:solidFill>
              <a:latin typeface="Noto Sans JP"/>
              <a:ea typeface="Noto Sans JP"/>
              <a:cs typeface="Noto Sans JP"/>
              <a:sym typeface="Noto Sans JP"/>
            </a:endParaRPr>
          </a:p>
        </p:txBody>
      </p:sp>
      <p:sp>
        <p:nvSpPr>
          <p:cNvPr id="106" name="Google Shape;106;p18"/>
          <p:cNvSpPr txBox="1"/>
          <p:nvPr/>
        </p:nvSpPr>
        <p:spPr>
          <a:xfrm>
            <a:off x="7831455" y="4924425"/>
            <a:ext cx="603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19"/>
          <p:cNvPicPr preferRelativeResize="0"/>
          <p:nvPr/>
        </p:nvPicPr>
        <p:blipFill rotWithShape="1">
          <a:blip r:embed="rId3">
            <a:alphaModFix/>
          </a:blip>
          <a:srcRect b="140" l="0" r="0" t="150"/>
          <a:stretch/>
        </p:blipFill>
        <p:spPr>
          <a:xfrm>
            <a:off x="8481060" y="301943"/>
            <a:ext cx="359100" cy="416100"/>
          </a:xfrm>
          <a:prstGeom prst="rect">
            <a:avLst/>
          </a:prstGeom>
          <a:noFill/>
          <a:ln>
            <a:noFill/>
          </a:ln>
        </p:spPr>
      </p:pic>
      <p:sp>
        <p:nvSpPr>
          <p:cNvPr id="112" name="Google Shape;112;p19"/>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9"/>
          <p:cNvSpPr txBox="1"/>
          <p:nvPr/>
        </p:nvSpPr>
        <p:spPr>
          <a:xfrm>
            <a:off x="726757" y="318185"/>
            <a:ext cx="7102800" cy="38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Stream APIとは何か？</a:t>
            </a:r>
            <a:endParaRPr b="1" sz="2200">
              <a:solidFill>
                <a:srgbClr val="404040"/>
              </a:solidFill>
              <a:latin typeface="Noto Sans JP"/>
              <a:ea typeface="Noto Sans JP"/>
              <a:cs typeface="Noto Sans JP"/>
              <a:sym typeface="Noto Sans JP"/>
            </a:endParaRPr>
          </a:p>
        </p:txBody>
      </p:sp>
      <p:sp>
        <p:nvSpPr>
          <p:cNvPr id="114" name="Google Shape;114;p19"/>
          <p:cNvSpPr txBox="1"/>
          <p:nvPr/>
        </p:nvSpPr>
        <p:spPr>
          <a:xfrm>
            <a:off x="523807" y="954176"/>
            <a:ext cx="8096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i="0" lang="ja" sz="1360">
                <a:solidFill>
                  <a:srgbClr val="404040"/>
                </a:solidFill>
                <a:latin typeface="Noto Sans JP"/>
                <a:ea typeface="Noto Sans JP"/>
                <a:cs typeface="Noto Sans JP"/>
                <a:sym typeface="Noto Sans JP"/>
              </a:rPr>
              <a:t>Stream APIとは、配列やコレクションなどのデータソースから目的のデータを得るための仕組み</a:t>
            </a:r>
            <a:endParaRPr b="1" i="0" sz="1360">
              <a:solidFill>
                <a:srgbClr val="404040"/>
              </a:solidFill>
              <a:latin typeface="Noto Sans JP"/>
              <a:ea typeface="Noto Sans JP"/>
              <a:cs typeface="Noto Sans JP"/>
              <a:sym typeface="Noto Sans JP"/>
            </a:endParaRPr>
          </a:p>
        </p:txBody>
      </p:sp>
      <p:sp>
        <p:nvSpPr>
          <p:cNvPr id="115" name="Google Shape;115;p19"/>
          <p:cNvSpPr txBox="1"/>
          <p:nvPr/>
        </p:nvSpPr>
        <p:spPr>
          <a:xfrm>
            <a:off x="7829550" y="4924425"/>
            <a:ext cx="6039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116" name="Google Shape;116;p19"/>
          <p:cNvSpPr txBox="1"/>
          <p:nvPr/>
        </p:nvSpPr>
        <p:spPr>
          <a:xfrm>
            <a:off x="8477250" y="4924425"/>
            <a:ext cx="190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3</a:t>
            </a:r>
            <a:endParaRPr b="1" sz="600">
              <a:solidFill>
                <a:srgbClr val="404040"/>
              </a:solidFill>
              <a:latin typeface="Noto Sans"/>
              <a:ea typeface="Noto Sans"/>
              <a:cs typeface="Noto Sans"/>
              <a:sym typeface="Noto Sans"/>
            </a:endParaRPr>
          </a:p>
        </p:txBody>
      </p:sp>
      <p:sp>
        <p:nvSpPr>
          <p:cNvPr id="117" name="Google Shape;117;p19"/>
          <p:cNvSpPr txBox="1"/>
          <p:nvPr/>
        </p:nvSpPr>
        <p:spPr>
          <a:xfrm>
            <a:off x="108000" y="4683825"/>
            <a:ext cx="4464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600">
                <a:solidFill>
                  <a:srgbClr val="404040"/>
                </a:solidFill>
                <a:latin typeface="Noto Sans JP"/>
                <a:ea typeface="Noto Sans JP"/>
                <a:cs typeface="Noto Sans JP"/>
                <a:sym typeface="Noto Sans JP"/>
              </a:rPr>
              <a:t>※</a:t>
            </a:r>
            <a:r>
              <a:rPr b="1" lang="ja" sz="1600">
                <a:solidFill>
                  <a:srgbClr val="404040"/>
                </a:solidFill>
                <a:latin typeface="Noto Sans JP"/>
                <a:ea typeface="Noto Sans JP"/>
                <a:cs typeface="Noto Sans JP"/>
                <a:sym typeface="Noto Sans JP"/>
              </a:rPr>
              <a:t>コレクション Lis</a:t>
            </a:r>
            <a:r>
              <a:rPr b="1" lang="ja" sz="1600">
                <a:solidFill>
                  <a:srgbClr val="404040"/>
                </a:solidFill>
                <a:latin typeface="Noto Sans JP"/>
                <a:ea typeface="Noto Sans JP"/>
                <a:cs typeface="Noto Sans JP"/>
                <a:sym typeface="Noto Sans JP"/>
              </a:rPr>
              <a:t>tや</a:t>
            </a:r>
            <a:r>
              <a:rPr b="1" lang="ja" sz="1600">
                <a:solidFill>
                  <a:srgbClr val="404040"/>
                </a:solidFill>
                <a:latin typeface="Noto Sans JP"/>
                <a:ea typeface="Noto Sans JP"/>
                <a:cs typeface="Noto Sans JP"/>
                <a:sym typeface="Noto Sans JP"/>
              </a:rPr>
              <a:t>Map</a:t>
            </a:r>
            <a:r>
              <a:rPr b="1" lang="ja" sz="1600">
                <a:solidFill>
                  <a:srgbClr val="404040"/>
                </a:solidFill>
                <a:latin typeface="Noto Sans JP"/>
                <a:ea typeface="Noto Sans JP"/>
                <a:cs typeface="Noto Sans JP"/>
                <a:sym typeface="Noto Sans JP"/>
              </a:rPr>
              <a:t>のこと</a:t>
            </a:r>
            <a:r>
              <a:rPr b="1" lang="ja" sz="1600">
                <a:solidFill>
                  <a:srgbClr val="404040"/>
                </a:solidFill>
                <a:latin typeface="Noto Sans JP"/>
                <a:ea typeface="Noto Sans JP"/>
                <a:cs typeface="Noto Sans JP"/>
                <a:sym typeface="Noto Sans JP"/>
              </a:rPr>
              <a:t> </a:t>
            </a:r>
            <a:endParaRPr/>
          </a:p>
        </p:txBody>
      </p:sp>
      <p:grpSp>
        <p:nvGrpSpPr>
          <p:cNvPr id="118" name="Google Shape;118;p19"/>
          <p:cNvGrpSpPr/>
          <p:nvPr/>
        </p:nvGrpSpPr>
        <p:grpSpPr>
          <a:xfrm>
            <a:off x="952500" y="1524000"/>
            <a:ext cx="7239000" cy="2667000"/>
            <a:chOff x="952500" y="1524000"/>
            <a:chExt cx="7239000" cy="2667000"/>
          </a:xfrm>
        </p:grpSpPr>
        <p:sp>
          <p:nvSpPr>
            <p:cNvPr id="119" name="Google Shape;119;p19"/>
            <p:cNvSpPr/>
            <p:nvPr/>
          </p:nvSpPr>
          <p:spPr>
            <a:xfrm>
              <a:off x="952500" y="1524000"/>
              <a:ext cx="7239000" cy="2667000"/>
            </a:xfrm>
            <a:prstGeom prst="roundRect">
              <a:avLst>
                <a:gd fmla="val 357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9"/>
            <p:cNvSpPr txBox="1"/>
            <p:nvPr/>
          </p:nvSpPr>
          <p:spPr>
            <a:xfrm>
              <a:off x="1143000" y="1714500"/>
              <a:ext cx="68580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400">
                  <a:solidFill>
                    <a:srgbClr val="F08300"/>
                  </a:solidFill>
                  <a:latin typeface="Noto Sans JP"/>
                  <a:ea typeface="Noto Sans JP"/>
                  <a:cs typeface="Noto Sans JP"/>
                  <a:sym typeface="Noto Sans JP"/>
                </a:rPr>
                <a:t>1. 【データソース】</a:t>
              </a:r>
              <a:endParaRPr b="1" sz="1400">
                <a:solidFill>
                  <a:srgbClr val="F08300"/>
                </a:solidFill>
                <a:latin typeface="Noto Sans JP"/>
                <a:ea typeface="Noto Sans JP"/>
                <a:cs typeface="Noto Sans JP"/>
                <a:sym typeface="Noto Sans JP"/>
              </a:endParaRPr>
            </a:p>
            <a:p>
              <a:pPr indent="0" lvl="0" marL="190500" marR="0" rtl="0" algn="l">
                <a:spcBef>
                  <a:spcPts val="0"/>
                </a:spcBef>
                <a:spcAft>
                  <a:spcPts val="0"/>
                </a:spcAft>
                <a:buNone/>
              </a:pPr>
              <a:r>
                <a:rPr lang="ja" sz="1400">
                  <a:solidFill>
                    <a:srgbClr val="404040"/>
                  </a:solidFill>
                  <a:highlight>
                    <a:srgbClr val="E9ECEF"/>
                  </a:highlight>
                  <a:latin typeface="Courier New"/>
                  <a:ea typeface="Courier New"/>
                  <a:cs typeface="Courier New"/>
                  <a:sym typeface="Courier New"/>
                </a:rPr>
                <a:t>["apple", "banana", "fig", "grape"]</a:t>
              </a:r>
              <a:endParaRPr sz="1400">
                <a:solidFill>
                  <a:srgbClr val="404040"/>
                </a:solidFill>
                <a:highlight>
                  <a:srgbClr val="E9ECEF"/>
                </a:highlight>
                <a:latin typeface="Courier New"/>
                <a:ea typeface="Courier New"/>
                <a:cs typeface="Courier New"/>
                <a:sym typeface="Courier New"/>
              </a:endParaRPr>
            </a:p>
            <a:p>
              <a:pPr indent="0" lvl="0" marL="0" rtl="0" algn="ctr">
                <a:spcBef>
                  <a:spcPts val="0"/>
                </a:spcBef>
                <a:spcAft>
                  <a:spcPts val="0"/>
                </a:spcAft>
                <a:buNone/>
              </a:pPr>
              <a:r>
                <a:rPr b="1" lang="ja" sz="1400">
                  <a:solidFill>
                    <a:srgbClr val="007BFF"/>
                  </a:solidFill>
                  <a:latin typeface="Noto Sans JP"/>
                  <a:ea typeface="Noto Sans JP"/>
                  <a:cs typeface="Noto Sans JP"/>
                  <a:sym typeface="Noto Sans JP"/>
                </a:rPr>
                <a:t>↓ 1つずつデータを取り出す</a:t>
              </a:r>
              <a:endParaRPr b="1" sz="1400">
                <a:solidFill>
                  <a:srgbClr val="007BFF"/>
                </a:solidFill>
                <a:latin typeface="Noto Sans JP"/>
                <a:ea typeface="Noto Sans JP"/>
                <a:cs typeface="Noto Sans JP"/>
                <a:sym typeface="Noto Sans JP"/>
              </a:endParaRPr>
            </a:p>
            <a:p>
              <a:pPr indent="0" lvl="0" marL="0" rtl="0" algn="l">
                <a:spcBef>
                  <a:spcPts val="0"/>
                </a:spcBef>
                <a:spcAft>
                  <a:spcPts val="0"/>
                </a:spcAft>
                <a:buNone/>
              </a:pPr>
              <a:r>
                <a:rPr b="1" lang="ja" sz="1400">
                  <a:solidFill>
                    <a:srgbClr val="F08300"/>
                  </a:solidFill>
                  <a:latin typeface="Noto Sans JP"/>
                  <a:ea typeface="Noto Sans JP"/>
                  <a:cs typeface="Noto Sans JP"/>
                  <a:sym typeface="Noto Sans JP"/>
                </a:rPr>
                <a:t>2. 【条件で絞る】 </a:t>
              </a:r>
              <a:r>
                <a:rPr b="0" lang="ja" sz="1100">
                  <a:solidFill>
                    <a:srgbClr val="666666"/>
                  </a:solidFill>
                  <a:latin typeface="Noto Sans JP"/>
                  <a:ea typeface="Noto Sans JP"/>
                  <a:cs typeface="Noto Sans JP"/>
                  <a:sym typeface="Noto Sans JP"/>
                </a:rPr>
                <a:t>4文字以上のものだけ残す（"fig"が消える）</a:t>
              </a:r>
              <a:endParaRPr b="1" sz="1400">
                <a:solidFill>
                  <a:srgbClr val="F08300"/>
                </a:solidFill>
                <a:latin typeface="Noto Sans JP"/>
                <a:ea typeface="Noto Sans JP"/>
                <a:cs typeface="Noto Sans JP"/>
                <a:sym typeface="Noto Sans JP"/>
              </a:endParaRPr>
            </a:p>
            <a:p>
              <a:pPr indent="0" lvl="0" marL="0" rtl="0" algn="ctr">
                <a:spcBef>
                  <a:spcPts val="0"/>
                </a:spcBef>
                <a:spcAft>
                  <a:spcPts val="0"/>
                </a:spcAft>
                <a:buNone/>
              </a:pPr>
              <a:r>
                <a:rPr b="1" lang="ja" sz="1400">
                  <a:solidFill>
                    <a:srgbClr val="007BFF"/>
                  </a:solidFill>
                  <a:latin typeface="Noto Sans JP"/>
                  <a:ea typeface="Noto Sans JP"/>
                  <a:cs typeface="Noto Sans JP"/>
                  <a:sym typeface="Noto Sans JP"/>
                </a:rPr>
                <a:t>↓</a:t>
              </a:r>
              <a:endParaRPr b="1" sz="1400">
                <a:solidFill>
                  <a:srgbClr val="007BFF"/>
                </a:solidFill>
                <a:latin typeface="Noto Sans JP"/>
                <a:ea typeface="Noto Sans JP"/>
                <a:cs typeface="Noto Sans JP"/>
                <a:sym typeface="Noto Sans JP"/>
              </a:endParaRPr>
            </a:p>
            <a:p>
              <a:pPr indent="0" lvl="0" marL="0" rtl="0" algn="l">
                <a:spcBef>
                  <a:spcPts val="0"/>
                </a:spcBef>
                <a:spcAft>
                  <a:spcPts val="0"/>
                </a:spcAft>
                <a:buNone/>
              </a:pPr>
              <a:r>
                <a:rPr b="1" lang="ja" sz="1400">
                  <a:solidFill>
                    <a:srgbClr val="F08300"/>
                  </a:solidFill>
                  <a:latin typeface="Noto Sans JP"/>
                  <a:ea typeface="Noto Sans JP"/>
                  <a:cs typeface="Noto Sans JP"/>
                  <a:sym typeface="Noto Sans JP"/>
                </a:rPr>
                <a:t>3. 【変換する】 </a:t>
              </a:r>
              <a:r>
                <a:rPr b="0" lang="ja" sz="1100">
                  <a:solidFill>
                    <a:srgbClr val="666666"/>
                  </a:solidFill>
                  <a:latin typeface="Noto Sans JP"/>
                  <a:ea typeface="Noto Sans JP"/>
                  <a:cs typeface="Noto Sans JP"/>
                  <a:sym typeface="Noto Sans JP"/>
                </a:rPr>
                <a:t>全て大文字にする（"apple" → "APPLE"）</a:t>
              </a:r>
              <a:endParaRPr b="1" sz="1400">
                <a:solidFill>
                  <a:srgbClr val="F08300"/>
                </a:solidFill>
                <a:latin typeface="Noto Sans JP"/>
                <a:ea typeface="Noto Sans JP"/>
                <a:cs typeface="Noto Sans JP"/>
                <a:sym typeface="Noto Sans JP"/>
              </a:endParaRPr>
            </a:p>
            <a:p>
              <a:pPr indent="0" lvl="0" marL="0" rtl="0" algn="ctr">
                <a:spcBef>
                  <a:spcPts val="0"/>
                </a:spcBef>
                <a:spcAft>
                  <a:spcPts val="0"/>
                </a:spcAft>
                <a:buNone/>
              </a:pPr>
              <a:r>
                <a:rPr b="1" lang="ja" sz="1400">
                  <a:solidFill>
                    <a:srgbClr val="007BFF"/>
                  </a:solidFill>
                  <a:latin typeface="Noto Sans JP"/>
                  <a:ea typeface="Noto Sans JP"/>
                  <a:cs typeface="Noto Sans JP"/>
                  <a:sym typeface="Noto Sans JP"/>
                </a:rPr>
                <a:t>↓</a:t>
              </a:r>
              <a:endParaRPr b="1" sz="1400">
                <a:solidFill>
                  <a:srgbClr val="007BFF"/>
                </a:solidFill>
                <a:latin typeface="Noto Sans JP"/>
                <a:ea typeface="Noto Sans JP"/>
                <a:cs typeface="Noto Sans JP"/>
                <a:sym typeface="Noto Sans JP"/>
              </a:endParaRPr>
            </a:p>
            <a:p>
              <a:pPr indent="0" lvl="0" marL="0" rtl="0" algn="l">
                <a:spcBef>
                  <a:spcPts val="0"/>
                </a:spcBef>
                <a:spcAft>
                  <a:spcPts val="0"/>
                </a:spcAft>
                <a:buNone/>
              </a:pPr>
              <a:r>
                <a:rPr b="1" lang="ja" sz="1400">
                  <a:solidFill>
                    <a:srgbClr val="F08300"/>
                  </a:solidFill>
                  <a:latin typeface="Noto Sans JP"/>
                  <a:ea typeface="Noto Sans JP"/>
                  <a:cs typeface="Noto Sans JP"/>
                  <a:sym typeface="Noto Sans JP"/>
                </a:rPr>
                <a:t>4. 【目的のデータ】</a:t>
              </a:r>
              <a:endParaRPr b="1" sz="1400">
                <a:solidFill>
                  <a:srgbClr val="F08300"/>
                </a:solidFill>
                <a:latin typeface="Noto Sans JP"/>
                <a:ea typeface="Noto Sans JP"/>
                <a:cs typeface="Noto Sans JP"/>
                <a:sym typeface="Noto Sans JP"/>
              </a:endParaRPr>
            </a:p>
            <a:p>
              <a:pPr indent="0" lvl="0" marL="190500" marR="0" rtl="0" algn="l">
                <a:spcBef>
                  <a:spcPts val="0"/>
                </a:spcBef>
                <a:spcAft>
                  <a:spcPts val="0"/>
                </a:spcAft>
                <a:buNone/>
              </a:pPr>
              <a:r>
                <a:rPr lang="ja" sz="1400">
                  <a:solidFill>
                    <a:srgbClr val="404040"/>
                  </a:solidFill>
                  <a:highlight>
                    <a:srgbClr val="E9ECEF"/>
                  </a:highlight>
                  <a:latin typeface="Courier New"/>
                  <a:ea typeface="Courier New"/>
                  <a:cs typeface="Courier New"/>
                  <a:sym typeface="Courier New"/>
                </a:rPr>
                <a:t>["APPLE", "BANANA", "GRAPE"] を取得</a:t>
              </a:r>
              <a:endParaRPr sz="1400">
                <a:solidFill>
                  <a:srgbClr val="404040"/>
                </a:solidFill>
                <a:highlight>
                  <a:srgbClr val="E9ECEF"/>
                </a:highlight>
                <a:latin typeface="Courier New"/>
                <a:ea typeface="Courier New"/>
                <a:cs typeface="Courier New"/>
                <a:sym typeface="Courier New"/>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6" name="Google Shape;126;p20"/>
          <p:cNvPicPr preferRelativeResize="0"/>
          <p:nvPr/>
        </p:nvPicPr>
        <p:blipFill rotWithShape="1">
          <a:blip r:embed="rId3">
            <a:alphaModFix/>
          </a:blip>
          <a:srcRect b="259" l="0" r="0" t="30"/>
          <a:stretch/>
        </p:blipFill>
        <p:spPr>
          <a:xfrm>
            <a:off x="8481060" y="301943"/>
            <a:ext cx="359100" cy="416100"/>
          </a:xfrm>
          <a:prstGeom prst="rect">
            <a:avLst/>
          </a:prstGeom>
          <a:noFill/>
          <a:ln>
            <a:noFill/>
          </a:ln>
        </p:spPr>
      </p:pic>
      <p:sp>
        <p:nvSpPr>
          <p:cNvPr id="127" name="Google Shape;127;p20"/>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20"/>
          <p:cNvSpPr txBox="1"/>
          <p:nvPr/>
        </p:nvSpPr>
        <p:spPr>
          <a:xfrm>
            <a:off x="609600" y="318135"/>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特徴①：連続した「1つの流れ」で記述できる</a:t>
            </a:r>
            <a:endParaRPr b="1" sz="2200">
              <a:solidFill>
                <a:srgbClr val="404040"/>
              </a:solidFill>
              <a:latin typeface="Noto Sans JP"/>
              <a:ea typeface="Noto Sans JP"/>
              <a:cs typeface="Noto Sans JP"/>
              <a:sym typeface="Noto Sans JP"/>
            </a:endParaRPr>
          </a:p>
        </p:txBody>
      </p:sp>
      <p:sp>
        <p:nvSpPr>
          <p:cNvPr id="129" name="Google Shape;129;p20"/>
          <p:cNvSpPr txBox="1"/>
          <p:nvPr/>
        </p:nvSpPr>
        <p:spPr>
          <a:xfrm>
            <a:off x="571500" y="952500"/>
            <a:ext cx="800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404040"/>
                </a:solidFill>
                <a:latin typeface="Noto Sans JP"/>
                <a:ea typeface="Noto Sans JP"/>
                <a:cs typeface="Noto Sans JP"/>
                <a:sym typeface="Noto Sans JP"/>
              </a:rPr>
              <a:t>複数の処理をバラバラに書かず、一連の工程として記述</a:t>
            </a:r>
            <a:endParaRPr b="1" sz="1800">
              <a:solidFill>
                <a:srgbClr val="404040"/>
              </a:solidFill>
              <a:latin typeface="Noto Sans JP"/>
              <a:ea typeface="Noto Sans JP"/>
              <a:cs typeface="Noto Sans JP"/>
              <a:sym typeface="Noto Sans JP"/>
            </a:endParaRPr>
          </a:p>
        </p:txBody>
      </p:sp>
      <p:sp>
        <p:nvSpPr>
          <p:cNvPr id="130" name="Google Shape;130;p20"/>
          <p:cNvSpPr/>
          <p:nvPr/>
        </p:nvSpPr>
        <p:spPr>
          <a:xfrm>
            <a:off x="571500" y="1524000"/>
            <a:ext cx="8001000" cy="2857500"/>
          </a:xfrm>
          <a:prstGeom prst="roundRect">
            <a:avLst>
              <a:gd fmla="val 3333"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1" name="Google Shape;131;p20"/>
          <p:cNvGrpSpPr/>
          <p:nvPr/>
        </p:nvGrpSpPr>
        <p:grpSpPr>
          <a:xfrm>
            <a:off x="952500" y="2457450"/>
            <a:ext cx="1333500" cy="876300"/>
            <a:chOff x="952500" y="2457450"/>
            <a:chExt cx="1333500" cy="876300"/>
          </a:xfrm>
        </p:grpSpPr>
        <p:sp>
          <p:nvSpPr>
            <p:cNvPr id="132" name="Google Shape;132;p20"/>
            <p:cNvSpPr/>
            <p:nvPr/>
          </p:nvSpPr>
          <p:spPr>
            <a:xfrm>
              <a:off x="952500" y="2571750"/>
              <a:ext cx="1333500" cy="762000"/>
            </a:xfrm>
            <a:prstGeom prst="roundRect">
              <a:avLst>
                <a:gd fmla="val 1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20"/>
            <p:cNvSpPr txBox="1"/>
            <p:nvPr/>
          </p:nvSpPr>
          <p:spPr>
            <a:xfrm>
              <a:off x="952500" y="2571750"/>
              <a:ext cx="1333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400">
                  <a:solidFill>
                    <a:srgbClr val="404040"/>
                  </a:solidFill>
                  <a:latin typeface="Noto Sans JP"/>
                  <a:ea typeface="Noto Sans JP"/>
                  <a:cs typeface="Noto Sans JP"/>
                  <a:sym typeface="Noto Sans JP"/>
                </a:rPr>
                <a:t>データソース</a:t>
              </a:r>
              <a:endParaRPr b="0" sz="1400">
                <a:solidFill>
                  <a:srgbClr val="404040"/>
                </a:solidFill>
                <a:latin typeface="Noto Sans JP"/>
                <a:ea typeface="Noto Sans JP"/>
                <a:cs typeface="Noto Sans JP"/>
                <a:sym typeface="Noto Sans JP"/>
              </a:endParaRPr>
            </a:p>
          </p:txBody>
        </p:sp>
        <p:sp>
          <p:nvSpPr>
            <p:cNvPr id="134" name="Google Shape;134;p20"/>
            <p:cNvSpPr/>
            <p:nvPr/>
          </p:nvSpPr>
          <p:spPr>
            <a:xfrm>
              <a:off x="952500" y="2457450"/>
              <a:ext cx="1333500" cy="228600"/>
            </a:xfrm>
            <a:prstGeom prst="roundRect">
              <a:avLst>
                <a:gd fmla="val 16666" name="adj"/>
              </a:avLst>
            </a:prstGeom>
            <a:solidFill>
              <a:srgbClr val="6C757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20"/>
            <p:cNvSpPr txBox="1"/>
            <p:nvPr/>
          </p:nvSpPr>
          <p:spPr>
            <a:xfrm>
              <a:off x="952500" y="2457450"/>
              <a:ext cx="1333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200">
                  <a:solidFill>
                    <a:srgbClr val="FFFFFF"/>
                  </a:solidFill>
                  <a:latin typeface="Noto Sans JP"/>
                  <a:ea typeface="Noto Sans JP"/>
                  <a:cs typeface="Noto Sans JP"/>
                  <a:sym typeface="Noto Sans JP"/>
                </a:rPr>
                <a:t>START</a:t>
              </a:r>
              <a:endParaRPr b="1" sz="1200">
                <a:solidFill>
                  <a:srgbClr val="FFFFFF"/>
                </a:solidFill>
                <a:latin typeface="Noto Sans JP"/>
                <a:ea typeface="Noto Sans JP"/>
                <a:cs typeface="Noto Sans JP"/>
                <a:sym typeface="Noto Sans JP"/>
              </a:endParaRPr>
            </a:p>
          </p:txBody>
        </p:sp>
      </p:grpSp>
      <p:pic>
        <p:nvPicPr>
          <p:cNvPr id="136" name="Google Shape;136;p20"/>
          <p:cNvPicPr preferRelativeResize="0"/>
          <p:nvPr/>
        </p:nvPicPr>
        <p:blipFill rotWithShape="1">
          <a:blip r:embed="rId4">
            <a:alphaModFix/>
          </a:blip>
          <a:srcRect b="0" l="0" r="0" t="0"/>
          <a:stretch/>
        </p:blipFill>
        <p:spPr>
          <a:xfrm>
            <a:off x="2333625" y="2933700"/>
            <a:ext cx="381000" cy="38100"/>
          </a:xfrm>
          <a:prstGeom prst="rect">
            <a:avLst/>
          </a:prstGeom>
          <a:noFill/>
          <a:ln>
            <a:noFill/>
          </a:ln>
        </p:spPr>
      </p:pic>
      <p:pic>
        <p:nvPicPr>
          <p:cNvPr id="137" name="Google Shape;137;p20"/>
          <p:cNvPicPr preferRelativeResize="0"/>
          <p:nvPr/>
        </p:nvPicPr>
        <p:blipFill rotWithShape="1">
          <a:blip r:embed="rId5">
            <a:alphaModFix/>
          </a:blip>
          <a:srcRect b="0" l="0" r="0" t="0"/>
          <a:stretch/>
        </p:blipFill>
        <p:spPr>
          <a:xfrm>
            <a:off x="2714625" y="2905125"/>
            <a:ext cx="95400" cy="95400"/>
          </a:xfrm>
          <a:prstGeom prst="rect">
            <a:avLst/>
          </a:prstGeom>
          <a:noFill/>
          <a:ln>
            <a:noFill/>
          </a:ln>
        </p:spPr>
      </p:pic>
      <p:grpSp>
        <p:nvGrpSpPr>
          <p:cNvPr id="138" name="Google Shape;138;p20"/>
          <p:cNvGrpSpPr/>
          <p:nvPr/>
        </p:nvGrpSpPr>
        <p:grpSpPr>
          <a:xfrm>
            <a:off x="2857500" y="2571750"/>
            <a:ext cx="1524000" cy="762000"/>
            <a:chOff x="2857500" y="2571750"/>
            <a:chExt cx="1524000" cy="762000"/>
          </a:xfrm>
        </p:grpSpPr>
        <p:sp>
          <p:nvSpPr>
            <p:cNvPr id="139" name="Google Shape;139;p20"/>
            <p:cNvSpPr/>
            <p:nvPr/>
          </p:nvSpPr>
          <p:spPr>
            <a:xfrm>
              <a:off x="2857500" y="2571750"/>
              <a:ext cx="1524000" cy="762000"/>
            </a:xfrm>
            <a:prstGeom prst="roundRect">
              <a:avLst>
                <a:gd fmla="val 1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20"/>
            <p:cNvSpPr txBox="1"/>
            <p:nvPr/>
          </p:nvSpPr>
          <p:spPr>
            <a:xfrm>
              <a:off x="2857500" y="2571750"/>
              <a:ext cx="1524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400">
                  <a:solidFill>
                    <a:srgbClr val="404040"/>
                  </a:solidFill>
                  <a:latin typeface="Noto Sans JP"/>
                  <a:ea typeface="Noto Sans JP"/>
                  <a:cs typeface="Noto Sans JP"/>
                  <a:sym typeface="Noto Sans JP"/>
                </a:rPr>
                <a:t>絞り込み</a:t>
              </a:r>
              <a:endParaRPr b="0" sz="1400">
                <a:solidFill>
                  <a:srgbClr val="404040"/>
                </a:solidFill>
                <a:latin typeface="Noto Sans JP"/>
                <a:ea typeface="Noto Sans JP"/>
                <a:cs typeface="Noto Sans JP"/>
                <a:sym typeface="Noto Sans JP"/>
              </a:endParaRPr>
            </a:p>
            <a:p>
              <a:pPr indent="0" lvl="0" marL="0" rtl="0" algn="ctr">
                <a:spcBef>
                  <a:spcPts val="0"/>
                </a:spcBef>
                <a:spcAft>
                  <a:spcPts val="0"/>
                </a:spcAft>
                <a:buNone/>
              </a:pPr>
              <a:r>
                <a:rPr b="1" lang="ja" sz="1400">
                  <a:solidFill>
                    <a:srgbClr val="007BFF"/>
                  </a:solidFill>
                  <a:latin typeface="Courier New"/>
                  <a:ea typeface="Courier New"/>
                  <a:cs typeface="Courier New"/>
                  <a:sym typeface="Courier New"/>
                </a:rPr>
                <a:t>.filter()</a:t>
              </a:r>
              <a:endParaRPr b="1" sz="1400">
                <a:solidFill>
                  <a:srgbClr val="007BFF"/>
                </a:solidFill>
                <a:latin typeface="Courier New"/>
                <a:ea typeface="Courier New"/>
                <a:cs typeface="Courier New"/>
                <a:sym typeface="Courier New"/>
              </a:endParaRPr>
            </a:p>
          </p:txBody>
        </p:sp>
      </p:grpSp>
      <p:pic>
        <p:nvPicPr>
          <p:cNvPr id="141" name="Google Shape;141;p20"/>
          <p:cNvPicPr preferRelativeResize="0"/>
          <p:nvPr/>
        </p:nvPicPr>
        <p:blipFill rotWithShape="1">
          <a:blip r:embed="rId4">
            <a:alphaModFix/>
          </a:blip>
          <a:srcRect b="0" l="0" r="0" t="0"/>
          <a:stretch/>
        </p:blipFill>
        <p:spPr>
          <a:xfrm>
            <a:off x="4429125" y="2933700"/>
            <a:ext cx="381000" cy="38100"/>
          </a:xfrm>
          <a:prstGeom prst="rect">
            <a:avLst/>
          </a:prstGeom>
          <a:noFill/>
          <a:ln>
            <a:noFill/>
          </a:ln>
        </p:spPr>
      </p:pic>
      <p:pic>
        <p:nvPicPr>
          <p:cNvPr id="142" name="Google Shape;142;p20"/>
          <p:cNvPicPr preferRelativeResize="0"/>
          <p:nvPr/>
        </p:nvPicPr>
        <p:blipFill rotWithShape="1">
          <a:blip r:embed="rId5">
            <a:alphaModFix/>
          </a:blip>
          <a:srcRect b="0" l="0" r="0" t="0"/>
          <a:stretch/>
        </p:blipFill>
        <p:spPr>
          <a:xfrm>
            <a:off x="4810125" y="2905125"/>
            <a:ext cx="95400" cy="95400"/>
          </a:xfrm>
          <a:prstGeom prst="rect">
            <a:avLst/>
          </a:prstGeom>
          <a:noFill/>
          <a:ln>
            <a:noFill/>
          </a:ln>
        </p:spPr>
      </p:pic>
      <p:grpSp>
        <p:nvGrpSpPr>
          <p:cNvPr id="143" name="Google Shape;143;p20"/>
          <p:cNvGrpSpPr/>
          <p:nvPr/>
        </p:nvGrpSpPr>
        <p:grpSpPr>
          <a:xfrm>
            <a:off x="4953000" y="2571750"/>
            <a:ext cx="1524000" cy="762000"/>
            <a:chOff x="4953000" y="2571750"/>
            <a:chExt cx="1524000" cy="762000"/>
          </a:xfrm>
        </p:grpSpPr>
        <p:sp>
          <p:nvSpPr>
            <p:cNvPr id="144" name="Google Shape;144;p20"/>
            <p:cNvSpPr/>
            <p:nvPr/>
          </p:nvSpPr>
          <p:spPr>
            <a:xfrm>
              <a:off x="4953000" y="2571750"/>
              <a:ext cx="1524000" cy="762000"/>
            </a:xfrm>
            <a:prstGeom prst="roundRect">
              <a:avLst>
                <a:gd fmla="val 1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20"/>
            <p:cNvSpPr txBox="1"/>
            <p:nvPr/>
          </p:nvSpPr>
          <p:spPr>
            <a:xfrm>
              <a:off x="4953000" y="2571750"/>
              <a:ext cx="1524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400">
                  <a:solidFill>
                    <a:srgbClr val="404040"/>
                  </a:solidFill>
                  <a:latin typeface="Noto Sans JP"/>
                  <a:ea typeface="Noto Sans JP"/>
                  <a:cs typeface="Noto Sans JP"/>
                  <a:sym typeface="Noto Sans JP"/>
                </a:rPr>
                <a:t>変換</a:t>
              </a:r>
              <a:endParaRPr b="0" sz="1400">
                <a:solidFill>
                  <a:srgbClr val="404040"/>
                </a:solidFill>
                <a:latin typeface="Noto Sans JP"/>
                <a:ea typeface="Noto Sans JP"/>
                <a:cs typeface="Noto Sans JP"/>
                <a:sym typeface="Noto Sans JP"/>
              </a:endParaRPr>
            </a:p>
            <a:p>
              <a:pPr indent="0" lvl="0" marL="0" rtl="0" algn="ctr">
                <a:spcBef>
                  <a:spcPts val="0"/>
                </a:spcBef>
                <a:spcAft>
                  <a:spcPts val="0"/>
                </a:spcAft>
                <a:buNone/>
              </a:pPr>
              <a:r>
                <a:rPr b="1" lang="ja" sz="1400">
                  <a:solidFill>
                    <a:srgbClr val="007BFF"/>
                  </a:solidFill>
                  <a:latin typeface="Courier New"/>
                  <a:ea typeface="Courier New"/>
                  <a:cs typeface="Courier New"/>
                  <a:sym typeface="Courier New"/>
                </a:rPr>
                <a:t>.map()</a:t>
              </a:r>
              <a:endParaRPr b="1" sz="1400">
                <a:solidFill>
                  <a:srgbClr val="007BFF"/>
                </a:solidFill>
                <a:latin typeface="Courier New"/>
                <a:ea typeface="Courier New"/>
                <a:cs typeface="Courier New"/>
                <a:sym typeface="Courier New"/>
              </a:endParaRPr>
            </a:p>
          </p:txBody>
        </p:sp>
      </p:grpSp>
      <p:pic>
        <p:nvPicPr>
          <p:cNvPr id="146" name="Google Shape;146;p20"/>
          <p:cNvPicPr preferRelativeResize="0"/>
          <p:nvPr/>
        </p:nvPicPr>
        <p:blipFill rotWithShape="1">
          <a:blip r:embed="rId4">
            <a:alphaModFix/>
          </a:blip>
          <a:srcRect b="0" l="0" r="0" t="0"/>
          <a:stretch/>
        </p:blipFill>
        <p:spPr>
          <a:xfrm>
            <a:off x="6524625" y="2933700"/>
            <a:ext cx="381000" cy="38100"/>
          </a:xfrm>
          <a:prstGeom prst="rect">
            <a:avLst/>
          </a:prstGeom>
          <a:noFill/>
          <a:ln>
            <a:noFill/>
          </a:ln>
        </p:spPr>
      </p:pic>
      <p:pic>
        <p:nvPicPr>
          <p:cNvPr id="147" name="Google Shape;147;p20"/>
          <p:cNvPicPr preferRelativeResize="0"/>
          <p:nvPr/>
        </p:nvPicPr>
        <p:blipFill rotWithShape="1">
          <a:blip r:embed="rId5">
            <a:alphaModFix/>
          </a:blip>
          <a:srcRect b="0" l="0" r="0" t="0"/>
          <a:stretch/>
        </p:blipFill>
        <p:spPr>
          <a:xfrm>
            <a:off x="6905625" y="2905125"/>
            <a:ext cx="95400" cy="95400"/>
          </a:xfrm>
          <a:prstGeom prst="rect">
            <a:avLst/>
          </a:prstGeom>
          <a:noFill/>
          <a:ln>
            <a:noFill/>
          </a:ln>
        </p:spPr>
      </p:pic>
      <p:grpSp>
        <p:nvGrpSpPr>
          <p:cNvPr id="148" name="Google Shape;148;p20"/>
          <p:cNvGrpSpPr/>
          <p:nvPr/>
        </p:nvGrpSpPr>
        <p:grpSpPr>
          <a:xfrm>
            <a:off x="7048500" y="2457450"/>
            <a:ext cx="1333500" cy="876300"/>
            <a:chOff x="7048500" y="2457450"/>
            <a:chExt cx="1333500" cy="876300"/>
          </a:xfrm>
        </p:grpSpPr>
        <p:sp>
          <p:nvSpPr>
            <p:cNvPr id="149" name="Google Shape;149;p20"/>
            <p:cNvSpPr/>
            <p:nvPr/>
          </p:nvSpPr>
          <p:spPr>
            <a:xfrm>
              <a:off x="7048500" y="2571750"/>
              <a:ext cx="1333500" cy="762000"/>
            </a:xfrm>
            <a:prstGeom prst="roundRect">
              <a:avLst>
                <a:gd fmla="val 1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20"/>
            <p:cNvSpPr txBox="1"/>
            <p:nvPr/>
          </p:nvSpPr>
          <p:spPr>
            <a:xfrm>
              <a:off x="7048500" y="2571750"/>
              <a:ext cx="1333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ja" sz="1400">
                  <a:solidFill>
                    <a:srgbClr val="404040"/>
                  </a:solidFill>
                  <a:latin typeface="Noto Sans JP"/>
                  <a:ea typeface="Noto Sans JP"/>
                  <a:cs typeface="Noto Sans JP"/>
                  <a:sym typeface="Noto Sans JP"/>
                </a:rPr>
                <a:t>結果の収集</a:t>
              </a:r>
              <a:endParaRPr b="0" sz="1400">
                <a:solidFill>
                  <a:srgbClr val="404040"/>
                </a:solidFill>
                <a:latin typeface="Noto Sans JP"/>
                <a:ea typeface="Noto Sans JP"/>
                <a:cs typeface="Noto Sans JP"/>
                <a:sym typeface="Noto Sans JP"/>
              </a:endParaRPr>
            </a:p>
          </p:txBody>
        </p:sp>
        <p:sp>
          <p:nvSpPr>
            <p:cNvPr id="151" name="Google Shape;151;p20"/>
            <p:cNvSpPr/>
            <p:nvPr/>
          </p:nvSpPr>
          <p:spPr>
            <a:xfrm>
              <a:off x="7048500" y="2457450"/>
              <a:ext cx="1333500" cy="228600"/>
            </a:xfrm>
            <a:prstGeom prst="roundRect">
              <a:avLst>
                <a:gd fmla="val 16666" name="adj"/>
              </a:avLst>
            </a:prstGeom>
            <a:solidFill>
              <a:srgbClr val="E539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20"/>
            <p:cNvSpPr txBox="1"/>
            <p:nvPr/>
          </p:nvSpPr>
          <p:spPr>
            <a:xfrm>
              <a:off x="7048500" y="2457450"/>
              <a:ext cx="1333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200">
                  <a:solidFill>
                    <a:srgbClr val="FFFFFF"/>
                  </a:solidFill>
                  <a:latin typeface="Noto Sans JP"/>
                  <a:ea typeface="Noto Sans JP"/>
                  <a:cs typeface="Noto Sans JP"/>
                  <a:sym typeface="Noto Sans JP"/>
                </a:rPr>
                <a:t>GOAL</a:t>
              </a:r>
              <a:endParaRPr b="1" sz="1200">
                <a:solidFill>
                  <a:srgbClr val="FFFFFF"/>
                </a:solidFill>
                <a:latin typeface="Noto Sans JP"/>
                <a:ea typeface="Noto Sans JP"/>
                <a:cs typeface="Noto Sans JP"/>
                <a:sym typeface="Noto Sans JP"/>
              </a:endParaRPr>
            </a:p>
          </p:txBody>
        </p:sp>
      </p:grpSp>
      <p:sp>
        <p:nvSpPr>
          <p:cNvPr id="153" name="Google Shape;153;p20"/>
          <p:cNvSpPr txBox="1"/>
          <p:nvPr/>
        </p:nvSpPr>
        <p:spPr>
          <a:xfrm>
            <a:off x="7829550" y="4924425"/>
            <a:ext cx="952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154" name="Google Shape;154;p20"/>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4</a:t>
            </a:r>
            <a:endParaRPr b="1" sz="600">
              <a:solidFill>
                <a:srgbClr val="404040"/>
              </a:solidFill>
              <a:latin typeface="Noto Sans"/>
              <a:ea typeface="Noto Sans"/>
              <a:cs typeface="Noto Sans"/>
              <a:sym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0" name="Google Shape;160;p21"/>
          <p:cNvPicPr preferRelativeResize="0"/>
          <p:nvPr/>
        </p:nvPicPr>
        <p:blipFill rotWithShape="1">
          <a:blip r:embed="rId3">
            <a:alphaModFix/>
          </a:blip>
          <a:srcRect b="259" l="0" r="0" t="30"/>
          <a:stretch/>
        </p:blipFill>
        <p:spPr>
          <a:xfrm>
            <a:off x="8481060" y="301943"/>
            <a:ext cx="359100" cy="416100"/>
          </a:xfrm>
          <a:prstGeom prst="rect">
            <a:avLst/>
          </a:prstGeom>
          <a:noFill/>
          <a:ln>
            <a:noFill/>
          </a:ln>
        </p:spPr>
      </p:pic>
      <p:sp>
        <p:nvSpPr>
          <p:cNvPr id="161" name="Google Shape;161;p21"/>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21"/>
          <p:cNvSpPr txBox="1"/>
          <p:nvPr/>
        </p:nvSpPr>
        <p:spPr>
          <a:xfrm>
            <a:off x="609600" y="318135"/>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特徴②：「HOW」から「WHAT」へ</a:t>
            </a:r>
            <a:endParaRPr b="1" sz="2200">
              <a:solidFill>
                <a:srgbClr val="404040"/>
              </a:solidFill>
              <a:latin typeface="Noto Sans JP"/>
              <a:ea typeface="Noto Sans JP"/>
              <a:cs typeface="Noto Sans JP"/>
              <a:sym typeface="Noto Sans JP"/>
            </a:endParaRPr>
          </a:p>
        </p:txBody>
      </p:sp>
      <p:sp>
        <p:nvSpPr>
          <p:cNvPr id="163" name="Google Shape;163;p21"/>
          <p:cNvSpPr txBox="1"/>
          <p:nvPr/>
        </p:nvSpPr>
        <p:spPr>
          <a:xfrm>
            <a:off x="571500" y="952500"/>
            <a:ext cx="800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404040"/>
                </a:solidFill>
                <a:latin typeface="Noto Sans JP"/>
                <a:ea typeface="Noto Sans JP"/>
                <a:cs typeface="Noto Sans JP"/>
                <a:sym typeface="Noto Sans JP"/>
              </a:rPr>
              <a:t>「どう書くか」ではなく「何をしたいか」で記述する</a:t>
            </a:r>
            <a:endParaRPr b="1" sz="1800">
              <a:solidFill>
                <a:srgbClr val="404040"/>
              </a:solidFill>
              <a:latin typeface="Noto Sans JP"/>
              <a:ea typeface="Noto Sans JP"/>
              <a:cs typeface="Noto Sans JP"/>
              <a:sym typeface="Noto Sans JP"/>
            </a:endParaRPr>
          </a:p>
        </p:txBody>
      </p:sp>
      <p:sp>
        <p:nvSpPr>
          <p:cNvPr id="164" name="Google Shape;164;p21"/>
          <p:cNvSpPr/>
          <p:nvPr/>
        </p:nvSpPr>
        <p:spPr>
          <a:xfrm>
            <a:off x="571500" y="1524000"/>
            <a:ext cx="3905400" cy="2286000"/>
          </a:xfrm>
          <a:prstGeom prst="roundRect">
            <a:avLst>
              <a:gd fmla="val 4166"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21"/>
          <p:cNvSpPr/>
          <p:nvPr/>
        </p:nvSpPr>
        <p:spPr>
          <a:xfrm>
            <a:off x="571500" y="1524000"/>
            <a:ext cx="3905400" cy="381000"/>
          </a:xfrm>
          <a:prstGeom prst="roundRect">
            <a:avLst>
              <a:gd fmla="val 25000" name="adj"/>
            </a:avLst>
          </a:prstGeom>
          <a:solidFill>
            <a:srgbClr val="6C757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21"/>
          <p:cNvSpPr/>
          <p:nvPr/>
        </p:nvSpPr>
        <p:spPr>
          <a:xfrm>
            <a:off x="571500" y="1714500"/>
            <a:ext cx="3905400" cy="190500"/>
          </a:xfrm>
          <a:prstGeom prst="rect">
            <a:avLst/>
          </a:prstGeom>
          <a:solidFill>
            <a:srgbClr val="6C757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21"/>
          <p:cNvSpPr txBox="1"/>
          <p:nvPr/>
        </p:nvSpPr>
        <p:spPr>
          <a:xfrm>
            <a:off x="762000" y="1524000"/>
            <a:ext cx="3524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400">
                <a:solidFill>
                  <a:srgbClr val="FFFFFF"/>
                </a:solidFill>
                <a:latin typeface="Noto Sans JP"/>
                <a:ea typeface="Noto Sans JP"/>
                <a:cs typeface="Noto Sans JP"/>
                <a:sym typeface="Noto Sans JP"/>
              </a:rPr>
              <a:t>従来の書き方【HOW（手順）】</a:t>
            </a:r>
            <a:endParaRPr b="1" sz="1400">
              <a:solidFill>
                <a:srgbClr val="FFFFFF"/>
              </a:solidFill>
              <a:latin typeface="Noto Sans JP"/>
              <a:ea typeface="Noto Sans JP"/>
              <a:cs typeface="Noto Sans JP"/>
              <a:sym typeface="Noto Sans JP"/>
            </a:endParaRPr>
          </a:p>
        </p:txBody>
      </p:sp>
      <p:sp>
        <p:nvSpPr>
          <p:cNvPr id="168" name="Google Shape;168;p21"/>
          <p:cNvSpPr txBox="1"/>
          <p:nvPr/>
        </p:nvSpPr>
        <p:spPr>
          <a:xfrm>
            <a:off x="762000" y="2047875"/>
            <a:ext cx="3524400" cy="16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400">
                <a:solidFill>
                  <a:srgbClr val="404040"/>
                </a:solidFill>
                <a:latin typeface="Noto Sans JP"/>
                <a:ea typeface="Noto Sans JP"/>
                <a:cs typeface="Noto Sans JP"/>
                <a:sym typeface="Noto Sans JP"/>
              </a:rPr>
              <a:t>「空のリストを作り、ループを回し、もし条件に合えば追加して…」</a:t>
            </a:r>
            <a:endParaRPr b="0" sz="1400">
              <a:solidFill>
                <a:srgbClr val="404040"/>
              </a:solidFill>
              <a:latin typeface="Noto Sans JP"/>
              <a:ea typeface="Noto Sans JP"/>
              <a:cs typeface="Noto Sans JP"/>
              <a:sym typeface="Noto Sans JP"/>
            </a:endParaRPr>
          </a:p>
          <a:p>
            <a:pPr indent="0" lvl="0" marL="0" rtl="0" algn="l">
              <a:spcBef>
                <a:spcPts val="1125"/>
              </a:spcBef>
              <a:spcAft>
                <a:spcPts val="0"/>
              </a:spcAft>
              <a:buNone/>
            </a:pPr>
            <a:r>
              <a:rPr b="0" lang="ja" sz="1400">
                <a:solidFill>
                  <a:srgbClr val="404040"/>
                </a:solidFill>
                <a:latin typeface="Noto Sans JP"/>
                <a:ea typeface="Noto Sans JP"/>
                <a:cs typeface="Noto Sans JP"/>
                <a:sym typeface="Noto Sans JP"/>
              </a:rPr>
              <a:t>という</a:t>
            </a:r>
            <a:r>
              <a:rPr b="1" lang="ja" sz="1400">
                <a:solidFill>
                  <a:srgbClr val="404040"/>
                </a:solidFill>
                <a:latin typeface="Noto Sans JP"/>
                <a:ea typeface="Noto Sans JP"/>
                <a:cs typeface="Noto Sans JP"/>
                <a:sym typeface="Noto Sans JP"/>
              </a:rPr>
              <a:t>『コンピュータへの命令手順』</a:t>
            </a:r>
            <a:r>
              <a:rPr b="0" lang="ja" sz="1400">
                <a:solidFill>
                  <a:srgbClr val="404040"/>
                </a:solidFill>
                <a:latin typeface="Noto Sans JP"/>
                <a:ea typeface="Noto Sans JP"/>
                <a:cs typeface="Noto Sans JP"/>
                <a:sym typeface="Noto Sans JP"/>
              </a:rPr>
              <a:t>を書く。</a:t>
            </a:r>
            <a:endParaRPr b="0" sz="1400">
              <a:solidFill>
                <a:srgbClr val="404040"/>
              </a:solidFill>
              <a:latin typeface="Noto Sans JP"/>
              <a:ea typeface="Noto Sans JP"/>
              <a:cs typeface="Noto Sans JP"/>
              <a:sym typeface="Noto Sans JP"/>
            </a:endParaRPr>
          </a:p>
        </p:txBody>
      </p:sp>
      <p:sp>
        <p:nvSpPr>
          <p:cNvPr id="169" name="Google Shape;169;p21"/>
          <p:cNvSpPr/>
          <p:nvPr/>
        </p:nvSpPr>
        <p:spPr>
          <a:xfrm>
            <a:off x="4667250" y="1524000"/>
            <a:ext cx="3905400" cy="2286000"/>
          </a:xfrm>
          <a:prstGeom prst="roundRect">
            <a:avLst>
              <a:gd fmla="val 4166"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21"/>
          <p:cNvSpPr/>
          <p:nvPr/>
        </p:nvSpPr>
        <p:spPr>
          <a:xfrm>
            <a:off x="4667250" y="1524000"/>
            <a:ext cx="3905400" cy="381000"/>
          </a:xfrm>
          <a:prstGeom prst="roundRect">
            <a:avLst>
              <a:gd fmla="val 25000" name="adj"/>
            </a:avLst>
          </a:prstGeom>
          <a:solidFill>
            <a:srgbClr val="007B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1"/>
          <p:cNvSpPr/>
          <p:nvPr/>
        </p:nvSpPr>
        <p:spPr>
          <a:xfrm>
            <a:off x="4667250" y="1714500"/>
            <a:ext cx="3905400" cy="190500"/>
          </a:xfrm>
          <a:prstGeom prst="rect">
            <a:avLst/>
          </a:prstGeom>
          <a:solidFill>
            <a:srgbClr val="007B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1"/>
          <p:cNvSpPr txBox="1"/>
          <p:nvPr/>
        </p:nvSpPr>
        <p:spPr>
          <a:xfrm>
            <a:off x="4857750" y="1524000"/>
            <a:ext cx="3524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400">
                <a:solidFill>
                  <a:srgbClr val="FFFFFF"/>
                </a:solidFill>
                <a:latin typeface="Noto Sans JP"/>
                <a:ea typeface="Noto Sans JP"/>
                <a:cs typeface="Noto Sans JP"/>
                <a:sym typeface="Noto Sans JP"/>
              </a:rPr>
              <a:t>Stream API【WHAT（目的）】</a:t>
            </a:r>
            <a:endParaRPr b="1" sz="1400">
              <a:solidFill>
                <a:srgbClr val="FFFFFF"/>
              </a:solidFill>
              <a:latin typeface="Noto Sans JP"/>
              <a:ea typeface="Noto Sans JP"/>
              <a:cs typeface="Noto Sans JP"/>
              <a:sym typeface="Noto Sans JP"/>
            </a:endParaRPr>
          </a:p>
        </p:txBody>
      </p:sp>
      <p:sp>
        <p:nvSpPr>
          <p:cNvPr id="173" name="Google Shape;173;p21"/>
          <p:cNvSpPr txBox="1"/>
          <p:nvPr/>
        </p:nvSpPr>
        <p:spPr>
          <a:xfrm>
            <a:off x="4857750" y="2047875"/>
            <a:ext cx="3524400" cy="16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400">
                <a:solidFill>
                  <a:srgbClr val="404040"/>
                </a:solidFill>
                <a:latin typeface="Noto Sans JP"/>
                <a:ea typeface="Noto Sans JP"/>
                <a:cs typeface="Noto Sans JP"/>
                <a:sym typeface="Noto Sans JP"/>
              </a:rPr>
              <a:t>「絞り込む」「変換する」といった</a:t>
            </a:r>
            <a:endParaRPr b="0" sz="1400">
              <a:solidFill>
                <a:srgbClr val="404040"/>
              </a:solidFill>
              <a:latin typeface="Noto Sans JP"/>
              <a:ea typeface="Noto Sans JP"/>
              <a:cs typeface="Noto Sans JP"/>
              <a:sym typeface="Noto Sans JP"/>
            </a:endParaRPr>
          </a:p>
          <a:p>
            <a:pPr indent="0" lvl="0" marL="0" rtl="0" algn="l">
              <a:spcBef>
                <a:spcPts val="1125"/>
              </a:spcBef>
              <a:spcAft>
                <a:spcPts val="0"/>
              </a:spcAft>
              <a:buNone/>
            </a:pPr>
            <a:r>
              <a:rPr b="1" lang="ja" sz="1400">
                <a:solidFill>
                  <a:srgbClr val="404040"/>
                </a:solidFill>
                <a:latin typeface="Noto Sans JP"/>
                <a:ea typeface="Noto Sans JP"/>
                <a:cs typeface="Noto Sans JP"/>
                <a:sym typeface="Noto Sans JP"/>
              </a:rPr>
              <a:t>『データに対してやりたいこと（目的）』</a:t>
            </a:r>
            <a:r>
              <a:rPr b="0" lang="ja" sz="1400">
                <a:solidFill>
                  <a:srgbClr val="404040"/>
                </a:solidFill>
                <a:latin typeface="Noto Sans JP"/>
                <a:ea typeface="Noto Sans JP"/>
                <a:cs typeface="Noto Sans JP"/>
                <a:sym typeface="Noto Sans JP"/>
              </a:rPr>
              <a:t>を並べて書く。</a:t>
            </a:r>
            <a:endParaRPr b="0" sz="1400">
              <a:solidFill>
                <a:srgbClr val="404040"/>
              </a:solidFill>
              <a:latin typeface="Noto Sans JP"/>
              <a:ea typeface="Noto Sans JP"/>
              <a:cs typeface="Noto Sans JP"/>
              <a:sym typeface="Noto Sans JP"/>
            </a:endParaRPr>
          </a:p>
        </p:txBody>
      </p:sp>
      <p:pic>
        <p:nvPicPr>
          <p:cNvPr id="174" name="Google Shape;174;p21"/>
          <p:cNvPicPr preferRelativeResize="0"/>
          <p:nvPr/>
        </p:nvPicPr>
        <p:blipFill rotWithShape="1">
          <a:blip r:embed="rId4">
            <a:alphaModFix/>
          </a:blip>
          <a:srcRect b="0" l="0" r="0" t="0"/>
          <a:stretch/>
        </p:blipFill>
        <p:spPr>
          <a:xfrm>
            <a:off x="4524375" y="2657475"/>
            <a:ext cx="95400" cy="19200"/>
          </a:xfrm>
          <a:prstGeom prst="rect">
            <a:avLst/>
          </a:prstGeom>
          <a:noFill/>
          <a:ln>
            <a:noFill/>
          </a:ln>
        </p:spPr>
      </p:pic>
      <p:pic>
        <p:nvPicPr>
          <p:cNvPr id="175" name="Google Shape;175;p21"/>
          <p:cNvPicPr preferRelativeResize="0"/>
          <p:nvPr/>
        </p:nvPicPr>
        <p:blipFill rotWithShape="1">
          <a:blip r:embed="rId5">
            <a:alphaModFix/>
          </a:blip>
          <a:srcRect b="0" l="0" r="0" t="0"/>
          <a:stretch/>
        </p:blipFill>
        <p:spPr>
          <a:xfrm>
            <a:off x="4619625" y="2619375"/>
            <a:ext cx="95400" cy="95400"/>
          </a:xfrm>
          <a:prstGeom prst="rect">
            <a:avLst/>
          </a:prstGeom>
          <a:noFill/>
          <a:ln>
            <a:noFill/>
          </a:ln>
        </p:spPr>
      </p:pic>
      <p:sp>
        <p:nvSpPr>
          <p:cNvPr id="176" name="Google Shape;176;p21"/>
          <p:cNvSpPr/>
          <p:nvPr/>
        </p:nvSpPr>
        <p:spPr>
          <a:xfrm>
            <a:off x="571500" y="4000500"/>
            <a:ext cx="8001000" cy="571500"/>
          </a:xfrm>
          <a:prstGeom prst="roundRect">
            <a:avLst>
              <a:gd fmla="val 50000" name="adj"/>
            </a:avLst>
          </a:prstGeom>
          <a:solidFill>
            <a:srgbClr val="FEEBEE"/>
          </a:solidFill>
          <a:ln cap="flat" cmpd="sng" w="9525">
            <a:solidFill>
              <a:srgbClr val="EF9A9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1"/>
          <p:cNvSpPr txBox="1"/>
          <p:nvPr/>
        </p:nvSpPr>
        <p:spPr>
          <a:xfrm>
            <a:off x="571500" y="4000500"/>
            <a:ext cx="800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2000">
                <a:solidFill>
                  <a:srgbClr val="E53935"/>
                </a:solidFill>
                <a:latin typeface="Material Icons"/>
                <a:ea typeface="Material Icons"/>
                <a:cs typeface="Material Icons"/>
                <a:sym typeface="Material Icons"/>
              </a:rPr>
              <a:t>lightbul</a:t>
            </a:r>
            <a:r>
              <a:rPr b="1" lang="ja" sz="2000">
                <a:solidFill>
                  <a:srgbClr val="E53935"/>
                </a:solidFill>
                <a:latin typeface="Material Icons"/>
                <a:ea typeface="Material Icons"/>
                <a:cs typeface="Material Icons"/>
                <a:sym typeface="Material Icons"/>
              </a:rPr>
              <a:t>b</a:t>
            </a:r>
            <a:r>
              <a:rPr b="1" lang="ja" sz="1600">
                <a:solidFill>
                  <a:srgbClr val="E53935"/>
                </a:solidFill>
                <a:latin typeface="Noto Sans JP"/>
                <a:ea typeface="Noto Sans JP"/>
                <a:cs typeface="Noto Sans JP"/>
                <a:sym typeface="Noto Sans JP"/>
              </a:rPr>
              <a:t>処理の内容が直感的に理解しやすい</a:t>
            </a:r>
            <a:endParaRPr b="1" sz="1600">
              <a:solidFill>
                <a:srgbClr val="E53935"/>
              </a:solidFill>
              <a:latin typeface="Noto Sans JP"/>
              <a:ea typeface="Noto Sans JP"/>
              <a:cs typeface="Noto Sans JP"/>
              <a:sym typeface="Noto Sans JP"/>
            </a:endParaRPr>
          </a:p>
        </p:txBody>
      </p:sp>
      <p:sp>
        <p:nvSpPr>
          <p:cNvPr id="178" name="Google Shape;178;p21"/>
          <p:cNvSpPr txBox="1"/>
          <p:nvPr/>
        </p:nvSpPr>
        <p:spPr>
          <a:xfrm>
            <a:off x="7829550" y="4924425"/>
            <a:ext cx="952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179" name="Google Shape;179;p21"/>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5</a:t>
            </a:r>
            <a:endParaRPr b="1" sz="600">
              <a:solidFill>
                <a:srgbClr val="404040"/>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grpSp>
        <p:nvGrpSpPr>
          <p:cNvPr id="184" name="Google Shape;184;p22"/>
          <p:cNvGrpSpPr/>
          <p:nvPr/>
        </p:nvGrpSpPr>
        <p:grpSpPr>
          <a:xfrm>
            <a:off x="0" y="0"/>
            <a:ext cx="9144000" cy="5143500"/>
            <a:chOff x="0" y="0"/>
            <a:chExt cx="9144000" cy="5143500"/>
          </a:xfrm>
        </p:grpSpPr>
        <p:pic>
          <p:nvPicPr>
            <p:cNvPr id="185" name="Google Shape;185;p22"/>
            <p:cNvPicPr preferRelativeResize="0"/>
            <p:nvPr/>
          </p:nvPicPr>
          <p:blipFill rotWithShape="1">
            <a:blip r:embed="rId3">
              <a:alphaModFix/>
            </a:blip>
            <a:srcRect b="140" l="0" r="0" t="150"/>
            <a:stretch/>
          </p:blipFill>
          <p:spPr>
            <a:xfrm>
              <a:off x="8481060" y="301943"/>
              <a:ext cx="359100" cy="416100"/>
            </a:xfrm>
            <a:prstGeom prst="rect">
              <a:avLst/>
            </a:prstGeom>
            <a:noFill/>
            <a:ln>
              <a:noFill/>
            </a:ln>
          </p:spPr>
        </p:pic>
        <p:sp>
          <p:nvSpPr>
            <p:cNvPr id="186" name="Google Shape;186;p22"/>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2"/>
            <p:cNvSpPr txBox="1"/>
            <p:nvPr/>
          </p:nvSpPr>
          <p:spPr>
            <a:xfrm>
              <a:off x="0" y="0"/>
              <a:ext cx="9144000" cy="514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4800">
                  <a:solidFill>
                    <a:srgbClr val="404040"/>
                  </a:solidFill>
                  <a:latin typeface="Noto Sans JP"/>
                  <a:ea typeface="Noto Sans JP"/>
                  <a:cs typeface="Noto Sans JP"/>
                  <a:sym typeface="Noto Sans JP"/>
                </a:rPr>
                <a:t>Stream APIの書き方</a:t>
              </a:r>
              <a:endParaRPr b="1" sz="4800">
                <a:solidFill>
                  <a:srgbClr val="404040"/>
                </a:solidFill>
                <a:latin typeface="Noto Sans JP"/>
                <a:ea typeface="Noto Sans JP"/>
                <a:cs typeface="Noto Sans JP"/>
                <a:sym typeface="Noto Sans JP"/>
              </a:endParaRPr>
            </a:p>
          </p:txBody>
        </p:sp>
        <p:sp>
          <p:nvSpPr>
            <p:cNvPr id="188" name="Google Shape;188;p22"/>
            <p:cNvSpPr txBox="1"/>
            <p:nvPr/>
          </p:nvSpPr>
          <p:spPr>
            <a:xfrm>
              <a:off x="7829550" y="4924425"/>
              <a:ext cx="952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4" name="Google Shape;194;p23"/>
          <p:cNvPicPr preferRelativeResize="0"/>
          <p:nvPr/>
        </p:nvPicPr>
        <p:blipFill rotWithShape="1">
          <a:blip r:embed="rId3">
            <a:alphaModFix/>
          </a:blip>
          <a:srcRect b="140" l="0" r="0" t="150"/>
          <a:stretch/>
        </p:blipFill>
        <p:spPr>
          <a:xfrm>
            <a:off x="8481060" y="301943"/>
            <a:ext cx="359100" cy="416100"/>
          </a:xfrm>
          <a:prstGeom prst="rect">
            <a:avLst/>
          </a:prstGeom>
          <a:noFill/>
          <a:ln>
            <a:noFill/>
          </a:ln>
        </p:spPr>
      </p:pic>
      <p:sp>
        <p:nvSpPr>
          <p:cNvPr id="195" name="Google Shape;195;p23"/>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23"/>
          <p:cNvSpPr txBox="1"/>
          <p:nvPr/>
        </p:nvSpPr>
        <p:spPr>
          <a:xfrm>
            <a:off x="609600" y="314325"/>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実際のコードで確認</a:t>
            </a:r>
            <a:endParaRPr b="1" sz="2200">
              <a:solidFill>
                <a:srgbClr val="404040"/>
              </a:solidFill>
              <a:latin typeface="Noto Sans JP"/>
              <a:ea typeface="Noto Sans JP"/>
              <a:cs typeface="Noto Sans JP"/>
              <a:sym typeface="Noto Sans JP"/>
            </a:endParaRPr>
          </a:p>
        </p:txBody>
      </p:sp>
      <p:sp>
        <p:nvSpPr>
          <p:cNvPr id="197" name="Google Shape;197;p23"/>
          <p:cNvSpPr/>
          <p:nvPr/>
        </p:nvSpPr>
        <p:spPr>
          <a:xfrm>
            <a:off x="571500" y="952500"/>
            <a:ext cx="8001000" cy="3429000"/>
          </a:xfrm>
          <a:prstGeom prst="roundRect">
            <a:avLst>
              <a:gd fmla="val 2777" name="adj"/>
            </a:avLst>
          </a:prstGeom>
          <a:solidFill>
            <a:srgbClr val="2D2D2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3"/>
          <p:cNvSpPr txBox="1"/>
          <p:nvPr/>
        </p:nvSpPr>
        <p:spPr>
          <a:xfrm>
            <a:off x="7829550" y="4924425"/>
            <a:ext cx="600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199" name="Google Shape;199;p23"/>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10</a:t>
            </a:r>
            <a:endParaRPr b="1" sz="600">
              <a:solidFill>
                <a:srgbClr val="404040"/>
              </a:solidFill>
              <a:latin typeface="Noto Sans"/>
              <a:ea typeface="Noto Sans"/>
              <a:cs typeface="Noto Sans"/>
              <a:sym typeface="Noto Sans"/>
            </a:endParaRPr>
          </a:p>
        </p:txBody>
      </p:sp>
      <p:grpSp>
        <p:nvGrpSpPr>
          <p:cNvPr id="200" name="Google Shape;200;p23"/>
          <p:cNvGrpSpPr/>
          <p:nvPr/>
        </p:nvGrpSpPr>
        <p:grpSpPr>
          <a:xfrm>
            <a:off x="571500" y="4524375"/>
            <a:ext cx="8001000" cy="381000"/>
            <a:chOff x="571500" y="4524375"/>
            <a:chExt cx="8001000" cy="381000"/>
          </a:xfrm>
        </p:grpSpPr>
        <p:sp>
          <p:nvSpPr>
            <p:cNvPr id="201" name="Google Shape;201;p23"/>
            <p:cNvSpPr/>
            <p:nvPr/>
          </p:nvSpPr>
          <p:spPr>
            <a:xfrm>
              <a:off x="571500" y="4524375"/>
              <a:ext cx="2476500" cy="381000"/>
            </a:xfrm>
            <a:prstGeom prst="roundRect">
              <a:avLst>
                <a:gd fmla="val 10000" name="adj"/>
              </a:avLst>
            </a:prstGeom>
            <a:solidFill>
              <a:srgbClr val="E1F5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23"/>
            <p:cNvSpPr txBox="1"/>
            <p:nvPr/>
          </p:nvSpPr>
          <p:spPr>
            <a:xfrm>
              <a:off x="571500" y="4524375"/>
              <a:ext cx="2476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400">
                  <a:solidFill>
                    <a:srgbClr val="4FC3F7"/>
                  </a:solidFill>
                  <a:latin typeface="Noto Sans JP"/>
                  <a:ea typeface="Noto Sans JP"/>
                  <a:cs typeface="Noto Sans JP"/>
                  <a:sym typeface="Noto Sans JP"/>
                </a:rPr>
                <a:t>① 生成</a:t>
              </a:r>
              <a:endParaRPr b="1" sz="1400">
                <a:solidFill>
                  <a:srgbClr val="4FC3F7"/>
                </a:solidFill>
                <a:latin typeface="Noto Sans JP"/>
                <a:ea typeface="Noto Sans JP"/>
                <a:cs typeface="Noto Sans JP"/>
                <a:sym typeface="Noto Sans JP"/>
              </a:endParaRPr>
            </a:p>
          </p:txBody>
        </p:sp>
        <p:sp>
          <p:nvSpPr>
            <p:cNvPr id="203" name="Google Shape;203;p23"/>
            <p:cNvSpPr/>
            <p:nvPr/>
          </p:nvSpPr>
          <p:spPr>
            <a:xfrm>
              <a:off x="3333750" y="4524375"/>
              <a:ext cx="2476500" cy="381000"/>
            </a:xfrm>
            <a:prstGeom prst="roundRect">
              <a:avLst>
                <a:gd fmla="val 10000" name="adj"/>
              </a:avLst>
            </a:prstGeom>
            <a:solidFill>
              <a:srgbClr val="E8F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3"/>
            <p:cNvSpPr txBox="1"/>
            <p:nvPr/>
          </p:nvSpPr>
          <p:spPr>
            <a:xfrm>
              <a:off x="3333750" y="4524375"/>
              <a:ext cx="2476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400">
                  <a:solidFill>
                    <a:srgbClr val="81C784"/>
                  </a:solidFill>
                  <a:latin typeface="Noto Sans JP"/>
                  <a:ea typeface="Noto Sans JP"/>
                  <a:cs typeface="Noto Sans JP"/>
                  <a:sym typeface="Noto Sans JP"/>
                </a:rPr>
                <a:t>② 中間操作</a:t>
              </a:r>
              <a:endParaRPr b="1" sz="1400">
                <a:solidFill>
                  <a:srgbClr val="81C784"/>
                </a:solidFill>
                <a:latin typeface="Noto Sans JP"/>
                <a:ea typeface="Noto Sans JP"/>
                <a:cs typeface="Noto Sans JP"/>
                <a:sym typeface="Noto Sans JP"/>
              </a:endParaRPr>
            </a:p>
          </p:txBody>
        </p:sp>
        <p:sp>
          <p:nvSpPr>
            <p:cNvPr id="205" name="Google Shape;205;p23"/>
            <p:cNvSpPr/>
            <p:nvPr/>
          </p:nvSpPr>
          <p:spPr>
            <a:xfrm>
              <a:off x="6096000" y="4524375"/>
              <a:ext cx="2476500" cy="381000"/>
            </a:xfrm>
            <a:prstGeom prst="roundRect">
              <a:avLst>
                <a:gd fmla="val 10000" name="adj"/>
              </a:avLst>
            </a:prstGeom>
            <a:solidFill>
              <a:srgbClr val="FBE9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3"/>
            <p:cNvSpPr txBox="1"/>
            <p:nvPr/>
          </p:nvSpPr>
          <p:spPr>
            <a:xfrm>
              <a:off x="6096000" y="4524375"/>
              <a:ext cx="2476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400">
                  <a:solidFill>
                    <a:srgbClr val="FF8A65"/>
                  </a:solidFill>
                  <a:latin typeface="Noto Sans JP"/>
                  <a:ea typeface="Noto Sans JP"/>
                  <a:cs typeface="Noto Sans JP"/>
                  <a:sym typeface="Noto Sans JP"/>
                </a:rPr>
                <a:t>③ 終端操作</a:t>
              </a:r>
              <a:endParaRPr b="1" sz="1400">
                <a:solidFill>
                  <a:srgbClr val="FF8A65"/>
                </a:solidFill>
                <a:latin typeface="Noto Sans JP"/>
                <a:ea typeface="Noto Sans JP"/>
                <a:cs typeface="Noto Sans JP"/>
                <a:sym typeface="Noto Sans JP"/>
              </a:endParaRPr>
            </a:p>
          </p:txBody>
        </p:sp>
      </p:grpSp>
      <p:sp>
        <p:nvSpPr>
          <p:cNvPr id="207" name="Google Shape;207;p23"/>
          <p:cNvSpPr txBox="1"/>
          <p:nvPr/>
        </p:nvSpPr>
        <p:spPr>
          <a:xfrm>
            <a:off x="666750" y="1047750"/>
            <a:ext cx="8001000" cy="3238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ja" sz="1400">
                <a:solidFill>
                  <a:srgbClr val="4EC9B0"/>
                </a:solidFill>
                <a:latin typeface="Courier New"/>
                <a:ea typeface="Courier New"/>
                <a:cs typeface="Courier New"/>
                <a:sym typeface="Courier New"/>
              </a:rPr>
              <a:t>String</a:t>
            </a:r>
            <a:r>
              <a:rPr b="0" i="0" lang="ja" sz="1400">
                <a:solidFill>
                  <a:srgbClr val="DCDCDC"/>
                </a:solidFill>
                <a:latin typeface="Courier New"/>
                <a:ea typeface="Courier New"/>
                <a:cs typeface="Courier New"/>
                <a:sym typeface="Courier New"/>
              </a:rPr>
              <a:t>[] fruits = {</a:t>
            </a:r>
            <a:r>
              <a:rPr b="0" i="0" lang="ja" sz="1400">
                <a:solidFill>
                  <a:srgbClr val="CE9178"/>
                </a:solidFill>
                <a:latin typeface="Courier New"/>
                <a:ea typeface="Courier New"/>
                <a:cs typeface="Courier New"/>
                <a:sym typeface="Courier New"/>
              </a:rPr>
              <a:t>"apple"</a:t>
            </a:r>
            <a:r>
              <a:rPr b="0" i="0" lang="ja" sz="1400">
                <a:solidFill>
                  <a:srgbClr val="DCDCDC"/>
                </a:solidFill>
                <a:latin typeface="Courier New"/>
                <a:ea typeface="Courier New"/>
                <a:cs typeface="Courier New"/>
                <a:sym typeface="Courier New"/>
              </a:rPr>
              <a:t>, </a:t>
            </a:r>
            <a:r>
              <a:rPr b="0" i="0" lang="ja" sz="1400">
                <a:solidFill>
                  <a:srgbClr val="CE9178"/>
                </a:solidFill>
                <a:latin typeface="Courier New"/>
                <a:ea typeface="Courier New"/>
                <a:cs typeface="Courier New"/>
                <a:sym typeface="Courier New"/>
              </a:rPr>
              <a:t>"banana"</a:t>
            </a:r>
            <a:r>
              <a:rPr b="0" i="0" lang="ja" sz="1400">
                <a:solidFill>
                  <a:srgbClr val="DCDCDC"/>
                </a:solidFill>
                <a:latin typeface="Courier New"/>
                <a:ea typeface="Courier New"/>
                <a:cs typeface="Courier New"/>
                <a:sym typeface="Courier New"/>
              </a:rPr>
              <a:t>, </a:t>
            </a:r>
            <a:r>
              <a:rPr b="0" i="0" lang="ja" sz="1400">
                <a:solidFill>
                  <a:srgbClr val="CE9178"/>
                </a:solidFill>
                <a:latin typeface="Courier New"/>
                <a:ea typeface="Courier New"/>
                <a:cs typeface="Courier New"/>
                <a:sym typeface="Courier New"/>
              </a:rPr>
              <a:t>"cherry"</a:t>
            </a:r>
            <a:r>
              <a:rPr b="0" i="0" lang="ja" sz="1400">
                <a:solidFill>
                  <a:srgbClr val="DCDCDC"/>
                </a:solidFill>
                <a:latin typeface="Courier New"/>
                <a:ea typeface="Courier New"/>
                <a:cs typeface="Courier New"/>
                <a:sym typeface="Courier New"/>
              </a:rPr>
              <a:t>, </a:t>
            </a:r>
            <a:r>
              <a:rPr b="0" i="0" lang="ja" sz="1400">
                <a:solidFill>
                  <a:srgbClr val="CE9178"/>
                </a:solidFill>
                <a:latin typeface="Courier New"/>
                <a:ea typeface="Courier New"/>
                <a:cs typeface="Courier New"/>
                <a:sym typeface="Courier New"/>
              </a:rPr>
              <a:t>"date"</a:t>
            </a:r>
            <a:r>
              <a:rPr b="0" i="0" lang="ja" sz="1400">
                <a:solidFill>
                  <a:srgbClr val="DCDCDC"/>
                </a:solidFill>
                <a:latin typeface="Courier New"/>
                <a:ea typeface="Courier New"/>
                <a:cs typeface="Courier New"/>
                <a:sym typeface="Courier New"/>
              </a:rPr>
              <a:t>}; </a:t>
            </a:r>
            <a:r>
              <a:rPr b="0" i="0" lang="ja" sz="1400">
                <a:solidFill>
                  <a:srgbClr val="6A9955"/>
                </a:solidFill>
                <a:latin typeface="Courier New"/>
                <a:ea typeface="Courier New"/>
                <a:cs typeface="Courier New"/>
                <a:sym typeface="Courier New"/>
              </a:rPr>
              <a:t>// 配列の宣言</a:t>
            </a:r>
            <a:endParaRPr b="0" i="0" sz="1400">
              <a:solidFill>
                <a:srgbClr val="4EC9B0"/>
              </a:solidFill>
              <a:latin typeface="Courier New"/>
              <a:ea typeface="Courier New"/>
              <a:cs typeface="Courier New"/>
              <a:sym typeface="Courier New"/>
            </a:endParaRPr>
          </a:p>
          <a:p>
            <a:pPr indent="0" lvl="0" marL="0" rtl="0" algn="l">
              <a:spcBef>
                <a:spcPts val="2000"/>
              </a:spcBef>
              <a:spcAft>
                <a:spcPts val="0"/>
              </a:spcAft>
              <a:buNone/>
            </a:pPr>
            <a:r>
              <a:rPr b="0" i="0" lang="ja" sz="1400">
                <a:solidFill>
                  <a:srgbClr val="4EC9B0"/>
                </a:solidFill>
                <a:latin typeface="Courier New"/>
                <a:ea typeface="Courier New"/>
                <a:cs typeface="Courier New"/>
                <a:sym typeface="Courier New"/>
              </a:rPr>
              <a:t>List</a:t>
            </a:r>
            <a:r>
              <a:rPr b="0" i="0" lang="ja" sz="1400">
                <a:solidFill>
                  <a:srgbClr val="DCDCDC"/>
                </a:solidFill>
                <a:latin typeface="Courier New"/>
                <a:ea typeface="Courier New"/>
                <a:cs typeface="Courier New"/>
                <a:sym typeface="Courier New"/>
              </a:rPr>
              <a:t>&lt;</a:t>
            </a:r>
            <a:r>
              <a:rPr b="0" i="0" lang="ja" sz="1400">
                <a:solidFill>
                  <a:srgbClr val="4EC9B0"/>
                </a:solidFill>
                <a:latin typeface="Courier New"/>
                <a:ea typeface="Courier New"/>
                <a:cs typeface="Courier New"/>
                <a:sym typeface="Courier New"/>
              </a:rPr>
              <a:t>String</a:t>
            </a:r>
            <a:r>
              <a:rPr b="0" i="0" lang="ja" sz="1400">
                <a:solidFill>
                  <a:srgbClr val="DCDCDC"/>
                </a:solidFill>
                <a:latin typeface="Courier New"/>
                <a:ea typeface="Courier New"/>
                <a:cs typeface="Courier New"/>
                <a:sym typeface="Courier New"/>
              </a:rPr>
              <a:t>&gt; result = </a:t>
            </a:r>
            <a:r>
              <a:rPr b="0" i="0" lang="ja" sz="1400">
                <a:solidFill>
                  <a:srgbClr val="4EC9B0"/>
                </a:solidFill>
                <a:latin typeface="Courier New"/>
                <a:ea typeface="Courier New"/>
                <a:cs typeface="Courier New"/>
                <a:sym typeface="Courier New"/>
              </a:rPr>
              <a:t>Arrays</a:t>
            </a:r>
            <a:r>
              <a:rPr b="0" i="0" lang="ja" sz="1400">
                <a:solidFill>
                  <a:srgbClr val="DCDCDC"/>
                </a:solidFill>
                <a:latin typeface="Courier New"/>
                <a:ea typeface="Courier New"/>
                <a:cs typeface="Courier New"/>
                <a:sym typeface="Courier New"/>
              </a:rPr>
              <a:t>.stream(fruits) </a:t>
            </a:r>
            <a:r>
              <a:rPr b="0" i="0" lang="ja" sz="1400">
                <a:solidFill>
                  <a:srgbClr val="6A9955"/>
                </a:solidFill>
                <a:latin typeface="Courier New"/>
                <a:ea typeface="Courier New"/>
                <a:cs typeface="Courier New"/>
                <a:sym typeface="Courier New"/>
              </a:rPr>
              <a:t>// ① 生成</a:t>
            </a:r>
            <a:endParaRPr b="0" i="0" sz="1400">
              <a:solidFill>
                <a:srgbClr val="4EC9B0"/>
              </a:solidFill>
              <a:latin typeface="Courier New"/>
              <a:ea typeface="Courier New"/>
              <a:cs typeface="Courier New"/>
              <a:sym typeface="Courier New"/>
            </a:endParaRPr>
          </a:p>
          <a:p>
            <a:pPr indent="0" lvl="0" marL="2159000" marR="0" rtl="0" algn="l">
              <a:spcBef>
                <a:spcPts val="800"/>
              </a:spcBef>
              <a:spcAft>
                <a:spcPts val="0"/>
              </a:spcAft>
              <a:buNone/>
            </a:pPr>
            <a:r>
              <a:rPr b="0" i="0" lang="ja" sz="1400">
                <a:solidFill>
                  <a:srgbClr val="DCDCDC"/>
                </a:solidFill>
                <a:latin typeface="Courier New"/>
                <a:ea typeface="Courier New"/>
                <a:cs typeface="Courier New"/>
                <a:sym typeface="Courier New"/>
              </a:rPr>
              <a:t>.filter(s -&gt; s.length() &gt;= </a:t>
            </a:r>
            <a:r>
              <a:rPr b="0" i="0" lang="ja" sz="1400">
                <a:solidFill>
                  <a:srgbClr val="B5CEA8"/>
                </a:solidFill>
                <a:latin typeface="Courier New"/>
                <a:ea typeface="Courier New"/>
                <a:cs typeface="Courier New"/>
                <a:sym typeface="Courier New"/>
              </a:rPr>
              <a:t>4</a:t>
            </a:r>
            <a:r>
              <a:rPr b="0" i="0" lang="ja" sz="1400">
                <a:solidFill>
                  <a:srgbClr val="DCDCDC"/>
                </a:solidFill>
                <a:latin typeface="Courier New"/>
                <a:ea typeface="Courier New"/>
                <a:cs typeface="Courier New"/>
                <a:sym typeface="Courier New"/>
              </a:rPr>
              <a:t>) </a:t>
            </a:r>
            <a:r>
              <a:rPr b="0" i="0" lang="ja" sz="1400">
                <a:solidFill>
                  <a:srgbClr val="6A9955"/>
                </a:solidFill>
                <a:latin typeface="Courier New"/>
                <a:ea typeface="Courier New"/>
                <a:cs typeface="Courier New"/>
                <a:sym typeface="Courier New"/>
              </a:rPr>
              <a:t>// ② 中間操作</a:t>
            </a:r>
            <a:endParaRPr b="0" i="0" sz="1400">
              <a:solidFill>
                <a:srgbClr val="4EC9B0"/>
              </a:solidFill>
              <a:latin typeface="Courier New"/>
              <a:ea typeface="Courier New"/>
              <a:cs typeface="Courier New"/>
              <a:sym typeface="Courier New"/>
            </a:endParaRPr>
          </a:p>
          <a:p>
            <a:pPr indent="0" lvl="0" marL="2159000" marR="0" rtl="0" algn="l">
              <a:spcBef>
                <a:spcPts val="800"/>
              </a:spcBef>
              <a:spcAft>
                <a:spcPts val="0"/>
              </a:spcAft>
              <a:buNone/>
            </a:pPr>
            <a:r>
              <a:rPr b="0" i="0" lang="ja" sz="1400">
                <a:solidFill>
                  <a:srgbClr val="DCDCDC"/>
                </a:solidFill>
                <a:latin typeface="Courier New"/>
                <a:ea typeface="Courier New"/>
                <a:cs typeface="Courier New"/>
                <a:sym typeface="Courier New"/>
              </a:rPr>
              <a:t>.map(</a:t>
            </a:r>
            <a:r>
              <a:rPr b="0" i="0" lang="ja" sz="1400">
                <a:solidFill>
                  <a:srgbClr val="4EC9B0"/>
                </a:solidFill>
                <a:latin typeface="Courier New"/>
                <a:ea typeface="Courier New"/>
                <a:cs typeface="Courier New"/>
                <a:sym typeface="Courier New"/>
              </a:rPr>
              <a:t>String</a:t>
            </a:r>
            <a:r>
              <a:rPr b="0" i="0" lang="ja" sz="1400">
                <a:solidFill>
                  <a:srgbClr val="DCDCDC"/>
                </a:solidFill>
                <a:latin typeface="Courier New"/>
                <a:ea typeface="Courier New"/>
                <a:cs typeface="Courier New"/>
                <a:sym typeface="Courier New"/>
              </a:rPr>
              <a:t>::toUpperCase) </a:t>
            </a:r>
            <a:r>
              <a:rPr b="0" i="0" lang="ja" sz="1400">
                <a:solidFill>
                  <a:srgbClr val="6A9955"/>
                </a:solidFill>
                <a:latin typeface="Courier New"/>
                <a:ea typeface="Courier New"/>
                <a:cs typeface="Courier New"/>
                <a:sym typeface="Courier New"/>
              </a:rPr>
              <a:t>// ② 中間操作</a:t>
            </a:r>
            <a:endParaRPr b="0" i="0" sz="1400">
              <a:solidFill>
                <a:srgbClr val="4EC9B0"/>
              </a:solidFill>
              <a:latin typeface="Courier New"/>
              <a:ea typeface="Courier New"/>
              <a:cs typeface="Courier New"/>
              <a:sym typeface="Courier New"/>
            </a:endParaRPr>
          </a:p>
          <a:p>
            <a:pPr indent="0" lvl="0" marL="2159000" marR="0" rtl="0" algn="l">
              <a:spcBef>
                <a:spcPts val="800"/>
              </a:spcBef>
              <a:spcAft>
                <a:spcPts val="0"/>
              </a:spcAft>
              <a:buNone/>
            </a:pPr>
            <a:r>
              <a:rPr b="0" i="0" lang="ja" sz="1400">
                <a:solidFill>
                  <a:srgbClr val="DCDCDC"/>
                </a:solidFill>
                <a:latin typeface="Courier New"/>
                <a:ea typeface="Courier New"/>
                <a:cs typeface="Courier New"/>
                <a:sym typeface="Courier New"/>
              </a:rPr>
              <a:t>.toList(); </a:t>
            </a:r>
            <a:r>
              <a:rPr b="0" i="0" lang="ja" sz="1400">
                <a:solidFill>
                  <a:srgbClr val="6A9955"/>
                </a:solidFill>
                <a:latin typeface="Courier New"/>
                <a:ea typeface="Courier New"/>
                <a:cs typeface="Courier New"/>
                <a:sym typeface="Courier New"/>
              </a:rPr>
              <a:t>// ③ 終端操作</a:t>
            </a:r>
            <a:endParaRPr b="0" i="0" sz="1400">
              <a:solidFill>
                <a:srgbClr val="4EC9B0"/>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3" name="Google Shape;213;p24"/>
          <p:cNvPicPr preferRelativeResize="0"/>
          <p:nvPr/>
        </p:nvPicPr>
        <p:blipFill rotWithShape="1">
          <a:blip r:embed="rId3">
            <a:alphaModFix/>
          </a:blip>
          <a:srcRect b="140" l="0" r="0" t="150"/>
          <a:stretch/>
        </p:blipFill>
        <p:spPr>
          <a:xfrm>
            <a:off x="8481060" y="301943"/>
            <a:ext cx="359100" cy="416100"/>
          </a:xfrm>
          <a:prstGeom prst="rect">
            <a:avLst/>
          </a:prstGeom>
          <a:noFill/>
          <a:ln>
            <a:noFill/>
          </a:ln>
        </p:spPr>
      </p:pic>
      <p:sp>
        <p:nvSpPr>
          <p:cNvPr id="214" name="Google Shape;214;p24"/>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4"/>
          <p:cNvSpPr txBox="1"/>
          <p:nvPr/>
        </p:nvSpPr>
        <p:spPr>
          <a:xfrm>
            <a:off x="723900" y="314325"/>
            <a:ext cx="714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Streamは必ず「3つのステップ」でできている</a:t>
            </a:r>
            <a:endParaRPr b="1" sz="2200">
              <a:solidFill>
                <a:srgbClr val="404040"/>
              </a:solidFill>
              <a:latin typeface="Noto Sans JP"/>
              <a:ea typeface="Noto Sans JP"/>
              <a:cs typeface="Noto Sans JP"/>
              <a:sym typeface="Noto Sans JP"/>
            </a:endParaRPr>
          </a:p>
        </p:txBody>
      </p:sp>
      <p:sp>
        <p:nvSpPr>
          <p:cNvPr id="216" name="Google Shape;216;p24"/>
          <p:cNvSpPr/>
          <p:nvPr/>
        </p:nvSpPr>
        <p:spPr>
          <a:xfrm>
            <a:off x="571500" y="1333500"/>
            <a:ext cx="8001000" cy="3048000"/>
          </a:xfrm>
          <a:prstGeom prst="roundRect">
            <a:avLst>
              <a:gd fmla="val 3125"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7" name="Google Shape;217;p24"/>
          <p:cNvGrpSpPr/>
          <p:nvPr/>
        </p:nvGrpSpPr>
        <p:grpSpPr>
          <a:xfrm>
            <a:off x="1190625" y="1762125"/>
            <a:ext cx="6524625" cy="762150"/>
            <a:chOff x="1190625" y="1762125"/>
            <a:chExt cx="6524625" cy="762150"/>
          </a:xfrm>
        </p:grpSpPr>
        <p:sp>
          <p:nvSpPr>
            <p:cNvPr id="218" name="Google Shape;218;p24"/>
            <p:cNvSpPr/>
            <p:nvPr/>
          </p:nvSpPr>
          <p:spPr>
            <a:xfrm>
              <a:off x="1190625" y="1762125"/>
              <a:ext cx="666900" cy="666900"/>
            </a:xfrm>
            <a:prstGeom prst="ellipse">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24"/>
            <p:cNvSpPr txBox="1"/>
            <p:nvPr/>
          </p:nvSpPr>
          <p:spPr>
            <a:xfrm>
              <a:off x="1190625" y="1762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2400">
                  <a:solidFill>
                    <a:srgbClr val="FFFFFF"/>
                  </a:solidFill>
                  <a:latin typeface="Noto Sans"/>
                  <a:ea typeface="Noto Sans"/>
                  <a:cs typeface="Noto Sans"/>
                  <a:sym typeface="Noto Sans"/>
                </a:rPr>
                <a:t>01</a:t>
              </a:r>
              <a:endParaRPr b="1" sz="2400">
                <a:solidFill>
                  <a:srgbClr val="FFFFFF"/>
                </a:solidFill>
                <a:latin typeface="Noto Sans"/>
                <a:ea typeface="Noto Sans"/>
                <a:cs typeface="Noto Sans"/>
                <a:sym typeface="Noto Sans"/>
              </a:endParaRPr>
            </a:p>
          </p:txBody>
        </p:sp>
        <p:sp>
          <p:nvSpPr>
            <p:cNvPr id="220" name="Google Shape;220;p24"/>
            <p:cNvSpPr txBox="1"/>
            <p:nvPr/>
          </p:nvSpPr>
          <p:spPr>
            <a:xfrm>
              <a:off x="2000250" y="1857375"/>
              <a:ext cx="571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007BFF"/>
                  </a:solidFill>
                  <a:latin typeface="Noto Sans JP"/>
                  <a:ea typeface="Noto Sans JP"/>
                  <a:cs typeface="Noto Sans JP"/>
                  <a:sym typeface="Noto Sans JP"/>
                </a:rPr>
                <a:t>① 生成 </a:t>
              </a:r>
              <a:r>
                <a:rPr b="0" lang="ja" sz="1400">
                  <a:solidFill>
                    <a:srgbClr val="404040"/>
                  </a:solidFill>
                  <a:latin typeface="Noto Sans JP"/>
                  <a:ea typeface="Noto Sans JP"/>
                  <a:cs typeface="Noto Sans JP"/>
                  <a:sym typeface="Noto Sans JP"/>
                </a:rPr>
                <a:t>（データを流し始める）</a:t>
              </a:r>
              <a:endParaRPr b="1" sz="1800">
                <a:solidFill>
                  <a:srgbClr val="007BFF"/>
                </a:solidFill>
                <a:latin typeface="Noto Sans JP"/>
                <a:ea typeface="Noto Sans JP"/>
                <a:cs typeface="Noto Sans JP"/>
                <a:sym typeface="Noto Sans JP"/>
              </a:endParaRPr>
            </a:p>
          </p:txBody>
        </p:sp>
        <p:sp>
          <p:nvSpPr>
            <p:cNvPr id="221" name="Google Shape;221;p24"/>
            <p:cNvSpPr txBox="1"/>
            <p:nvPr/>
          </p:nvSpPr>
          <p:spPr>
            <a:xfrm>
              <a:off x="2000250" y="2238375"/>
              <a:ext cx="571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300">
                  <a:solidFill>
                    <a:srgbClr val="666666"/>
                  </a:solidFill>
                  <a:latin typeface="Noto Sans JP"/>
                  <a:ea typeface="Noto Sans JP"/>
                  <a:cs typeface="Noto Sans JP"/>
                  <a:sym typeface="Noto Sans JP"/>
                </a:rPr>
                <a:t>例：.stream()</a:t>
              </a:r>
              <a:endParaRPr b="0" sz="1300">
                <a:solidFill>
                  <a:srgbClr val="666666"/>
                </a:solidFill>
                <a:latin typeface="Noto Sans JP"/>
                <a:ea typeface="Noto Sans JP"/>
                <a:cs typeface="Noto Sans JP"/>
                <a:sym typeface="Noto Sans JP"/>
              </a:endParaRPr>
            </a:p>
          </p:txBody>
        </p:sp>
      </p:grpSp>
      <p:pic>
        <p:nvPicPr>
          <p:cNvPr id="222" name="Google Shape;222;p24"/>
          <p:cNvPicPr preferRelativeResize="0"/>
          <p:nvPr/>
        </p:nvPicPr>
        <p:blipFill rotWithShape="1">
          <a:blip r:embed="rId4">
            <a:alphaModFix/>
          </a:blip>
          <a:srcRect b="0" l="0" r="0" t="0"/>
          <a:stretch/>
        </p:blipFill>
        <p:spPr>
          <a:xfrm>
            <a:off x="1514475" y="2428875"/>
            <a:ext cx="19200" cy="266700"/>
          </a:xfrm>
          <a:prstGeom prst="rect">
            <a:avLst/>
          </a:prstGeom>
          <a:noFill/>
          <a:ln>
            <a:noFill/>
          </a:ln>
        </p:spPr>
      </p:pic>
      <p:grpSp>
        <p:nvGrpSpPr>
          <p:cNvPr id="223" name="Google Shape;223;p24"/>
          <p:cNvGrpSpPr/>
          <p:nvPr/>
        </p:nvGrpSpPr>
        <p:grpSpPr>
          <a:xfrm>
            <a:off x="1190625" y="2714625"/>
            <a:ext cx="6524625" cy="762150"/>
            <a:chOff x="1190625" y="2714625"/>
            <a:chExt cx="6524625" cy="762150"/>
          </a:xfrm>
        </p:grpSpPr>
        <p:sp>
          <p:nvSpPr>
            <p:cNvPr id="224" name="Google Shape;224;p24"/>
            <p:cNvSpPr/>
            <p:nvPr/>
          </p:nvSpPr>
          <p:spPr>
            <a:xfrm>
              <a:off x="1190625" y="2714625"/>
              <a:ext cx="666900" cy="666900"/>
            </a:xfrm>
            <a:prstGeom prst="ellipse">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4"/>
            <p:cNvSpPr txBox="1"/>
            <p:nvPr/>
          </p:nvSpPr>
          <p:spPr>
            <a:xfrm>
              <a:off x="1190625" y="27146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2400">
                  <a:solidFill>
                    <a:srgbClr val="FFFFFF"/>
                  </a:solidFill>
                  <a:latin typeface="Noto Sans"/>
                  <a:ea typeface="Noto Sans"/>
                  <a:cs typeface="Noto Sans"/>
                  <a:sym typeface="Noto Sans"/>
                </a:rPr>
                <a:t>02</a:t>
              </a:r>
              <a:endParaRPr b="1" sz="2400">
                <a:solidFill>
                  <a:srgbClr val="FFFFFF"/>
                </a:solidFill>
                <a:latin typeface="Noto Sans"/>
                <a:ea typeface="Noto Sans"/>
                <a:cs typeface="Noto Sans"/>
                <a:sym typeface="Noto Sans"/>
              </a:endParaRPr>
            </a:p>
          </p:txBody>
        </p:sp>
        <p:sp>
          <p:nvSpPr>
            <p:cNvPr id="226" name="Google Shape;226;p24"/>
            <p:cNvSpPr txBox="1"/>
            <p:nvPr/>
          </p:nvSpPr>
          <p:spPr>
            <a:xfrm>
              <a:off x="2000250" y="2809875"/>
              <a:ext cx="571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007BFF"/>
                  </a:solidFill>
                  <a:latin typeface="Noto Sans JP"/>
                  <a:ea typeface="Noto Sans JP"/>
                  <a:cs typeface="Noto Sans JP"/>
                  <a:sym typeface="Noto Sans JP"/>
                </a:rPr>
                <a:t>② 中間操作 </a:t>
              </a:r>
              <a:r>
                <a:rPr b="0" lang="ja" sz="1400">
                  <a:solidFill>
                    <a:srgbClr val="404040"/>
                  </a:solidFill>
                  <a:latin typeface="Noto Sans JP"/>
                  <a:ea typeface="Noto Sans JP"/>
                  <a:cs typeface="Noto Sans JP"/>
                  <a:sym typeface="Noto Sans JP"/>
                </a:rPr>
                <a:t>（途中で加工する）</a:t>
              </a:r>
              <a:endParaRPr b="1" sz="1800">
                <a:solidFill>
                  <a:srgbClr val="007BFF"/>
                </a:solidFill>
                <a:latin typeface="Noto Sans JP"/>
                <a:ea typeface="Noto Sans JP"/>
                <a:cs typeface="Noto Sans JP"/>
                <a:sym typeface="Noto Sans JP"/>
              </a:endParaRPr>
            </a:p>
          </p:txBody>
        </p:sp>
        <p:sp>
          <p:nvSpPr>
            <p:cNvPr id="227" name="Google Shape;227;p24"/>
            <p:cNvSpPr txBox="1"/>
            <p:nvPr/>
          </p:nvSpPr>
          <p:spPr>
            <a:xfrm>
              <a:off x="2000250" y="3190875"/>
              <a:ext cx="571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300">
                  <a:solidFill>
                    <a:srgbClr val="666666"/>
                  </a:solidFill>
                  <a:latin typeface="Noto Sans JP"/>
                  <a:ea typeface="Noto Sans JP"/>
                  <a:cs typeface="Noto Sans JP"/>
                  <a:sym typeface="Noto Sans JP"/>
                </a:rPr>
                <a:t>例：.filter() / .map()</a:t>
              </a:r>
              <a:endParaRPr b="0" sz="1300">
                <a:solidFill>
                  <a:srgbClr val="666666"/>
                </a:solidFill>
                <a:latin typeface="Noto Sans JP"/>
                <a:ea typeface="Noto Sans JP"/>
                <a:cs typeface="Noto Sans JP"/>
                <a:sym typeface="Noto Sans JP"/>
              </a:endParaRPr>
            </a:p>
          </p:txBody>
        </p:sp>
      </p:grpSp>
      <p:pic>
        <p:nvPicPr>
          <p:cNvPr id="228" name="Google Shape;228;p24"/>
          <p:cNvPicPr preferRelativeResize="0"/>
          <p:nvPr/>
        </p:nvPicPr>
        <p:blipFill rotWithShape="1">
          <a:blip r:embed="rId4">
            <a:alphaModFix/>
          </a:blip>
          <a:srcRect b="0" l="0" r="0" t="0"/>
          <a:stretch/>
        </p:blipFill>
        <p:spPr>
          <a:xfrm>
            <a:off x="1514475" y="3381375"/>
            <a:ext cx="19200" cy="266700"/>
          </a:xfrm>
          <a:prstGeom prst="rect">
            <a:avLst/>
          </a:prstGeom>
          <a:noFill/>
          <a:ln>
            <a:noFill/>
          </a:ln>
        </p:spPr>
      </p:pic>
      <p:grpSp>
        <p:nvGrpSpPr>
          <p:cNvPr id="229" name="Google Shape;229;p24"/>
          <p:cNvGrpSpPr/>
          <p:nvPr/>
        </p:nvGrpSpPr>
        <p:grpSpPr>
          <a:xfrm>
            <a:off x="1190625" y="3667125"/>
            <a:ext cx="6524625" cy="762150"/>
            <a:chOff x="1190625" y="3667125"/>
            <a:chExt cx="6524625" cy="762150"/>
          </a:xfrm>
        </p:grpSpPr>
        <p:sp>
          <p:nvSpPr>
            <p:cNvPr id="230" name="Google Shape;230;p24"/>
            <p:cNvSpPr/>
            <p:nvPr/>
          </p:nvSpPr>
          <p:spPr>
            <a:xfrm>
              <a:off x="1190625" y="3667125"/>
              <a:ext cx="666900" cy="666900"/>
            </a:xfrm>
            <a:prstGeom prst="ellipse">
              <a:avLst/>
            </a:prstGeom>
            <a:solidFill>
              <a:srgbClr val="E539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txBox="1"/>
            <p:nvPr/>
          </p:nvSpPr>
          <p:spPr>
            <a:xfrm>
              <a:off x="1190625" y="3667125"/>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2400">
                  <a:solidFill>
                    <a:srgbClr val="FFFFFF"/>
                  </a:solidFill>
                  <a:latin typeface="Noto Sans"/>
                  <a:ea typeface="Noto Sans"/>
                  <a:cs typeface="Noto Sans"/>
                  <a:sym typeface="Noto Sans"/>
                </a:rPr>
                <a:t>03</a:t>
              </a:r>
              <a:endParaRPr b="1" sz="2400">
                <a:solidFill>
                  <a:srgbClr val="FFFFFF"/>
                </a:solidFill>
                <a:latin typeface="Noto Sans"/>
                <a:ea typeface="Noto Sans"/>
                <a:cs typeface="Noto Sans"/>
                <a:sym typeface="Noto Sans"/>
              </a:endParaRPr>
            </a:p>
          </p:txBody>
        </p:sp>
        <p:sp>
          <p:nvSpPr>
            <p:cNvPr id="232" name="Google Shape;232;p24"/>
            <p:cNvSpPr txBox="1"/>
            <p:nvPr/>
          </p:nvSpPr>
          <p:spPr>
            <a:xfrm>
              <a:off x="2000250" y="3762375"/>
              <a:ext cx="571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E53935"/>
                  </a:solidFill>
                  <a:latin typeface="Noto Sans JP"/>
                  <a:ea typeface="Noto Sans JP"/>
                  <a:cs typeface="Noto Sans JP"/>
                  <a:sym typeface="Noto Sans JP"/>
                </a:rPr>
                <a:t>③ 終端操作 </a:t>
              </a:r>
              <a:r>
                <a:rPr b="0" lang="ja" sz="1400">
                  <a:solidFill>
                    <a:srgbClr val="404040"/>
                  </a:solidFill>
                  <a:latin typeface="Noto Sans JP"/>
                  <a:ea typeface="Noto Sans JP"/>
                  <a:cs typeface="Noto Sans JP"/>
                  <a:sym typeface="Noto Sans JP"/>
                </a:rPr>
                <a:t>（最後に結果を集める）</a:t>
              </a:r>
              <a:endParaRPr b="1" sz="1800">
                <a:solidFill>
                  <a:srgbClr val="E53935"/>
                </a:solidFill>
                <a:latin typeface="Noto Sans JP"/>
                <a:ea typeface="Noto Sans JP"/>
                <a:cs typeface="Noto Sans JP"/>
                <a:sym typeface="Noto Sans JP"/>
              </a:endParaRPr>
            </a:p>
          </p:txBody>
        </p:sp>
        <p:sp>
          <p:nvSpPr>
            <p:cNvPr id="233" name="Google Shape;233;p24"/>
            <p:cNvSpPr txBox="1"/>
            <p:nvPr/>
          </p:nvSpPr>
          <p:spPr>
            <a:xfrm>
              <a:off x="2000250" y="4143375"/>
              <a:ext cx="571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300">
                  <a:solidFill>
                    <a:srgbClr val="666666"/>
                  </a:solidFill>
                  <a:latin typeface="Noto Sans JP"/>
                  <a:ea typeface="Noto Sans JP"/>
                  <a:cs typeface="Noto Sans JP"/>
                  <a:sym typeface="Noto Sans JP"/>
                </a:rPr>
                <a:t>例：.toList() / .count()</a:t>
              </a:r>
              <a:endParaRPr b="0" sz="1300">
                <a:solidFill>
                  <a:srgbClr val="666666"/>
                </a:solidFill>
                <a:latin typeface="Noto Sans JP"/>
                <a:ea typeface="Noto Sans JP"/>
                <a:cs typeface="Noto Sans JP"/>
                <a:sym typeface="Noto Sans JP"/>
              </a:endParaRPr>
            </a:p>
          </p:txBody>
        </p:sp>
      </p:grpSp>
      <p:sp>
        <p:nvSpPr>
          <p:cNvPr id="234" name="Google Shape;234;p24"/>
          <p:cNvSpPr txBox="1"/>
          <p:nvPr/>
        </p:nvSpPr>
        <p:spPr>
          <a:xfrm>
            <a:off x="7829550" y="4924425"/>
            <a:ext cx="600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235" name="Google Shape;235;p24"/>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6</a:t>
            </a:r>
            <a:endParaRPr b="1" sz="600">
              <a:solidFill>
                <a:srgbClr val="404040"/>
              </a:solidFill>
              <a:latin typeface="Noto Sans"/>
              <a:ea typeface="Noto Sans"/>
              <a:cs typeface="Noto Sans"/>
              <a:sym typeface="No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1" name="Google Shape;241;p25"/>
          <p:cNvPicPr preferRelativeResize="0"/>
          <p:nvPr/>
        </p:nvPicPr>
        <p:blipFill rotWithShape="1">
          <a:blip r:embed="rId3">
            <a:alphaModFix/>
          </a:blip>
          <a:srcRect b="199" l="0" r="0" t="199"/>
          <a:stretch/>
        </p:blipFill>
        <p:spPr>
          <a:xfrm>
            <a:off x="8480965" y="302419"/>
            <a:ext cx="359100" cy="416100"/>
          </a:xfrm>
          <a:prstGeom prst="rect">
            <a:avLst/>
          </a:prstGeom>
          <a:noFill/>
          <a:ln>
            <a:noFill/>
          </a:ln>
        </p:spPr>
      </p:pic>
      <p:sp>
        <p:nvSpPr>
          <p:cNvPr id="242" name="Google Shape;242;p25"/>
          <p:cNvSpPr/>
          <p:nvPr/>
        </p:nvSpPr>
        <p:spPr>
          <a:xfrm>
            <a:off x="448627" y="367379"/>
            <a:ext cx="918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txBox="1"/>
          <p:nvPr/>
        </p:nvSpPr>
        <p:spPr>
          <a:xfrm>
            <a:off x="609600" y="317754"/>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1" lang="ja" sz="2200">
                <a:solidFill>
                  <a:srgbClr val="404040"/>
                </a:solidFill>
                <a:latin typeface="Noto Sans JP"/>
                <a:ea typeface="Noto Sans JP"/>
                <a:cs typeface="Noto Sans JP"/>
                <a:sym typeface="Noto Sans JP"/>
              </a:rPr>
              <a:t>① 生成 ＝ 「データの取り出し口」</a:t>
            </a:r>
            <a:endParaRPr b="1" sz="2200">
              <a:solidFill>
                <a:srgbClr val="404040"/>
              </a:solidFill>
              <a:latin typeface="Noto Sans JP"/>
              <a:ea typeface="Noto Sans JP"/>
              <a:cs typeface="Noto Sans JP"/>
              <a:sym typeface="Noto Sans JP"/>
            </a:endParaRPr>
          </a:p>
        </p:txBody>
      </p:sp>
      <p:sp>
        <p:nvSpPr>
          <p:cNvPr id="244" name="Google Shape;244;p25"/>
          <p:cNvSpPr/>
          <p:nvPr/>
        </p:nvSpPr>
        <p:spPr>
          <a:xfrm>
            <a:off x="571500" y="952500"/>
            <a:ext cx="8001000" cy="381000"/>
          </a:xfrm>
          <a:prstGeom prst="roundRect">
            <a:avLst>
              <a:gd fmla="val 10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5"/>
          <p:cNvSpPr txBox="1"/>
          <p:nvPr/>
        </p:nvSpPr>
        <p:spPr>
          <a:xfrm>
            <a:off x="714375" y="952500"/>
            <a:ext cx="7715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1" lang="ja" sz="1800">
                <a:solidFill>
                  <a:srgbClr val="404040"/>
                </a:solidFill>
                <a:latin typeface="Noto Sans JP"/>
                <a:ea typeface="Noto Sans JP"/>
                <a:cs typeface="Noto Sans JP"/>
                <a:sym typeface="Noto Sans JP"/>
              </a:rPr>
              <a:t>配列やコレクションから「Stream型」へ変換する</a:t>
            </a:r>
            <a:endParaRPr b="1" sz="1800">
              <a:solidFill>
                <a:srgbClr val="404040"/>
              </a:solidFill>
              <a:latin typeface="Noto Sans JP"/>
              <a:ea typeface="Noto Sans JP"/>
              <a:cs typeface="Noto Sans JP"/>
              <a:sym typeface="Noto Sans JP"/>
            </a:endParaRPr>
          </a:p>
        </p:txBody>
      </p:sp>
      <p:grpSp>
        <p:nvGrpSpPr>
          <p:cNvPr id="246" name="Google Shape;246;p25"/>
          <p:cNvGrpSpPr/>
          <p:nvPr/>
        </p:nvGrpSpPr>
        <p:grpSpPr>
          <a:xfrm>
            <a:off x="571500" y="1476375"/>
            <a:ext cx="4286400" cy="3238500"/>
            <a:chOff x="571500" y="1476375"/>
            <a:chExt cx="4286400" cy="3238500"/>
          </a:xfrm>
        </p:grpSpPr>
        <p:sp>
          <p:nvSpPr>
            <p:cNvPr id="247" name="Google Shape;247;p25"/>
            <p:cNvSpPr/>
            <p:nvPr/>
          </p:nvSpPr>
          <p:spPr>
            <a:xfrm>
              <a:off x="571500" y="1476375"/>
              <a:ext cx="4286400" cy="3238500"/>
            </a:xfrm>
            <a:prstGeom prst="roundRect">
              <a:avLst>
                <a:gd fmla="val 294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5"/>
            <p:cNvSpPr txBox="1"/>
            <p:nvPr/>
          </p:nvSpPr>
          <p:spPr>
            <a:xfrm>
              <a:off x="809625" y="1714500"/>
              <a:ext cx="3810000" cy="2762400"/>
            </a:xfrm>
            <a:prstGeom prst="rect">
              <a:avLst/>
            </a:prstGeom>
            <a:noFill/>
            <a:ln>
              <a:noFill/>
            </a:ln>
          </p:spPr>
          <p:txBody>
            <a:bodyPr anchorCtr="0" anchor="ctr" bIns="0" lIns="0" spcFirstLastPara="1" rIns="0" wrap="square" tIns="0">
              <a:noAutofit/>
            </a:bodyPr>
            <a:lstStyle/>
            <a:p>
              <a:pPr indent="-317500" lvl="0" marL="457200" rtl="0" algn="l">
                <a:spcBef>
                  <a:spcPts val="0"/>
                </a:spcBef>
                <a:spcAft>
                  <a:spcPts val="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配列やコレクション（List等）の「フタ」を開ける作業です。</a:t>
              </a:r>
              <a:endParaRPr b="0" sz="1400">
                <a:solidFill>
                  <a:srgbClr val="404040"/>
                </a:solidFill>
                <a:latin typeface="Noto Sans JP"/>
                <a:ea typeface="Noto Sans JP"/>
                <a:cs typeface="Noto Sans JP"/>
                <a:sym typeface="Noto Sans JP"/>
              </a:endParaRPr>
            </a:p>
            <a:p>
              <a:pPr indent="-317500" lvl="0" marL="457200" rtl="0" algn="l">
                <a:spcBef>
                  <a:spcPts val="900"/>
                </a:spcBef>
                <a:spcAft>
                  <a:spcPts val="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格納されているデータを、1つずつコンベアに流せる状態（Stream型）に変換します。</a:t>
              </a:r>
              <a:endParaRPr b="0" sz="1400">
                <a:solidFill>
                  <a:srgbClr val="404040"/>
                </a:solidFill>
                <a:latin typeface="Noto Sans JP"/>
                <a:ea typeface="Noto Sans JP"/>
                <a:cs typeface="Noto Sans JP"/>
                <a:sym typeface="Noto Sans JP"/>
              </a:endParaRPr>
            </a:p>
            <a:p>
              <a:pPr indent="-317500" lvl="0" marL="457200" rtl="0" algn="l">
                <a:spcBef>
                  <a:spcPts val="900"/>
                </a:spcBef>
                <a:spcAft>
                  <a:spcPts val="90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主な記述：</a:t>
              </a:r>
              <a:r>
                <a:rPr b="1" lang="ja" sz="1600">
                  <a:solidFill>
                    <a:srgbClr val="007BFF"/>
                  </a:solidFill>
                  <a:latin typeface="Courier New"/>
                  <a:ea typeface="Courier New"/>
                  <a:cs typeface="Courier New"/>
                  <a:sym typeface="Courier New"/>
                </a:rPr>
                <a:t>.stream()</a:t>
              </a:r>
              <a:endParaRPr b="0" sz="1400">
                <a:solidFill>
                  <a:srgbClr val="404040"/>
                </a:solidFill>
                <a:latin typeface="Noto Sans JP"/>
                <a:ea typeface="Noto Sans JP"/>
                <a:cs typeface="Noto Sans JP"/>
                <a:sym typeface="Noto Sans JP"/>
              </a:endParaRPr>
            </a:p>
          </p:txBody>
        </p:sp>
      </p:grpSp>
      <p:grpSp>
        <p:nvGrpSpPr>
          <p:cNvPr id="249" name="Google Shape;249;p25"/>
          <p:cNvGrpSpPr/>
          <p:nvPr/>
        </p:nvGrpSpPr>
        <p:grpSpPr>
          <a:xfrm>
            <a:off x="4952000" y="1476375"/>
            <a:ext cx="4000500" cy="3667125"/>
            <a:chOff x="5048250" y="1476375"/>
            <a:chExt cx="4000500" cy="3667125"/>
          </a:xfrm>
        </p:grpSpPr>
        <p:sp>
          <p:nvSpPr>
            <p:cNvPr id="250" name="Google Shape;250;p25"/>
            <p:cNvSpPr/>
            <p:nvPr/>
          </p:nvSpPr>
          <p:spPr>
            <a:xfrm>
              <a:off x="5048250" y="1476375"/>
              <a:ext cx="3524400" cy="3238500"/>
            </a:xfrm>
            <a:prstGeom prst="roundRect">
              <a:avLst>
                <a:gd fmla="val 294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n abstract conceptual diagram of a cardboard box labeled 'List' opening its lid, and small colorful spheres (representing data) popping out one by one into a blue glowing stream lane (belt conveyor). Minimalist flat vector style." id="251" name="Google Shape;251;p25"/>
            <p:cNvPicPr preferRelativeResize="0"/>
            <p:nvPr/>
          </p:nvPicPr>
          <p:blipFill rotWithShape="1">
            <a:blip r:embed="rId4">
              <a:alphaModFix/>
            </a:blip>
            <a:srcRect b="-22727" l="0" r="-21212" t="1515"/>
            <a:stretch/>
          </p:blipFill>
          <p:spPr>
            <a:xfrm>
              <a:off x="5238750" y="2286000"/>
              <a:ext cx="3810000" cy="2857500"/>
            </a:xfrm>
            <a:prstGeom prst="roundRect">
              <a:avLst>
                <a:gd fmla="val 4000" name="adj"/>
              </a:avLst>
            </a:prstGeom>
            <a:noFill/>
            <a:ln>
              <a:noFill/>
            </a:ln>
          </p:spPr>
        </p:pic>
      </p:grpSp>
      <p:sp>
        <p:nvSpPr>
          <p:cNvPr id="252" name="Google Shape;252;p25"/>
          <p:cNvSpPr txBox="1"/>
          <p:nvPr/>
        </p:nvSpPr>
        <p:spPr>
          <a:xfrm>
            <a:off x="7829550" y="4924425"/>
            <a:ext cx="600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60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253" name="Google Shape;253;p25"/>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600"/>
              </a:spcAft>
              <a:buNone/>
            </a:pPr>
            <a:r>
              <a:rPr b="1" lang="ja" sz="600">
                <a:solidFill>
                  <a:srgbClr val="404040"/>
                </a:solidFill>
                <a:latin typeface="Noto Sans"/>
                <a:ea typeface="Noto Sans"/>
                <a:cs typeface="Noto Sans"/>
                <a:sym typeface="Noto Sans"/>
              </a:rPr>
              <a:t>7</a:t>
            </a:r>
            <a:endParaRPr b="1" sz="600">
              <a:solidFill>
                <a:srgbClr val="404040"/>
              </a:solidFill>
              <a:latin typeface="Noto Sans"/>
              <a:ea typeface="Noto Sans"/>
              <a:cs typeface="Noto Sans"/>
              <a:sym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9" name="Google Shape;259;p26"/>
          <p:cNvPicPr preferRelativeResize="0"/>
          <p:nvPr/>
        </p:nvPicPr>
        <p:blipFill rotWithShape="1">
          <a:blip r:embed="rId3">
            <a:alphaModFix/>
          </a:blip>
          <a:srcRect b="199" l="0" r="0" t="199"/>
          <a:stretch/>
        </p:blipFill>
        <p:spPr>
          <a:xfrm>
            <a:off x="8480965" y="302419"/>
            <a:ext cx="359100" cy="416100"/>
          </a:xfrm>
          <a:prstGeom prst="rect">
            <a:avLst/>
          </a:prstGeom>
          <a:noFill/>
          <a:ln>
            <a:noFill/>
          </a:ln>
        </p:spPr>
      </p:pic>
      <p:sp>
        <p:nvSpPr>
          <p:cNvPr id="260" name="Google Shape;260;p26"/>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6"/>
          <p:cNvSpPr txBox="1"/>
          <p:nvPr/>
        </p:nvSpPr>
        <p:spPr>
          <a:xfrm>
            <a:off x="609600" y="314325"/>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② 中間操作 ＝ 「データの作業所」</a:t>
            </a:r>
            <a:endParaRPr b="1" sz="2200">
              <a:solidFill>
                <a:srgbClr val="404040"/>
              </a:solidFill>
              <a:latin typeface="Noto Sans JP"/>
              <a:ea typeface="Noto Sans JP"/>
              <a:cs typeface="Noto Sans JP"/>
              <a:sym typeface="Noto Sans JP"/>
            </a:endParaRPr>
          </a:p>
        </p:txBody>
      </p:sp>
      <p:sp>
        <p:nvSpPr>
          <p:cNvPr id="262" name="Google Shape;262;p26"/>
          <p:cNvSpPr/>
          <p:nvPr/>
        </p:nvSpPr>
        <p:spPr>
          <a:xfrm>
            <a:off x="571500" y="952500"/>
            <a:ext cx="8001000" cy="381000"/>
          </a:xfrm>
          <a:prstGeom prst="roundRect">
            <a:avLst>
              <a:gd fmla="val 10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714375" y="952500"/>
            <a:ext cx="7715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404040"/>
                </a:solidFill>
                <a:latin typeface="Noto Sans JP"/>
                <a:ea typeface="Noto Sans JP"/>
                <a:cs typeface="Noto Sans JP"/>
                <a:sym typeface="Noto Sans JP"/>
              </a:rPr>
              <a:t>流れてきたデータに対して「加工」や「選別」を行う</a:t>
            </a:r>
            <a:endParaRPr b="1" sz="1800">
              <a:solidFill>
                <a:srgbClr val="404040"/>
              </a:solidFill>
              <a:latin typeface="Noto Sans JP"/>
              <a:ea typeface="Noto Sans JP"/>
              <a:cs typeface="Noto Sans JP"/>
              <a:sym typeface="Noto Sans JP"/>
            </a:endParaRPr>
          </a:p>
        </p:txBody>
      </p:sp>
      <p:grpSp>
        <p:nvGrpSpPr>
          <p:cNvPr id="264" name="Google Shape;264;p26"/>
          <p:cNvGrpSpPr/>
          <p:nvPr/>
        </p:nvGrpSpPr>
        <p:grpSpPr>
          <a:xfrm>
            <a:off x="571500" y="1476375"/>
            <a:ext cx="4286400" cy="3238500"/>
            <a:chOff x="571500" y="1476375"/>
            <a:chExt cx="4286400" cy="3238500"/>
          </a:xfrm>
        </p:grpSpPr>
        <p:sp>
          <p:nvSpPr>
            <p:cNvPr id="265" name="Google Shape;265;p26"/>
            <p:cNvSpPr/>
            <p:nvPr/>
          </p:nvSpPr>
          <p:spPr>
            <a:xfrm>
              <a:off x="571500" y="1476375"/>
              <a:ext cx="4286400" cy="3238500"/>
            </a:xfrm>
            <a:prstGeom prst="roundRect">
              <a:avLst>
                <a:gd fmla="val 294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09625" y="1714500"/>
              <a:ext cx="3810000" cy="2762400"/>
            </a:xfrm>
            <a:prstGeom prst="rect">
              <a:avLst/>
            </a:prstGeom>
            <a:noFill/>
            <a:ln>
              <a:noFill/>
            </a:ln>
          </p:spPr>
          <p:txBody>
            <a:bodyPr anchorCtr="0" anchor="ctr" bIns="0" lIns="0" spcFirstLastPara="1" rIns="0" wrap="square" tIns="0">
              <a:noAutofit/>
            </a:bodyPr>
            <a:lstStyle/>
            <a:p>
              <a:pPr indent="-317500" lvl="0" marL="457200" rtl="0" algn="l">
                <a:spcBef>
                  <a:spcPts val="0"/>
                </a:spcBef>
                <a:spcAft>
                  <a:spcPts val="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特徴：実行結果も「</a:t>
              </a:r>
              <a:r>
                <a:rPr b="1" lang="ja" sz="1400">
                  <a:solidFill>
                    <a:srgbClr val="007BFF"/>
                  </a:solidFill>
                  <a:latin typeface="Noto Sans JP"/>
                  <a:ea typeface="Noto Sans JP"/>
                  <a:cs typeface="Noto Sans JP"/>
                  <a:sym typeface="Noto Sans JP"/>
                </a:rPr>
                <a:t>Stream（流れ）</a:t>
              </a:r>
              <a:r>
                <a:rPr b="0" lang="ja" sz="1400">
                  <a:solidFill>
                    <a:srgbClr val="404040"/>
                  </a:solidFill>
                  <a:latin typeface="Noto Sans JP"/>
                  <a:ea typeface="Noto Sans JP"/>
                  <a:cs typeface="Noto Sans JP"/>
                  <a:sym typeface="Noto Sans JP"/>
                </a:rPr>
                <a:t>」として返します。</a:t>
              </a:r>
              <a:endParaRPr b="0" sz="1400">
                <a:solidFill>
                  <a:srgbClr val="404040"/>
                </a:solidFill>
                <a:latin typeface="Noto Sans JP"/>
                <a:ea typeface="Noto Sans JP"/>
                <a:cs typeface="Noto Sans JP"/>
                <a:sym typeface="Noto Sans JP"/>
              </a:endParaRPr>
            </a:p>
            <a:p>
              <a:pPr indent="-317500" lvl="0" marL="457200" rtl="0" algn="l">
                <a:spcBef>
                  <a:spcPts val="900"/>
                </a:spcBef>
                <a:spcAft>
                  <a:spcPts val="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だから、複数の作業所（filter, map等）を何個でも連続して繋げられます。</a:t>
              </a:r>
              <a:endParaRPr b="0" sz="1400">
                <a:solidFill>
                  <a:srgbClr val="404040"/>
                </a:solidFill>
                <a:latin typeface="Noto Sans JP"/>
                <a:ea typeface="Noto Sans JP"/>
                <a:cs typeface="Noto Sans JP"/>
                <a:sym typeface="Noto Sans JP"/>
              </a:endParaRPr>
            </a:p>
            <a:p>
              <a:pPr indent="-317500" lvl="0" marL="457200" rtl="0" algn="l">
                <a:spcBef>
                  <a:spcPts val="900"/>
                </a:spcBef>
                <a:spcAft>
                  <a:spcPts val="90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主な記述：</a:t>
              </a:r>
              <a:br>
                <a:rPr b="0" lang="ja" sz="1400">
                  <a:solidFill>
                    <a:srgbClr val="404040"/>
                  </a:solidFill>
                  <a:latin typeface="Noto Sans JP"/>
                  <a:ea typeface="Noto Sans JP"/>
                  <a:cs typeface="Noto Sans JP"/>
                  <a:sym typeface="Noto Sans JP"/>
                </a:rPr>
              </a:br>
              <a:r>
                <a:rPr b="1" lang="ja" sz="1600">
                  <a:solidFill>
                    <a:srgbClr val="007BFF"/>
                  </a:solidFill>
                  <a:latin typeface="Courier New"/>
                  <a:ea typeface="Courier New"/>
                  <a:cs typeface="Courier New"/>
                  <a:sym typeface="Courier New"/>
                </a:rPr>
                <a:t>.filter() / .map()</a:t>
              </a:r>
              <a:endParaRPr b="0" sz="1400">
                <a:solidFill>
                  <a:srgbClr val="404040"/>
                </a:solidFill>
                <a:latin typeface="Noto Sans JP"/>
                <a:ea typeface="Noto Sans JP"/>
                <a:cs typeface="Noto Sans JP"/>
                <a:sym typeface="Noto Sans JP"/>
              </a:endParaRPr>
            </a:p>
          </p:txBody>
        </p:sp>
      </p:grpSp>
      <p:grpSp>
        <p:nvGrpSpPr>
          <p:cNvPr id="267" name="Google Shape;267;p26"/>
          <p:cNvGrpSpPr/>
          <p:nvPr/>
        </p:nvGrpSpPr>
        <p:grpSpPr>
          <a:xfrm>
            <a:off x="4953000" y="1476375"/>
            <a:ext cx="3524400" cy="3238500"/>
            <a:chOff x="4953000" y="1476375"/>
            <a:chExt cx="3524400" cy="3238500"/>
          </a:xfrm>
        </p:grpSpPr>
        <p:sp>
          <p:nvSpPr>
            <p:cNvPr id="268" name="Google Shape;268;p26"/>
            <p:cNvSpPr/>
            <p:nvPr/>
          </p:nvSpPr>
          <p:spPr>
            <a:xfrm>
              <a:off x="4953000" y="1476375"/>
              <a:ext cx="3524400" cy="3238500"/>
            </a:xfrm>
            <a:prstGeom prst="roundRect">
              <a:avLst>
                <a:gd fmla="val 294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6"/>
            <p:cNvSpPr/>
            <p:nvPr/>
          </p:nvSpPr>
          <p:spPr>
            <a:xfrm>
              <a:off x="6381750" y="1714500"/>
              <a:ext cx="666900" cy="666900"/>
            </a:xfrm>
            <a:prstGeom prst="ellipse">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26"/>
            <p:cNvSpPr txBox="1"/>
            <p:nvPr/>
          </p:nvSpPr>
          <p:spPr>
            <a:xfrm>
              <a:off x="6381750" y="1714500"/>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2400">
                  <a:solidFill>
                    <a:srgbClr val="FFFFFF"/>
                  </a:solidFill>
                  <a:latin typeface="Noto Sans"/>
                  <a:ea typeface="Noto Sans"/>
                  <a:cs typeface="Noto Sans"/>
                  <a:sym typeface="Noto Sans"/>
                </a:rPr>
                <a:t>02</a:t>
              </a:r>
              <a:endParaRPr b="1" sz="2400">
                <a:solidFill>
                  <a:srgbClr val="FFFFFF"/>
                </a:solidFill>
                <a:latin typeface="Noto Sans"/>
                <a:ea typeface="Noto Sans"/>
                <a:cs typeface="Noto Sans"/>
                <a:sym typeface="Noto Sans"/>
              </a:endParaRPr>
            </a:p>
          </p:txBody>
        </p:sp>
        <p:sp>
          <p:nvSpPr>
            <p:cNvPr id="271" name="Google Shape;271;p26"/>
            <p:cNvSpPr/>
            <p:nvPr/>
          </p:nvSpPr>
          <p:spPr>
            <a:xfrm>
              <a:off x="5143500" y="2476500"/>
              <a:ext cx="3143400" cy="1714500"/>
            </a:xfrm>
            <a:prstGeom prst="roundRect">
              <a:avLst>
                <a:gd fmla="val 4444" name="adj"/>
              </a:avLst>
            </a:prstGeom>
            <a:solidFill>
              <a:srgbClr val="E9ECE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2" name="Google Shape;272;p26"/>
            <p:cNvPicPr preferRelativeResize="0"/>
            <p:nvPr/>
          </p:nvPicPr>
          <p:blipFill rotWithShape="1">
            <a:blip r:embed="rId4">
              <a:alphaModFix/>
            </a:blip>
            <a:srcRect b="0" l="0" r="0" t="0"/>
            <a:stretch/>
          </p:blipFill>
          <p:spPr>
            <a:xfrm>
              <a:off x="5143500" y="3105150"/>
              <a:ext cx="3143400" cy="76200"/>
            </a:xfrm>
            <a:prstGeom prst="rect">
              <a:avLst/>
            </a:prstGeom>
            <a:noFill/>
            <a:ln>
              <a:noFill/>
            </a:ln>
          </p:spPr>
        </p:pic>
        <p:grpSp>
          <p:nvGrpSpPr>
            <p:cNvPr id="273" name="Google Shape;273;p26"/>
            <p:cNvGrpSpPr/>
            <p:nvPr/>
          </p:nvGrpSpPr>
          <p:grpSpPr>
            <a:xfrm>
              <a:off x="5619750" y="2762250"/>
              <a:ext cx="571500" cy="1000125"/>
              <a:chOff x="5619750" y="2762250"/>
              <a:chExt cx="571500" cy="1000125"/>
            </a:xfrm>
          </p:grpSpPr>
          <p:sp>
            <p:nvSpPr>
              <p:cNvPr id="274" name="Google Shape;274;p26"/>
              <p:cNvSpPr/>
              <p:nvPr/>
            </p:nvSpPr>
            <p:spPr>
              <a:xfrm>
                <a:off x="5619750" y="2762250"/>
                <a:ext cx="571500" cy="762000"/>
              </a:xfrm>
              <a:prstGeom prst="roundRect">
                <a:avLst>
                  <a:gd fmla="val 6666" name="adj"/>
                </a:avLst>
              </a:prstGeom>
              <a:solidFill>
                <a:srgbClr val="FFFFFF"/>
              </a:solidFill>
              <a:ln cap="flat" cmpd="sng" w="9525">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6"/>
              <p:cNvSpPr txBox="1"/>
              <p:nvPr/>
            </p:nvSpPr>
            <p:spPr>
              <a:xfrm>
                <a:off x="5619750" y="3571875"/>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000">
                    <a:solidFill>
                      <a:srgbClr val="404040"/>
                    </a:solidFill>
                    <a:latin typeface="Noto Sans JP"/>
                    <a:ea typeface="Noto Sans JP"/>
                    <a:cs typeface="Noto Sans JP"/>
                    <a:sym typeface="Noto Sans JP"/>
                  </a:rPr>
                  <a:t>filter</a:t>
                </a:r>
                <a:endParaRPr b="1" sz="1000">
                  <a:solidFill>
                    <a:srgbClr val="404040"/>
                  </a:solidFill>
                  <a:latin typeface="Noto Sans JP"/>
                  <a:ea typeface="Noto Sans JP"/>
                  <a:cs typeface="Noto Sans JP"/>
                  <a:sym typeface="Noto Sans JP"/>
                </a:endParaRPr>
              </a:p>
            </p:txBody>
          </p:sp>
          <p:sp>
            <p:nvSpPr>
              <p:cNvPr id="276" name="Google Shape;276;p26"/>
              <p:cNvSpPr/>
              <p:nvPr/>
            </p:nvSpPr>
            <p:spPr>
              <a:xfrm>
                <a:off x="5829300" y="2924175"/>
                <a:ext cx="152400" cy="152400"/>
              </a:xfrm>
              <a:prstGeom prst="ellipse">
                <a:avLst/>
              </a:prstGeom>
              <a:solidFill>
                <a:srgbClr val="E5393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7" name="Google Shape;277;p26"/>
              <p:cNvPicPr preferRelativeResize="0"/>
              <p:nvPr/>
            </p:nvPicPr>
            <p:blipFill rotWithShape="1">
              <a:blip r:embed="rId5">
                <a:alphaModFix/>
              </a:blip>
              <a:srcRect b="0" l="0" r="0" t="0"/>
              <a:stretch/>
            </p:blipFill>
            <p:spPr>
              <a:xfrm>
                <a:off x="5800725" y="3133725"/>
                <a:ext cx="209700" cy="209700"/>
              </a:xfrm>
              <a:prstGeom prst="rect">
                <a:avLst/>
              </a:prstGeom>
              <a:noFill/>
              <a:ln>
                <a:noFill/>
              </a:ln>
            </p:spPr>
          </p:pic>
        </p:grpSp>
        <p:grpSp>
          <p:nvGrpSpPr>
            <p:cNvPr id="278" name="Google Shape;278;p26"/>
            <p:cNvGrpSpPr/>
            <p:nvPr/>
          </p:nvGrpSpPr>
          <p:grpSpPr>
            <a:xfrm>
              <a:off x="7048500" y="2762250"/>
              <a:ext cx="571500" cy="1000125"/>
              <a:chOff x="7048500" y="2762250"/>
              <a:chExt cx="571500" cy="1000125"/>
            </a:xfrm>
          </p:grpSpPr>
          <p:sp>
            <p:nvSpPr>
              <p:cNvPr id="279" name="Google Shape;279;p26"/>
              <p:cNvSpPr/>
              <p:nvPr/>
            </p:nvSpPr>
            <p:spPr>
              <a:xfrm>
                <a:off x="7048500" y="2762250"/>
                <a:ext cx="571500" cy="762000"/>
              </a:xfrm>
              <a:prstGeom prst="roundRect">
                <a:avLst>
                  <a:gd fmla="val 6666" name="adj"/>
                </a:avLst>
              </a:prstGeom>
              <a:solidFill>
                <a:srgbClr val="FFFFFF"/>
              </a:solidFill>
              <a:ln cap="flat" cmpd="sng" w="9525">
                <a:solidFill>
                  <a:srgbClr val="6666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6"/>
              <p:cNvSpPr txBox="1"/>
              <p:nvPr/>
            </p:nvSpPr>
            <p:spPr>
              <a:xfrm>
                <a:off x="7048500" y="3571875"/>
                <a:ext cx="571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000">
                    <a:solidFill>
                      <a:srgbClr val="404040"/>
                    </a:solidFill>
                    <a:latin typeface="Noto Sans JP"/>
                    <a:ea typeface="Noto Sans JP"/>
                    <a:cs typeface="Noto Sans JP"/>
                    <a:sym typeface="Noto Sans JP"/>
                  </a:rPr>
                  <a:t>map</a:t>
                </a:r>
                <a:endParaRPr b="1" sz="1000">
                  <a:solidFill>
                    <a:srgbClr val="404040"/>
                  </a:solidFill>
                  <a:latin typeface="Noto Sans JP"/>
                  <a:ea typeface="Noto Sans JP"/>
                  <a:cs typeface="Noto Sans JP"/>
                  <a:sym typeface="Noto Sans JP"/>
                </a:endParaRPr>
              </a:p>
            </p:txBody>
          </p:sp>
          <p:sp>
            <p:nvSpPr>
              <p:cNvPr id="281" name="Google Shape;281;p26"/>
              <p:cNvSpPr/>
              <p:nvPr/>
            </p:nvSpPr>
            <p:spPr>
              <a:xfrm>
                <a:off x="7191375" y="2905125"/>
                <a:ext cx="285900" cy="142800"/>
              </a:xfrm>
              <a:prstGeom prst="rect">
                <a:avLst/>
              </a:prstGeom>
              <a:solidFill>
                <a:srgbClr val="4CAF5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82" name="Google Shape;282;p26"/>
              <p:cNvPicPr preferRelativeResize="0"/>
              <p:nvPr/>
            </p:nvPicPr>
            <p:blipFill rotWithShape="1">
              <a:blip r:embed="rId6">
                <a:alphaModFix/>
              </a:blip>
              <a:srcRect b="0" l="0" r="0" t="0"/>
              <a:stretch/>
            </p:blipFill>
            <p:spPr>
              <a:xfrm>
                <a:off x="7315200" y="3076575"/>
                <a:ext cx="38100" cy="228600"/>
              </a:xfrm>
              <a:prstGeom prst="rect">
                <a:avLst/>
              </a:prstGeom>
              <a:noFill/>
              <a:ln>
                <a:noFill/>
              </a:ln>
            </p:spPr>
          </p:pic>
        </p:grpSp>
        <p:sp>
          <p:nvSpPr>
            <p:cNvPr id="283" name="Google Shape;283;p26"/>
            <p:cNvSpPr/>
            <p:nvPr/>
          </p:nvSpPr>
          <p:spPr>
            <a:xfrm>
              <a:off x="5238750" y="3048000"/>
              <a:ext cx="190500" cy="190500"/>
            </a:xfrm>
            <a:prstGeom prst="ellipse">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6"/>
            <p:cNvSpPr/>
            <p:nvPr/>
          </p:nvSpPr>
          <p:spPr>
            <a:xfrm>
              <a:off x="6381750" y="3048000"/>
              <a:ext cx="190500" cy="190500"/>
            </a:xfrm>
            <a:prstGeom prst="ellipse">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6"/>
            <p:cNvSpPr/>
            <p:nvPr/>
          </p:nvSpPr>
          <p:spPr>
            <a:xfrm>
              <a:off x="7905750" y="3048000"/>
              <a:ext cx="190500" cy="190500"/>
            </a:xfrm>
            <a:prstGeom prst="ellipse">
              <a:avLst/>
            </a:prstGeom>
            <a:solidFill>
              <a:srgbClr val="007B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86" name="Google Shape;286;p26"/>
          <p:cNvSpPr txBox="1"/>
          <p:nvPr/>
        </p:nvSpPr>
        <p:spPr>
          <a:xfrm>
            <a:off x="7829550" y="4924425"/>
            <a:ext cx="600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JP"/>
                <a:ea typeface="Noto Sans JP"/>
                <a:cs typeface="Noto Sans JP"/>
                <a:sym typeface="Noto Sans JP"/>
              </a:rPr>
              <a:t>2026/05/29</a:t>
            </a:r>
            <a:endParaRPr b="1" sz="600">
              <a:solidFill>
                <a:srgbClr val="404040"/>
              </a:solidFill>
              <a:latin typeface="Noto Sans JP"/>
              <a:ea typeface="Noto Sans JP"/>
              <a:cs typeface="Noto Sans JP"/>
              <a:sym typeface="Noto Sans JP"/>
            </a:endParaRPr>
          </a:p>
        </p:txBody>
      </p:sp>
      <p:sp>
        <p:nvSpPr>
          <p:cNvPr id="287" name="Google Shape;287;p26"/>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JP"/>
                <a:ea typeface="Noto Sans JP"/>
                <a:cs typeface="Noto Sans JP"/>
                <a:sym typeface="Noto Sans JP"/>
              </a:rPr>
              <a:t>8</a:t>
            </a:r>
            <a:endParaRPr b="1" sz="600">
              <a:solidFill>
                <a:srgbClr val="404040"/>
              </a:solidFill>
              <a:latin typeface="Noto Sans JP"/>
              <a:ea typeface="Noto Sans JP"/>
              <a:cs typeface="Noto Sans JP"/>
              <a:sym typeface="Noto Sans J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7"/>
          <p:cNvPicPr preferRelativeResize="0"/>
          <p:nvPr/>
        </p:nvPicPr>
        <p:blipFill rotWithShape="1">
          <a:blip r:embed="rId3">
            <a:alphaModFix/>
          </a:blip>
          <a:srcRect b="140" l="0" r="0" t="150"/>
          <a:stretch/>
        </p:blipFill>
        <p:spPr>
          <a:xfrm>
            <a:off x="8481060" y="301943"/>
            <a:ext cx="359100" cy="416100"/>
          </a:xfrm>
          <a:prstGeom prst="rect">
            <a:avLst/>
          </a:prstGeom>
          <a:noFill/>
          <a:ln>
            <a:noFill/>
          </a:ln>
        </p:spPr>
      </p:pic>
      <p:sp>
        <p:nvSpPr>
          <p:cNvPr id="294" name="Google Shape;294;p27"/>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7"/>
          <p:cNvSpPr txBox="1"/>
          <p:nvPr/>
        </p:nvSpPr>
        <p:spPr>
          <a:xfrm>
            <a:off x="609600" y="314325"/>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③ 終端操作 ＝ 「最後の出荷」</a:t>
            </a:r>
            <a:endParaRPr b="1" sz="2200">
              <a:solidFill>
                <a:srgbClr val="404040"/>
              </a:solidFill>
              <a:latin typeface="Noto Sans JP"/>
              <a:ea typeface="Noto Sans JP"/>
              <a:cs typeface="Noto Sans JP"/>
              <a:sym typeface="Noto Sans JP"/>
            </a:endParaRPr>
          </a:p>
        </p:txBody>
      </p:sp>
      <p:sp>
        <p:nvSpPr>
          <p:cNvPr id="296" name="Google Shape;296;p27"/>
          <p:cNvSpPr/>
          <p:nvPr/>
        </p:nvSpPr>
        <p:spPr>
          <a:xfrm>
            <a:off x="571500" y="952500"/>
            <a:ext cx="8001000" cy="381000"/>
          </a:xfrm>
          <a:prstGeom prst="roundRect">
            <a:avLst>
              <a:gd fmla="val 10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7"/>
          <p:cNvSpPr txBox="1"/>
          <p:nvPr/>
        </p:nvSpPr>
        <p:spPr>
          <a:xfrm>
            <a:off x="714375" y="952500"/>
            <a:ext cx="7715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1800">
                <a:solidFill>
                  <a:srgbClr val="404040"/>
                </a:solidFill>
                <a:latin typeface="Noto Sans JP"/>
                <a:ea typeface="Noto Sans JP"/>
                <a:cs typeface="Noto Sans JP"/>
                <a:sym typeface="Noto Sans JP"/>
              </a:rPr>
              <a:t>流れてきたデータを最終的な形（List, 数値など）にまとめる</a:t>
            </a:r>
            <a:endParaRPr b="1" sz="1800">
              <a:solidFill>
                <a:srgbClr val="404040"/>
              </a:solidFill>
              <a:latin typeface="Noto Sans JP"/>
              <a:ea typeface="Noto Sans JP"/>
              <a:cs typeface="Noto Sans JP"/>
              <a:sym typeface="Noto Sans JP"/>
            </a:endParaRPr>
          </a:p>
        </p:txBody>
      </p:sp>
      <p:sp>
        <p:nvSpPr>
          <p:cNvPr id="298" name="Google Shape;298;p27"/>
          <p:cNvSpPr/>
          <p:nvPr/>
        </p:nvSpPr>
        <p:spPr>
          <a:xfrm>
            <a:off x="571500" y="1476375"/>
            <a:ext cx="4286400" cy="3238500"/>
          </a:xfrm>
          <a:prstGeom prst="roundRect">
            <a:avLst>
              <a:gd fmla="val 294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7"/>
          <p:cNvSpPr txBox="1"/>
          <p:nvPr/>
        </p:nvSpPr>
        <p:spPr>
          <a:xfrm>
            <a:off x="809625" y="1714500"/>
            <a:ext cx="3810000" cy="2762400"/>
          </a:xfrm>
          <a:prstGeom prst="rect">
            <a:avLst/>
          </a:prstGeom>
          <a:noFill/>
          <a:ln>
            <a:noFill/>
          </a:ln>
        </p:spPr>
        <p:txBody>
          <a:bodyPr anchorCtr="0" anchor="ctr" bIns="0" lIns="0" spcFirstLastPara="1" rIns="0" wrap="square" tIns="0">
            <a:noAutofit/>
          </a:bodyPr>
          <a:lstStyle/>
          <a:p>
            <a:pPr indent="-317500" lvl="0" marL="457200" rtl="0" algn="l">
              <a:spcBef>
                <a:spcPts val="0"/>
              </a:spcBef>
              <a:spcAft>
                <a:spcPts val="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流れてきたデータを最終的な形（List, 数値, 1つの結果など）にまとめる作業です。</a:t>
            </a:r>
            <a:endParaRPr b="0" sz="1400">
              <a:solidFill>
                <a:srgbClr val="404040"/>
              </a:solidFill>
              <a:latin typeface="Noto Sans JP"/>
              <a:ea typeface="Noto Sans JP"/>
              <a:cs typeface="Noto Sans JP"/>
              <a:sym typeface="Noto Sans JP"/>
            </a:endParaRPr>
          </a:p>
          <a:p>
            <a:pPr indent="-317500" lvl="0" marL="457200" rtl="0" algn="l">
              <a:spcBef>
                <a:spcPts val="900"/>
              </a:spcBef>
              <a:spcAft>
                <a:spcPts val="0"/>
              </a:spcAft>
              <a:buClr>
                <a:srgbClr val="404040"/>
              </a:buClr>
              <a:buSzPts val="1400"/>
              <a:buFont typeface="Noto Sans JP"/>
              <a:buChar char="●"/>
            </a:pPr>
            <a:r>
              <a:rPr b="1" lang="ja" sz="1400">
                <a:solidFill>
                  <a:srgbClr val="E53935"/>
                </a:solidFill>
                <a:latin typeface="Noto Sans JP"/>
                <a:ea typeface="Noto Sans JP"/>
                <a:cs typeface="Noto Sans JP"/>
                <a:sym typeface="Noto Sans JP"/>
              </a:rPr>
              <a:t>【重要】終端操作を呼び出した瞬間に、初めてコンベアが動き出します。</a:t>
            </a:r>
            <a:endParaRPr b="0" sz="1400">
              <a:solidFill>
                <a:srgbClr val="404040"/>
              </a:solidFill>
              <a:latin typeface="Noto Sans JP"/>
              <a:ea typeface="Noto Sans JP"/>
              <a:cs typeface="Noto Sans JP"/>
              <a:sym typeface="Noto Sans JP"/>
            </a:endParaRPr>
          </a:p>
          <a:p>
            <a:pPr indent="-317500" lvl="0" marL="457200" rtl="0" algn="l">
              <a:spcBef>
                <a:spcPts val="900"/>
              </a:spcBef>
              <a:spcAft>
                <a:spcPts val="0"/>
              </a:spcAft>
              <a:buClr>
                <a:srgbClr val="404040"/>
              </a:buClr>
              <a:buSzPts val="1400"/>
              <a:buFont typeface="Noto Sans JP"/>
              <a:buChar char="●"/>
            </a:pPr>
            <a:r>
              <a:rPr b="0" lang="ja" sz="1400">
                <a:solidFill>
                  <a:srgbClr val="404040"/>
                </a:solidFill>
                <a:latin typeface="Noto Sans JP"/>
                <a:ea typeface="Noto Sans JP"/>
                <a:cs typeface="Noto Sans JP"/>
                <a:sym typeface="Noto Sans JP"/>
              </a:rPr>
              <a:t>主な記述：</a:t>
            </a:r>
            <a:br>
              <a:rPr b="0" lang="ja" sz="1400">
                <a:solidFill>
                  <a:srgbClr val="404040"/>
                </a:solidFill>
                <a:latin typeface="Noto Sans JP"/>
                <a:ea typeface="Noto Sans JP"/>
                <a:cs typeface="Noto Sans JP"/>
                <a:sym typeface="Noto Sans JP"/>
              </a:rPr>
            </a:br>
            <a:r>
              <a:rPr b="1" lang="ja" sz="1600">
                <a:solidFill>
                  <a:srgbClr val="007BFF"/>
                </a:solidFill>
                <a:latin typeface="Courier New"/>
                <a:ea typeface="Courier New"/>
                <a:cs typeface="Courier New"/>
                <a:sym typeface="Courier New"/>
              </a:rPr>
              <a:t>.toList() / .count() / .forEach()</a:t>
            </a:r>
            <a:endParaRPr b="0" sz="1400">
              <a:solidFill>
                <a:srgbClr val="404040"/>
              </a:solidFill>
              <a:latin typeface="Noto Sans JP"/>
              <a:ea typeface="Noto Sans JP"/>
              <a:cs typeface="Noto Sans JP"/>
              <a:sym typeface="Noto Sans JP"/>
            </a:endParaRPr>
          </a:p>
        </p:txBody>
      </p:sp>
      <p:sp>
        <p:nvSpPr>
          <p:cNvPr id="300" name="Google Shape;300;p27"/>
          <p:cNvSpPr/>
          <p:nvPr/>
        </p:nvSpPr>
        <p:spPr>
          <a:xfrm>
            <a:off x="4953000" y="1476375"/>
            <a:ext cx="3524400" cy="3238500"/>
          </a:xfrm>
          <a:prstGeom prst="roundRect">
            <a:avLst>
              <a:gd fmla="val 294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27"/>
          <p:cNvSpPr/>
          <p:nvPr/>
        </p:nvSpPr>
        <p:spPr>
          <a:xfrm>
            <a:off x="6381750" y="1714500"/>
            <a:ext cx="666900" cy="666900"/>
          </a:xfrm>
          <a:prstGeom prst="ellipse">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7"/>
          <p:cNvSpPr txBox="1"/>
          <p:nvPr/>
        </p:nvSpPr>
        <p:spPr>
          <a:xfrm>
            <a:off x="6381750" y="1714500"/>
            <a:ext cx="666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2400">
                <a:solidFill>
                  <a:srgbClr val="FFFFFF"/>
                </a:solidFill>
                <a:latin typeface="Noto Sans"/>
                <a:ea typeface="Noto Sans"/>
                <a:cs typeface="Noto Sans"/>
                <a:sym typeface="Noto Sans"/>
              </a:rPr>
              <a:t>03</a:t>
            </a:r>
            <a:endParaRPr b="1" sz="2400">
              <a:solidFill>
                <a:srgbClr val="FFFFFF"/>
              </a:solidFill>
              <a:latin typeface="Noto Sans"/>
              <a:ea typeface="Noto Sans"/>
              <a:cs typeface="Noto Sans"/>
              <a:sym typeface="Noto Sans"/>
            </a:endParaRPr>
          </a:p>
        </p:txBody>
      </p:sp>
      <p:pic>
        <p:nvPicPr>
          <p:cNvPr descr="An abstract minimalist flat vector illustration of the end of a blue glowing conveyor belt. A large open cardboard box is placed at the end, and several small colorful spheres (data) are falling into the box. Clean design with a focus on 'finishing' the process." id="303" name="Google Shape;303;p27"/>
          <p:cNvPicPr preferRelativeResize="0"/>
          <p:nvPr/>
        </p:nvPicPr>
        <p:blipFill rotWithShape="1">
          <a:blip r:embed="rId4">
            <a:alphaModFix/>
          </a:blip>
          <a:srcRect b="1522" l="0" r="0" t="1513"/>
          <a:stretch/>
        </p:blipFill>
        <p:spPr>
          <a:xfrm>
            <a:off x="5143500" y="2286000"/>
            <a:ext cx="3143400" cy="2286000"/>
          </a:xfrm>
          <a:prstGeom prst="roundRect">
            <a:avLst>
              <a:gd fmla="val 5000" name="adj"/>
            </a:avLst>
          </a:prstGeom>
          <a:noFill/>
          <a:ln>
            <a:noFill/>
          </a:ln>
        </p:spPr>
      </p:pic>
      <p:sp>
        <p:nvSpPr>
          <p:cNvPr id="304" name="Google Shape;304;p27"/>
          <p:cNvSpPr txBox="1"/>
          <p:nvPr/>
        </p:nvSpPr>
        <p:spPr>
          <a:xfrm>
            <a:off x="7829550" y="4924425"/>
            <a:ext cx="600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305" name="Google Shape;305;p27"/>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9</a:t>
            </a:r>
            <a:endParaRPr b="1" sz="600">
              <a:solidFill>
                <a:srgbClr val="404040"/>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11" name="Google Shape;311;p28"/>
          <p:cNvPicPr preferRelativeResize="0"/>
          <p:nvPr/>
        </p:nvPicPr>
        <p:blipFill rotWithShape="1">
          <a:blip r:embed="rId3">
            <a:alphaModFix/>
          </a:blip>
          <a:srcRect b="140" l="0" r="0" t="150"/>
          <a:stretch/>
        </p:blipFill>
        <p:spPr>
          <a:xfrm>
            <a:off x="8481060" y="301943"/>
            <a:ext cx="359100" cy="416100"/>
          </a:xfrm>
          <a:prstGeom prst="rect">
            <a:avLst/>
          </a:prstGeom>
          <a:noFill/>
          <a:ln>
            <a:noFill/>
          </a:ln>
        </p:spPr>
      </p:pic>
      <p:sp>
        <p:nvSpPr>
          <p:cNvPr id="312" name="Google Shape;312;p28"/>
          <p:cNvSpPr/>
          <p:nvPr/>
        </p:nvSpPr>
        <p:spPr>
          <a:xfrm>
            <a:off x="448627" y="367665"/>
            <a:ext cx="91500" cy="285900"/>
          </a:xfrm>
          <a:prstGeom prst="rect">
            <a:avLst/>
          </a:prstGeom>
          <a:solidFill>
            <a:srgbClr val="F083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8"/>
          <p:cNvSpPr txBox="1"/>
          <p:nvPr/>
        </p:nvSpPr>
        <p:spPr>
          <a:xfrm>
            <a:off x="609600" y="314325"/>
            <a:ext cx="7096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ja" sz="2200">
                <a:solidFill>
                  <a:srgbClr val="404040"/>
                </a:solidFill>
                <a:latin typeface="Noto Sans JP"/>
                <a:ea typeface="Noto Sans JP"/>
                <a:cs typeface="Noto Sans JP"/>
                <a:sym typeface="Noto Sans JP"/>
              </a:rPr>
              <a:t>まとめ：Stream APIの正体</a:t>
            </a:r>
            <a:endParaRPr b="1" sz="2200">
              <a:solidFill>
                <a:srgbClr val="404040"/>
              </a:solidFill>
              <a:latin typeface="Noto Sans JP"/>
              <a:ea typeface="Noto Sans JP"/>
              <a:cs typeface="Noto Sans JP"/>
              <a:sym typeface="Noto Sans JP"/>
            </a:endParaRPr>
          </a:p>
        </p:txBody>
      </p:sp>
      <p:grpSp>
        <p:nvGrpSpPr>
          <p:cNvPr id="314" name="Google Shape;314;p28"/>
          <p:cNvGrpSpPr/>
          <p:nvPr/>
        </p:nvGrpSpPr>
        <p:grpSpPr>
          <a:xfrm>
            <a:off x="571500" y="1047750"/>
            <a:ext cx="8001000" cy="857400"/>
            <a:chOff x="571500" y="1047750"/>
            <a:chExt cx="8001000" cy="857400"/>
          </a:xfrm>
        </p:grpSpPr>
        <p:sp>
          <p:nvSpPr>
            <p:cNvPr id="315" name="Google Shape;315;p28"/>
            <p:cNvSpPr/>
            <p:nvPr/>
          </p:nvSpPr>
          <p:spPr>
            <a:xfrm>
              <a:off x="571500" y="1047750"/>
              <a:ext cx="8001000" cy="857400"/>
            </a:xfrm>
            <a:prstGeom prst="roundRect">
              <a:avLst>
                <a:gd fmla="val 1111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8"/>
            <p:cNvSpPr txBox="1"/>
            <p:nvPr/>
          </p:nvSpPr>
          <p:spPr>
            <a:xfrm>
              <a:off x="952500" y="1047750"/>
              <a:ext cx="7239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600">
                  <a:solidFill>
                    <a:srgbClr val="404040"/>
                  </a:solidFill>
                  <a:latin typeface="Noto Sans JP"/>
                  <a:ea typeface="Noto Sans JP"/>
                  <a:cs typeface="Noto Sans JP"/>
                  <a:sym typeface="Noto Sans JP"/>
                </a:rPr>
                <a:t>1. データソースから目的のデータを得るための</a:t>
              </a:r>
              <a:r>
                <a:rPr b="1" lang="ja" sz="1600">
                  <a:solidFill>
                    <a:srgbClr val="404040"/>
                  </a:solidFill>
                  <a:latin typeface="Noto Sans JP"/>
                  <a:ea typeface="Noto Sans JP"/>
                  <a:cs typeface="Noto Sans JP"/>
                  <a:sym typeface="Noto Sans JP"/>
                </a:rPr>
                <a:t>「仕組み」</a:t>
              </a:r>
              <a:r>
                <a:rPr b="0" lang="ja" sz="1600">
                  <a:solidFill>
                    <a:srgbClr val="404040"/>
                  </a:solidFill>
                  <a:latin typeface="Noto Sans JP"/>
                  <a:ea typeface="Noto Sans JP"/>
                  <a:cs typeface="Noto Sans JP"/>
                  <a:sym typeface="Noto Sans JP"/>
                </a:rPr>
                <a:t>である</a:t>
              </a:r>
              <a:endParaRPr b="0" sz="1600">
                <a:solidFill>
                  <a:srgbClr val="404040"/>
                </a:solidFill>
                <a:latin typeface="Noto Sans JP"/>
                <a:ea typeface="Noto Sans JP"/>
                <a:cs typeface="Noto Sans JP"/>
                <a:sym typeface="Noto Sans JP"/>
              </a:endParaRPr>
            </a:p>
          </p:txBody>
        </p:sp>
      </p:grpSp>
      <p:grpSp>
        <p:nvGrpSpPr>
          <p:cNvPr id="317" name="Google Shape;317;p28"/>
          <p:cNvGrpSpPr/>
          <p:nvPr/>
        </p:nvGrpSpPr>
        <p:grpSpPr>
          <a:xfrm>
            <a:off x="571500" y="2047875"/>
            <a:ext cx="8001000" cy="1143000"/>
            <a:chOff x="571500" y="2047875"/>
            <a:chExt cx="8001000" cy="1143000"/>
          </a:xfrm>
        </p:grpSpPr>
        <p:sp>
          <p:nvSpPr>
            <p:cNvPr id="318" name="Google Shape;318;p28"/>
            <p:cNvSpPr/>
            <p:nvPr/>
          </p:nvSpPr>
          <p:spPr>
            <a:xfrm>
              <a:off x="571500" y="2047875"/>
              <a:ext cx="8001000" cy="1143000"/>
            </a:xfrm>
            <a:prstGeom prst="roundRect">
              <a:avLst>
                <a:gd fmla="val 8333"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8"/>
            <p:cNvSpPr txBox="1"/>
            <p:nvPr/>
          </p:nvSpPr>
          <p:spPr>
            <a:xfrm>
              <a:off x="952500" y="2047875"/>
              <a:ext cx="7239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600">
                  <a:solidFill>
                    <a:srgbClr val="404040"/>
                  </a:solidFill>
                  <a:latin typeface="Noto Sans JP"/>
                  <a:ea typeface="Noto Sans JP"/>
                  <a:cs typeface="Noto Sans JP"/>
                  <a:sym typeface="Noto Sans JP"/>
                </a:rPr>
                <a:t>2. 処理は必ず</a:t>
              </a:r>
              <a:r>
                <a:rPr b="1" lang="ja" sz="1600">
                  <a:solidFill>
                    <a:srgbClr val="007BFF"/>
                  </a:solidFill>
                  <a:latin typeface="Noto Sans JP"/>
                  <a:ea typeface="Noto Sans JP"/>
                  <a:cs typeface="Noto Sans JP"/>
                  <a:sym typeface="Noto Sans JP"/>
                </a:rPr>
                <a:t>「3つのステップ」</a:t>
              </a:r>
              <a:r>
                <a:rPr b="0" lang="ja" sz="1600">
                  <a:solidFill>
                    <a:srgbClr val="404040"/>
                  </a:solidFill>
                  <a:latin typeface="Noto Sans JP"/>
                  <a:ea typeface="Noto Sans JP"/>
                  <a:cs typeface="Noto Sans JP"/>
                  <a:sym typeface="Noto Sans JP"/>
                </a:rPr>
                <a:t>で構成される</a:t>
              </a:r>
              <a:endParaRPr b="0" sz="1600">
                <a:solidFill>
                  <a:srgbClr val="404040"/>
                </a:solidFill>
                <a:latin typeface="Noto Sans JP"/>
                <a:ea typeface="Noto Sans JP"/>
                <a:cs typeface="Noto Sans JP"/>
                <a:sym typeface="Noto Sans JP"/>
              </a:endParaRPr>
            </a:p>
            <a:p>
              <a:pPr indent="0" lvl="0" marL="0" rtl="0" algn="l">
                <a:spcBef>
                  <a:spcPts val="0"/>
                </a:spcBef>
                <a:spcAft>
                  <a:spcPts val="0"/>
                </a:spcAft>
                <a:buNone/>
              </a:pPr>
              <a:r>
                <a:rPr b="1" lang="ja" sz="1600">
                  <a:solidFill>
                    <a:srgbClr val="007BFF"/>
                  </a:solidFill>
                  <a:latin typeface="Noto Sans JP"/>
                  <a:ea typeface="Noto Sans JP"/>
                  <a:cs typeface="Noto Sans JP"/>
                  <a:sym typeface="Noto Sans JP"/>
                </a:rPr>
                <a:t>① 生成（流す） → ② 中間操作（加工） → ③ 終端操作（集める）</a:t>
              </a:r>
              <a:endParaRPr/>
            </a:p>
          </p:txBody>
        </p:sp>
      </p:grpSp>
      <p:grpSp>
        <p:nvGrpSpPr>
          <p:cNvPr id="320" name="Google Shape;320;p28"/>
          <p:cNvGrpSpPr/>
          <p:nvPr/>
        </p:nvGrpSpPr>
        <p:grpSpPr>
          <a:xfrm>
            <a:off x="571500" y="3333750"/>
            <a:ext cx="8001000" cy="857400"/>
            <a:chOff x="571500" y="3333750"/>
            <a:chExt cx="8001000" cy="857400"/>
          </a:xfrm>
        </p:grpSpPr>
        <p:sp>
          <p:nvSpPr>
            <p:cNvPr id="321" name="Google Shape;321;p28"/>
            <p:cNvSpPr/>
            <p:nvPr/>
          </p:nvSpPr>
          <p:spPr>
            <a:xfrm>
              <a:off x="571500" y="3333750"/>
              <a:ext cx="8001000" cy="857400"/>
            </a:xfrm>
            <a:prstGeom prst="roundRect">
              <a:avLst>
                <a:gd fmla="val 11111"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8"/>
            <p:cNvSpPr txBox="1"/>
            <p:nvPr/>
          </p:nvSpPr>
          <p:spPr>
            <a:xfrm>
              <a:off x="952500" y="3333750"/>
              <a:ext cx="7239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ja" sz="1600">
                  <a:solidFill>
                    <a:srgbClr val="404040"/>
                  </a:solidFill>
                  <a:latin typeface="Noto Sans JP"/>
                  <a:ea typeface="Noto Sans JP"/>
                  <a:cs typeface="Noto Sans JP"/>
                  <a:sym typeface="Noto Sans JP"/>
                </a:rPr>
                <a:t>3. </a:t>
              </a:r>
              <a:r>
                <a:rPr b="1" lang="ja" sz="1600">
                  <a:solidFill>
                    <a:srgbClr val="E53935"/>
                  </a:solidFill>
                  <a:latin typeface="Noto Sans JP"/>
                  <a:ea typeface="Noto Sans JP"/>
                  <a:cs typeface="Noto Sans JP"/>
                  <a:sym typeface="Noto Sans JP"/>
                </a:rPr>
                <a:t>終端操作</a:t>
              </a:r>
              <a:r>
                <a:rPr b="0" lang="ja" sz="1600">
                  <a:solidFill>
                    <a:srgbClr val="404040"/>
                  </a:solidFill>
                  <a:latin typeface="Noto Sans JP"/>
                  <a:ea typeface="Noto Sans JP"/>
                  <a:cs typeface="Noto Sans JP"/>
                  <a:sym typeface="Noto Sans JP"/>
                </a:rPr>
                <a:t>を呼ぶまで、コンベアは一切動き出さない</a:t>
              </a:r>
              <a:endParaRPr b="0" sz="1600">
                <a:solidFill>
                  <a:srgbClr val="404040"/>
                </a:solidFill>
                <a:latin typeface="Noto Sans JP"/>
                <a:ea typeface="Noto Sans JP"/>
                <a:cs typeface="Noto Sans JP"/>
                <a:sym typeface="Noto Sans JP"/>
              </a:endParaRPr>
            </a:p>
          </p:txBody>
        </p:sp>
      </p:grpSp>
      <p:sp>
        <p:nvSpPr>
          <p:cNvPr id="323" name="Google Shape;323;p28"/>
          <p:cNvSpPr txBox="1"/>
          <p:nvPr/>
        </p:nvSpPr>
        <p:spPr>
          <a:xfrm>
            <a:off x="571500" y="4381500"/>
            <a:ext cx="800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ja" sz="1600">
                <a:solidFill>
                  <a:srgbClr val="F08300"/>
                </a:solidFill>
                <a:latin typeface="Noto Sans JP"/>
                <a:ea typeface="Noto Sans JP"/>
                <a:cs typeface="Noto Sans JP"/>
                <a:sym typeface="Noto Sans JP"/>
              </a:rPr>
              <a:t>この構造を理解すれば、Stream APIは怖くありません！</a:t>
            </a:r>
            <a:endParaRPr b="1" sz="1600">
              <a:solidFill>
                <a:srgbClr val="F08300"/>
              </a:solidFill>
              <a:latin typeface="Noto Sans JP"/>
              <a:ea typeface="Noto Sans JP"/>
              <a:cs typeface="Noto Sans JP"/>
              <a:sym typeface="Noto Sans JP"/>
            </a:endParaRPr>
          </a:p>
        </p:txBody>
      </p:sp>
      <p:sp>
        <p:nvSpPr>
          <p:cNvPr id="324" name="Google Shape;324;p28"/>
          <p:cNvSpPr txBox="1"/>
          <p:nvPr/>
        </p:nvSpPr>
        <p:spPr>
          <a:xfrm>
            <a:off x="7829550" y="4924425"/>
            <a:ext cx="600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2026/05/29</a:t>
            </a:r>
            <a:endParaRPr b="1" sz="600">
              <a:solidFill>
                <a:srgbClr val="404040"/>
              </a:solidFill>
              <a:latin typeface="Noto Sans"/>
              <a:ea typeface="Noto Sans"/>
              <a:cs typeface="Noto Sans"/>
              <a:sym typeface="Noto Sans"/>
            </a:endParaRPr>
          </a:p>
        </p:txBody>
      </p:sp>
      <p:sp>
        <p:nvSpPr>
          <p:cNvPr id="325" name="Google Shape;325;p28"/>
          <p:cNvSpPr txBox="1"/>
          <p:nvPr/>
        </p:nvSpPr>
        <p:spPr>
          <a:xfrm>
            <a:off x="8477250" y="4924425"/>
            <a:ext cx="1905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ja" sz="600">
                <a:solidFill>
                  <a:srgbClr val="404040"/>
                </a:solidFill>
                <a:latin typeface="Noto Sans"/>
                <a:ea typeface="Noto Sans"/>
                <a:cs typeface="Noto Sans"/>
                <a:sym typeface="Noto Sans"/>
              </a:rPr>
              <a:t>11</a:t>
            </a:r>
            <a:endParaRPr b="1" sz="600">
              <a:solidFill>
                <a:srgbClr val="404040"/>
              </a:solidFill>
              <a:latin typeface="Noto Sans"/>
              <a:ea typeface="Noto Sans"/>
              <a:cs typeface="Noto Sans"/>
              <a:sym typeface="No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9"/>
          <p:cNvSpPr txBox="1"/>
          <p:nvPr>
            <p:ph type="title"/>
          </p:nvPr>
        </p:nvSpPr>
        <p:spPr>
          <a:xfrm>
            <a:off x="526563" y="317775"/>
            <a:ext cx="7103100" cy="3852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ja"/>
              <a:t>見出しが入ります この文章はダミーです</a:t>
            </a:r>
            <a:endParaRPr/>
          </a:p>
        </p:txBody>
      </p:sp>
      <p:sp>
        <p:nvSpPr>
          <p:cNvPr id="331" name="Google Shape;331;p29"/>
          <p:cNvSpPr txBox="1"/>
          <p:nvPr/>
        </p:nvSpPr>
        <p:spPr>
          <a:xfrm>
            <a:off x="7831024" y="4924000"/>
            <a:ext cx="604200" cy="190500"/>
          </a:xfrm>
          <a:prstGeom prst="rect">
            <a:avLst/>
          </a:prstGeom>
          <a:noFill/>
          <a:ln>
            <a:noFill/>
          </a:ln>
        </p:spPr>
        <p:txBody>
          <a:bodyPr anchorCtr="0" anchor="t" bIns="61425" lIns="61425" spcFirstLastPara="1" rIns="61425" wrap="square" tIns="61425">
            <a:noAutofit/>
          </a:bodyPr>
          <a:lstStyle/>
          <a:p>
            <a:pPr indent="0" lvl="0" marL="0" rtl="0" algn="r">
              <a:lnSpc>
                <a:spcPct val="115000"/>
              </a:lnSpc>
              <a:spcBef>
                <a:spcPts val="0"/>
              </a:spcBef>
              <a:spcAft>
                <a:spcPts val="0"/>
              </a:spcAft>
              <a:buNone/>
            </a:pPr>
            <a:r>
              <a:rPr b="1" lang="ja" sz="605">
                <a:solidFill>
                  <a:srgbClr val="404040"/>
                </a:solidFill>
                <a:latin typeface="Noto Sans"/>
                <a:ea typeface="Noto Sans"/>
                <a:cs typeface="Noto Sans"/>
                <a:sym typeface="Noto Sans"/>
              </a:rPr>
              <a:t>2025/XX/XX</a:t>
            </a:r>
            <a:endParaRPr b="1" sz="605">
              <a:solidFill>
                <a:srgbClr val="000000"/>
              </a:solidFill>
              <a:latin typeface="Noto Sans"/>
              <a:ea typeface="Noto Sans"/>
              <a:cs typeface="Noto Sans"/>
              <a:sym typeface="Noto Sans"/>
            </a:endParaRPr>
          </a:p>
        </p:txBody>
      </p:sp>
      <p:sp>
        <p:nvSpPr>
          <p:cNvPr id="332" name="Google Shape;332;p2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0"/>
          <p:cNvSpPr txBox="1"/>
          <p:nvPr>
            <p:ph type="title"/>
          </p:nvPr>
        </p:nvSpPr>
        <p:spPr>
          <a:xfrm>
            <a:off x="526563" y="317775"/>
            <a:ext cx="7103100" cy="3852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ja"/>
              <a:t>タイトル＝Noto Sans JP 太字 22pt</a:t>
            </a:r>
            <a:endParaRPr/>
          </a:p>
        </p:txBody>
      </p:sp>
      <p:sp>
        <p:nvSpPr>
          <p:cNvPr id="338" name="Google Shape;338;p30"/>
          <p:cNvSpPr txBox="1"/>
          <p:nvPr/>
        </p:nvSpPr>
        <p:spPr>
          <a:xfrm>
            <a:off x="526575" y="1046325"/>
            <a:ext cx="3830100" cy="3499800"/>
          </a:xfrm>
          <a:prstGeom prst="rect">
            <a:avLst/>
          </a:prstGeom>
          <a:no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b="1" lang="ja">
                <a:solidFill>
                  <a:srgbClr val="404040"/>
                </a:solidFill>
                <a:latin typeface="Noto Sans JP"/>
                <a:ea typeface="Noto Sans JP"/>
                <a:cs typeface="Noto Sans JP"/>
                <a:sym typeface="Noto Sans JP"/>
              </a:rPr>
              <a:t>小見出し=Noto Sans JP 太字　13～18pt</a:t>
            </a:r>
            <a:endParaRPr b="1">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Clr>
                <a:schemeClr val="dk1"/>
              </a:buClr>
              <a:buSzPts val="1100"/>
              <a:buFont typeface="Arial"/>
              <a:buNone/>
            </a:pPr>
            <a:r>
              <a:t/>
            </a:r>
            <a:endParaRPr b="1" sz="13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Clr>
                <a:schemeClr val="dk1"/>
              </a:buClr>
              <a:buSzPts val="1100"/>
              <a:buFont typeface="Arial"/>
              <a:buNone/>
            </a:pPr>
            <a:r>
              <a:rPr lang="ja" sz="1200">
                <a:solidFill>
                  <a:srgbClr val="404040"/>
                </a:solidFill>
                <a:latin typeface="Noto Sans JP"/>
                <a:ea typeface="Noto Sans JP"/>
                <a:cs typeface="Noto Sans JP"/>
                <a:sym typeface="Noto Sans JP"/>
              </a:rPr>
              <a:t>本文＝Noto Sans JP 12〜16pt、</a:t>
            </a:r>
            <a:endParaRPr sz="12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Clr>
                <a:schemeClr val="dk1"/>
              </a:buClr>
              <a:buSzPts val="1100"/>
              <a:buFont typeface="Arial"/>
              <a:buNone/>
            </a:pPr>
            <a:r>
              <a:rPr lang="ja" sz="1200">
                <a:solidFill>
                  <a:srgbClr val="404040"/>
                </a:solidFill>
                <a:latin typeface="Noto Sans JP"/>
                <a:ea typeface="Noto Sans JP"/>
                <a:cs typeface="Noto Sans JP"/>
                <a:sym typeface="Noto Sans JP"/>
              </a:rPr>
              <a:t>フォントカラー：R=64／G=64／B=64</a:t>
            </a:r>
            <a:endParaRPr sz="12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None/>
            </a:pPr>
            <a:r>
              <a:t/>
            </a:r>
            <a:endParaRPr sz="12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None/>
            </a:pPr>
            <a:r>
              <a:rPr lang="ja" sz="1200">
                <a:solidFill>
                  <a:srgbClr val="404040"/>
                </a:solidFill>
                <a:latin typeface="Noto Sans JP"/>
                <a:ea typeface="Noto Sans JP"/>
                <a:cs typeface="Noto Sans JP"/>
                <a:sym typeface="Noto Sans JP"/>
              </a:rPr>
              <a:t>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a:t>
            </a:r>
            <a:endParaRPr sz="1200">
              <a:latin typeface="Noto Sans JP"/>
              <a:ea typeface="Noto Sans JP"/>
              <a:cs typeface="Noto Sans JP"/>
              <a:sym typeface="Noto Sans JP"/>
            </a:endParaRPr>
          </a:p>
        </p:txBody>
      </p:sp>
      <p:sp>
        <p:nvSpPr>
          <p:cNvPr id="339" name="Google Shape;339;p30"/>
          <p:cNvSpPr txBox="1"/>
          <p:nvPr/>
        </p:nvSpPr>
        <p:spPr>
          <a:xfrm>
            <a:off x="4680425" y="1046325"/>
            <a:ext cx="3830100" cy="3499800"/>
          </a:xfrm>
          <a:prstGeom prst="rect">
            <a:avLst/>
          </a:prstGeom>
          <a:no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b="1" lang="ja">
                <a:solidFill>
                  <a:srgbClr val="F08300"/>
                </a:solidFill>
                <a:latin typeface="Noto Sans JP"/>
                <a:ea typeface="Noto Sans JP"/>
                <a:cs typeface="Noto Sans JP"/>
                <a:sym typeface="Noto Sans JP"/>
              </a:rPr>
              <a:t>小見出し=Noto Sans JP 太字　13～18pt</a:t>
            </a:r>
            <a:endParaRPr b="1">
              <a:solidFill>
                <a:srgbClr val="F08300"/>
              </a:solidFill>
              <a:latin typeface="Noto Sans JP"/>
              <a:ea typeface="Noto Sans JP"/>
              <a:cs typeface="Noto Sans JP"/>
              <a:sym typeface="Noto Sans JP"/>
            </a:endParaRPr>
          </a:p>
          <a:p>
            <a:pPr indent="0" lvl="0" marL="0" rtl="0" algn="l">
              <a:lnSpc>
                <a:spcPct val="135000"/>
              </a:lnSpc>
              <a:spcBef>
                <a:spcPts val="0"/>
              </a:spcBef>
              <a:spcAft>
                <a:spcPts val="0"/>
              </a:spcAft>
              <a:buNone/>
            </a:pPr>
            <a:r>
              <a:t/>
            </a:r>
            <a:endParaRPr b="1" sz="13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None/>
            </a:pPr>
            <a:r>
              <a:rPr lang="ja" sz="1200">
                <a:solidFill>
                  <a:srgbClr val="404040"/>
                </a:solidFill>
                <a:latin typeface="Noto Sans JP"/>
                <a:ea typeface="Noto Sans JP"/>
                <a:cs typeface="Noto Sans JP"/>
                <a:sym typeface="Noto Sans JP"/>
              </a:rPr>
              <a:t>本文＝Noto Sans JP 12〜16pt、</a:t>
            </a:r>
            <a:endParaRPr sz="12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None/>
            </a:pPr>
            <a:r>
              <a:rPr lang="ja" sz="1200">
                <a:solidFill>
                  <a:srgbClr val="404040"/>
                </a:solidFill>
                <a:latin typeface="Noto Sans JP"/>
                <a:ea typeface="Noto Sans JP"/>
                <a:cs typeface="Noto Sans JP"/>
                <a:sym typeface="Noto Sans JP"/>
              </a:rPr>
              <a:t>フォントカラー：R=64／G=64／B=64</a:t>
            </a:r>
            <a:endParaRPr sz="12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None/>
            </a:pPr>
            <a:r>
              <a:t/>
            </a:r>
            <a:endParaRPr sz="1200">
              <a:solidFill>
                <a:srgbClr val="404040"/>
              </a:solidFill>
              <a:latin typeface="Noto Sans JP"/>
              <a:ea typeface="Noto Sans JP"/>
              <a:cs typeface="Noto Sans JP"/>
              <a:sym typeface="Noto Sans JP"/>
            </a:endParaRPr>
          </a:p>
          <a:p>
            <a:pPr indent="0" lvl="0" marL="0" rtl="0" algn="l">
              <a:lnSpc>
                <a:spcPct val="135000"/>
              </a:lnSpc>
              <a:spcBef>
                <a:spcPts val="0"/>
              </a:spcBef>
              <a:spcAft>
                <a:spcPts val="0"/>
              </a:spcAft>
              <a:buNone/>
            </a:pPr>
            <a:r>
              <a:rPr lang="ja" sz="1200">
                <a:solidFill>
                  <a:srgbClr val="404040"/>
                </a:solidFill>
                <a:latin typeface="Noto Sans JP"/>
                <a:ea typeface="Noto Sans JP"/>
                <a:cs typeface="Noto Sans JP"/>
                <a:sym typeface="Noto Sans JP"/>
              </a:rPr>
              <a:t>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この文章はダミーです。</a:t>
            </a:r>
            <a:endParaRPr sz="1200">
              <a:latin typeface="Noto Sans JP"/>
              <a:ea typeface="Noto Sans JP"/>
              <a:cs typeface="Noto Sans JP"/>
              <a:sym typeface="Noto Sans JP"/>
            </a:endParaRPr>
          </a:p>
        </p:txBody>
      </p:sp>
      <p:sp>
        <p:nvSpPr>
          <p:cNvPr id="340" name="Google Shape;340;p30"/>
          <p:cNvSpPr/>
          <p:nvPr/>
        </p:nvSpPr>
        <p:spPr>
          <a:xfrm>
            <a:off x="-1248150" y="1308775"/>
            <a:ext cx="1627200" cy="882000"/>
          </a:xfrm>
          <a:prstGeom prst="wedgeRectCallout">
            <a:avLst>
              <a:gd fmla="val 62729" name="adj1"/>
              <a:gd fmla="val -43155" name="adj2"/>
            </a:avLst>
          </a:prstGeom>
          <a:solidFill>
            <a:srgbClr val="F08300"/>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小見出しの文字サイズが本文よりも大きくなるように設定してください</a:t>
            </a:r>
            <a:endParaRPr sz="1000">
              <a:solidFill>
                <a:srgbClr val="FFFFFF"/>
              </a:solidFill>
              <a:latin typeface="Noto Sans JP"/>
              <a:ea typeface="Noto Sans JP"/>
              <a:cs typeface="Noto Sans JP"/>
              <a:sym typeface="Noto Sans JP"/>
            </a:endParaRPr>
          </a:p>
        </p:txBody>
      </p:sp>
      <p:sp>
        <p:nvSpPr>
          <p:cNvPr id="341" name="Google Shape;341;p30"/>
          <p:cNvSpPr/>
          <p:nvPr/>
        </p:nvSpPr>
        <p:spPr>
          <a:xfrm>
            <a:off x="8341800" y="1308775"/>
            <a:ext cx="1627200" cy="882000"/>
          </a:xfrm>
          <a:prstGeom prst="wedgeRectCallout">
            <a:avLst>
              <a:gd fmla="val -64431" name="adj1"/>
              <a:gd fmla="val -39827" name="adj2"/>
            </a:avLst>
          </a:prstGeom>
          <a:solidFill>
            <a:srgbClr val="F08300"/>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色はラクスオレンジに変更いただいても問題ありません</a:t>
            </a:r>
            <a:endParaRPr sz="1000">
              <a:solidFill>
                <a:srgbClr val="FFFFFF"/>
              </a:solidFill>
              <a:latin typeface="Noto Sans JP"/>
              <a:ea typeface="Noto Sans JP"/>
              <a:cs typeface="Noto Sans JP"/>
              <a:sym typeface="Noto Sans JP"/>
            </a:endParaRPr>
          </a:p>
        </p:txBody>
      </p:sp>
      <p:sp>
        <p:nvSpPr>
          <p:cNvPr id="342" name="Google Shape;342;p3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1"/>
          <p:cNvSpPr txBox="1"/>
          <p:nvPr>
            <p:ph idx="4294967295" type="title"/>
          </p:nvPr>
        </p:nvSpPr>
        <p:spPr>
          <a:xfrm>
            <a:off x="1020450" y="1462345"/>
            <a:ext cx="7103100" cy="1598100"/>
          </a:xfrm>
          <a:prstGeom prst="rect">
            <a:avLst/>
          </a:prstGeom>
        </p:spPr>
        <p:txBody>
          <a:bodyPr anchorCtr="0" anchor="t" bIns="91425" lIns="91425" spcFirstLastPara="1" rIns="91425" wrap="square" tIns="91425">
            <a:normAutofit fontScale="90000"/>
          </a:bodyPr>
          <a:lstStyle/>
          <a:p>
            <a:pPr indent="0" lvl="0" marL="0" rtl="0" algn="ctr">
              <a:lnSpc>
                <a:spcPct val="150000"/>
              </a:lnSpc>
              <a:spcBef>
                <a:spcPts val="0"/>
              </a:spcBef>
              <a:spcAft>
                <a:spcPts val="0"/>
              </a:spcAft>
              <a:buNone/>
            </a:pPr>
            <a:r>
              <a:rPr b="1" lang="ja" sz="4000">
                <a:solidFill>
                  <a:srgbClr val="404040"/>
                </a:solidFill>
                <a:latin typeface="Noto Sans JP"/>
                <a:ea typeface="Noto Sans JP"/>
                <a:cs typeface="Noto Sans JP"/>
                <a:sym typeface="Noto Sans JP"/>
              </a:rPr>
              <a:t>タイトルが入ります</a:t>
            </a:r>
            <a:endParaRPr b="1" sz="4000">
              <a:solidFill>
                <a:srgbClr val="404040"/>
              </a:solidFill>
              <a:latin typeface="Noto Sans JP"/>
              <a:ea typeface="Noto Sans JP"/>
              <a:cs typeface="Noto Sans JP"/>
              <a:sym typeface="Noto Sans JP"/>
            </a:endParaRPr>
          </a:p>
          <a:p>
            <a:pPr indent="0" lvl="0" marL="0" rtl="0" algn="ctr">
              <a:lnSpc>
                <a:spcPct val="150000"/>
              </a:lnSpc>
              <a:spcBef>
                <a:spcPts val="0"/>
              </a:spcBef>
              <a:spcAft>
                <a:spcPts val="0"/>
              </a:spcAft>
              <a:buNone/>
            </a:pPr>
            <a:r>
              <a:rPr b="1" lang="ja" sz="4000">
                <a:solidFill>
                  <a:srgbClr val="404040"/>
                </a:solidFill>
                <a:latin typeface="Noto Sans JP"/>
                <a:ea typeface="Noto Sans JP"/>
                <a:cs typeface="Noto Sans JP"/>
                <a:sym typeface="Noto Sans JP"/>
              </a:rPr>
              <a:t>この文章はダミーです</a:t>
            </a:r>
            <a:endParaRPr b="1" sz="4000">
              <a:solidFill>
                <a:srgbClr val="404040"/>
              </a:solidFill>
              <a:latin typeface="Noto Sans JP"/>
              <a:ea typeface="Noto Sans JP"/>
              <a:cs typeface="Noto Sans JP"/>
              <a:sym typeface="Noto Sans JP"/>
            </a:endParaRPr>
          </a:p>
        </p:txBody>
      </p:sp>
      <p:sp>
        <p:nvSpPr>
          <p:cNvPr id="348" name="Google Shape;348;p31"/>
          <p:cNvSpPr txBox="1"/>
          <p:nvPr>
            <p:ph idx="4294967295" type="title"/>
          </p:nvPr>
        </p:nvSpPr>
        <p:spPr>
          <a:xfrm>
            <a:off x="952725" y="3166871"/>
            <a:ext cx="7103100" cy="341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ja" sz="1500">
                <a:solidFill>
                  <a:srgbClr val="404040"/>
                </a:solidFill>
                <a:latin typeface="Noto Sans JP"/>
                <a:ea typeface="Noto Sans JP"/>
                <a:cs typeface="Noto Sans JP"/>
                <a:sym typeface="Noto Sans JP"/>
              </a:rPr>
              <a:t>サブタイトルが入ります　この文章はダミーです</a:t>
            </a:r>
            <a:endParaRPr b="1" sz="1500">
              <a:solidFill>
                <a:srgbClr val="404040"/>
              </a:solidFill>
              <a:latin typeface="Noto Sans JP"/>
              <a:ea typeface="Noto Sans JP"/>
              <a:cs typeface="Noto Sans JP"/>
              <a:sym typeface="Noto Sans JP"/>
            </a:endParaRPr>
          </a:p>
        </p:txBody>
      </p:sp>
      <p:sp>
        <p:nvSpPr>
          <p:cNvPr id="349" name="Google Shape;349;p31"/>
          <p:cNvSpPr txBox="1"/>
          <p:nvPr/>
        </p:nvSpPr>
        <p:spPr>
          <a:xfrm>
            <a:off x="7831024" y="4924000"/>
            <a:ext cx="604200" cy="190500"/>
          </a:xfrm>
          <a:prstGeom prst="rect">
            <a:avLst/>
          </a:prstGeom>
          <a:noFill/>
          <a:ln>
            <a:noFill/>
          </a:ln>
        </p:spPr>
        <p:txBody>
          <a:bodyPr anchorCtr="0" anchor="t" bIns="61425" lIns="61425" spcFirstLastPara="1" rIns="61425" wrap="square" tIns="61425">
            <a:noAutofit/>
          </a:bodyPr>
          <a:lstStyle/>
          <a:p>
            <a:pPr indent="0" lvl="0" marL="0" rtl="0" algn="r">
              <a:lnSpc>
                <a:spcPct val="115000"/>
              </a:lnSpc>
              <a:spcBef>
                <a:spcPts val="0"/>
              </a:spcBef>
              <a:spcAft>
                <a:spcPts val="0"/>
              </a:spcAft>
              <a:buNone/>
            </a:pPr>
            <a:r>
              <a:rPr b="1" lang="ja" sz="605">
                <a:solidFill>
                  <a:srgbClr val="404040"/>
                </a:solidFill>
                <a:latin typeface="Noto Sans"/>
                <a:ea typeface="Noto Sans"/>
                <a:cs typeface="Noto Sans"/>
                <a:sym typeface="Noto Sans"/>
              </a:rPr>
              <a:t>2025/XX/XX</a:t>
            </a:r>
            <a:endParaRPr b="1" sz="605">
              <a:solidFill>
                <a:srgbClr val="000000"/>
              </a:solidFill>
              <a:latin typeface="Noto Sans"/>
              <a:ea typeface="Noto Sans"/>
              <a:cs typeface="Noto Sans"/>
              <a:sym typeface="Noto Sans"/>
            </a:endParaRPr>
          </a:p>
        </p:txBody>
      </p:sp>
      <p:sp>
        <p:nvSpPr>
          <p:cNvPr id="350" name="Google Shape;350;p31"/>
          <p:cNvSpPr/>
          <p:nvPr/>
        </p:nvSpPr>
        <p:spPr>
          <a:xfrm>
            <a:off x="6764250" y="327250"/>
            <a:ext cx="1988400" cy="882000"/>
          </a:xfrm>
          <a:prstGeom prst="wedgeRectCallout">
            <a:avLst>
              <a:gd fmla="val -39668" name="adj1"/>
              <a:gd fmla="val 65635" name="adj2"/>
            </a:avLst>
          </a:prstGeom>
          <a:solidFill>
            <a:srgbClr val="F08300"/>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文字数に応じて</a:t>
            </a:r>
            <a:endParaRPr sz="1000">
              <a:solidFill>
                <a:srgbClr val="FFFFFF"/>
              </a:solidFill>
              <a:latin typeface="Noto Sans JP"/>
              <a:ea typeface="Noto Sans JP"/>
              <a:cs typeface="Noto Sans JP"/>
              <a:sym typeface="Noto Sans JP"/>
            </a:endParaRPr>
          </a:p>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サイズを変更ください</a:t>
            </a:r>
            <a:endParaRPr sz="1000">
              <a:solidFill>
                <a:srgbClr val="FFFFFF"/>
              </a:solidFill>
              <a:latin typeface="Noto Sans JP"/>
              <a:ea typeface="Noto Sans JP"/>
              <a:cs typeface="Noto Sans JP"/>
              <a:sym typeface="Noto Sans JP"/>
            </a:endParaRPr>
          </a:p>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サブタイトルの位置は</a:t>
            </a:r>
            <a:endParaRPr sz="1000">
              <a:solidFill>
                <a:srgbClr val="FFFFFF"/>
              </a:solidFill>
              <a:latin typeface="Noto Sans JP"/>
              <a:ea typeface="Noto Sans JP"/>
              <a:cs typeface="Noto Sans JP"/>
              <a:sym typeface="Noto Sans JP"/>
            </a:endParaRPr>
          </a:p>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入れ替えても問題ありません</a:t>
            </a:r>
            <a:endParaRPr sz="1000">
              <a:latin typeface="Noto Sans JP"/>
              <a:ea typeface="Noto Sans JP"/>
              <a:cs typeface="Noto Sans JP"/>
              <a:sym typeface="Noto Sans JP"/>
            </a:endParaRPr>
          </a:p>
        </p:txBody>
      </p:sp>
      <p:sp>
        <p:nvSpPr>
          <p:cNvPr id="351" name="Google Shape;351;p31"/>
          <p:cNvSpPr/>
          <p:nvPr/>
        </p:nvSpPr>
        <p:spPr>
          <a:xfrm>
            <a:off x="5801350" y="3906200"/>
            <a:ext cx="1988400" cy="882000"/>
          </a:xfrm>
          <a:prstGeom prst="wedgeRectCallout">
            <a:avLst>
              <a:gd fmla="val 43813" name="adj1"/>
              <a:gd fmla="val 67489" name="adj2"/>
            </a:avLst>
          </a:prstGeom>
          <a:solidFill>
            <a:srgbClr val="F08300"/>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日付を入力ください</a:t>
            </a:r>
            <a:endParaRPr sz="1000">
              <a:solidFill>
                <a:srgbClr val="FFFFFF"/>
              </a:solidFill>
              <a:latin typeface="Noto Sans JP"/>
              <a:ea typeface="Noto Sans JP"/>
              <a:cs typeface="Noto Sans JP"/>
              <a:sym typeface="Noto Sans JP"/>
            </a:endParaRPr>
          </a:p>
          <a:p>
            <a:pPr indent="0" lvl="0" marL="0" rtl="0" algn="ctr">
              <a:lnSpc>
                <a:spcPct val="115000"/>
              </a:lnSpc>
              <a:spcBef>
                <a:spcPts val="0"/>
              </a:spcBef>
              <a:spcAft>
                <a:spcPts val="0"/>
              </a:spcAft>
              <a:buNone/>
            </a:pPr>
            <a:r>
              <a:rPr lang="ja" sz="1000">
                <a:solidFill>
                  <a:srgbClr val="FFFFFF"/>
                </a:solidFill>
                <a:latin typeface="Noto Sans JP"/>
                <a:ea typeface="Noto Sans JP"/>
                <a:cs typeface="Noto Sans JP"/>
                <a:sym typeface="Noto Sans JP"/>
              </a:rPr>
              <a:t>20XX/XX/XX</a:t>
            </a:r>
            <a:endParaRPr sz="1000">
              <a:solidFill>
                <a:srgbClr val="FFFFFF"/>
              </a:solidFill>
              <a:latin typeface="Noto Sans JP"/>
              <a:ea typeface="Noto Sans JP"/>
              <a:cs typeface="Noto Sans JP"/>
              <a:sym typeface="Noto Sans JP"/>
            </a:endParaRPr>
          </a:p>
        </p:txBody>
      </p:sp>
      <p:sp>
        <p:nvSpPr>
          <p:cNvPr id="352" name="Google Shape;352;p31"/>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